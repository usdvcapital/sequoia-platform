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Montserrat Bold" charset="1" panose="00000800000000000000"/>
      <p:regular r:id="rId8"/>
    </p:embeddedFont>
    <p:embeddedFont>
      <p:font typeface="Montserrat" charset="1" panose="00000500000000000000"/>
      <p:regular r:id="rId9"/>
    </p:embeddedFont>
    <p:embeddedFont>
      <p:font typeface="Libre Baskerville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https://chatgpt.com/g/g-68f8ef4bb9488191a19a7358cfa13dff-sequoia-assistant-powered-by-alturos" TargetMode="External" Type="http://schemas.openxmlformats.org/officeDocument/2006/relationships/hyperlink"/><Relationship Id="rId5" Target="http://www.seqsolution.com/worker-compensation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22B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65450"/>
            <a:ext cx="8720288" cy="2789054"/>
            <a:chOff x="0" y="0"/>
            <a:chExt cx="1565853" cy="500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5853" cy="500815"/>
            </a:xfrm>
            <a:custGeom>
              <a:avLst/>
              <a:gdLst/>
              <a:ahLst/>
              <a:cxnLst/>
              <a:rect r="r" b="b" t="t" l="l"/>
              <a:pathLst>
                <a:path h="500815" w="1565853">
                  <a:moveTo>
                    <a:pt x="0" y="0"/>
                  </a:moveTo>
                  <a:lnTo>
                    <a:pt x="1565853" y="0"/>
                  </a:lnTo>
                  <a:lnTo>
                    <a:pt x="1565853" y="500815"/>
                  </a:lnTo>
                  <a:lnTo>
                    <a:pt x="0" y="500815"/>
                  </a:lnTo>
                  <a:close/>
                </a:path>
              </a:pathLst>
            </a:custGeom>
            <a:blipFill>
              <a:blip r:embed="rId2">
                <a:alphaModFix amt="80000"/>
              </a:blip>
              <a:stretch>
                <a:fillRect l="0" t="0" r="-5119" b="-11911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026090"/>
            <a:ext cx="3849323" cy="1463135"/>
          </a:xfrm>
          <a:custGeom>
            <a:avLst/>
            <a:gdLst/>
            <a:ahLst/>
            <a:cxnLst/>
            <a:rect r="r" b="b" t="t" l="l"/>
            <a:pathLst>
              <a:path h="1463135" w="3849323">
                <a:moveTo>
                  <a:pt x="0" y="0"/>
                </a:moveTo>
                <a:lnTo>
                  <a:pt x="3849323" y="0"/>
                </a:lnTo>
                <a:lnTo>
                  <a:pt x="3849323" y="1463135"/>
                </a:lnTo>
                <a:lnTo>
                  <a:pt x="0" y="1463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32" r="0" b="-393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68311" y="1309198"/>
            <a:ext cx="3908879" cy="3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b="true" sz="20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 </a:t>
            </a:r>
            <a:r>
              <a:rPr lang="en-US" sz="20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12840" y="1895176"/>
            <a:ext cx="5699912" cy="24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introduces the program to the client, showing the 1-3 min intro video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the client shows interest, then show the 5-7 min full video with more details (which mentions the SEA AI assistant at the end)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shares </a:t>
            </a:r>
            <a:r>
              <a:rPr lang="en-US" sz="1596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chatgpt.com/g/g-68f8ef4bb9488191a19a7358cfa13dff-sequoia-assistant-powered-by-alturos"/>
              </a:rPr>
              <a:t>SEA (the AI assistant)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the client for additional questions. 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*Agent MUST ensure the client watches videos first before using SEA</a:t>
            </a:r>
          </a:p>
          <a:p>
            <a:pPr algn="l">
              <a:lnSpc>
                <a:spcPts val="21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67586"/>
            <a:ext cx="8720288" cy="336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525" spc="2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Employee Heal</a:t>
            </a:r>
            <a:r>
              <a:rPr lang="en-US" sz="3525" spc="2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 Management Plan (EHMP) — a program that helps employers save money on FICA taxes while providing employees with additional benefits — and it pays for itself.</a:t>
            </a:r>
          </a:p>
        </p:txBody>
      </p:sp>
      <p:sp>
        <p:nvSpPr>
          <p:cNvPr name="AutoShape 8" id="8"/>
          <p:cNvSpPr/>
          <p:nvPr/>
        </p:nvSpPr>
        <p:spPr>
          <a:xfrm>
            <a:off x="10480914" y="1026090"/>
            <a:ext cx="0" cy="87368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10480914" y="1780876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0868311" y="4405461"/>
            <a:ext cx="4706479" cy="3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b="true" sz="20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  <a:r>
              <a:rPr lang="en-US" sz="20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Collect Information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12840" y="4992301"/>
            <a:ext cx="5597995" cy="164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nt assists the client fills out the </a:t>
            </a:r>
            <a:r>
              <a:rPr lang="en-US" sz="1596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5" tooltip="http://www.seqsolution.com/worker-compensation/"/>
              </a:rPr>
              <a:t>“Workplace Wellness” scenario form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from the website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sends the census to the Client’s payroll specialist to be filled out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 will receive a secure portal link to upload: W4, and last two payroll Journals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480914" y="4878001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0928713" y="6999233"/>
            <a:ext cx="4706479" cy="3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b="true" sz="201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</a:t>
            </a:r>
            <a:r>
              <a:rPr lang="en-US" sz="20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Collect Information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0480914" y="7462248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1295625" y="7567023"/>
            <a:ext cx="5597995" cy="219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Proposal will provide pote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ntial tax savings for the employer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Proposal will provide individual wellness monthly allotment amounts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 up a review call for the employer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specialists will meet with the employer to go over the proposal</a:t>
            </a:r>
          </a:p>
          <a:p>
            <a:pPr algn="l" marL="344576" indent="-172288" lvl="1">
              <a:lnSpc>
                <a:spcPts val="2175"/>
              </a:lnSpc>
              <a:buFont typeface="Arial"/>
              <a:buChar char="•"/>
            </a:pPr>
            <a:r>
              <a:rPr lang="en-US" sz="15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employer signs the contract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22B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6090"/>
            <a:ext cx="15953979" cy="8761329"/>
            <a:chOff x="0" y="0"/>
            <a:chExt cx="21271972" cy="116817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319146"/>
              <a:ext cx="11627051" cy="3718739"/>
              <a:chOff x="0" y="0"/>
              <a:chExt cx="1565853" cy="50081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565853" cy="500815"/>
              </a:xfrm>
              <a:custGeom>
                <a:avLst/>
                <a:gdLst/>
                <a:ahLst/>
                <a:cxnLst/>
                <a:rect r="r" b="b" t="t" l="l"/>
                <a:pathLst>
                  <a:path h="500815" w="1565853">
                    <a:moveTo>
                      <a:pt x="0" y="0"/>
                    </a:moveTo>
                    <a:lnTo>
                      <a:pt x="1565853" y="0"/>
                    </a:lnTo>
                    <a:lnTo>
                      <a:pt x="1565853" y="500815"/>
                    </a:lnTo>
                    <a:lnTo>
                      <a:pt x="0" y="500815"/>
                    </a:lnTo>
                    <a:close/>
                  </a:path>
                </a:pathLst>
              </a:custGeom>
              <a:blipFill>
                <a:blip r:embed="rId2">
                  <a:alphaModFix amt="80000"/>
                </a:blip>
                <a:stretch>
                  <a:fillRect l="0" t="0" r="-5119" b="-119111"/>
                </a:stretch>
              </a:blip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32431" cy="1950846"/>
            </a:xfrm>
            <a:custGeom>
              <a:avLst/>
              <a:gdLst/>
              <a:ahLst/>
              <a:cxnLst/>
              <a:rect r="r" b="b" t="t" l="l"/>
              <a:pathLst>
                <a:path h="1950846" w="5132431">
                  <a:moveTo>
                    <a:pt x="0" y="0"/>
                  </a:moveTo>
                  <a:lnTo>
                    <a:pt x="5132431" y="0"/>
                  </a:lnTo>
                  <a:lnTo>
                    <a:pt x="5132431" y="1950846"/>
                  </a:lnTo>
                  <a:lnTo>
                    <a:pt x="0" y="19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32" r="0" b="-393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3119481" y="390177"/>
              <a:ext cx="5211839" cy="439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b="true" sz="201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4 </a:t>
              </a:r>
              <a:r>
                <a:rPr lang="en-US" sz="201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Enrollment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3578853" y="1152025"/>
              <a:ext cx="7599883" cy="1816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Our specialists will have a Zoom meeting</a:t>
              </a: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with all employees to introduce the program</a:t>
              </a:r>
            </a:p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Enrollment date setup</a:t>
              </a:r>
            </a:p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Employees schedule enrollment time to sign up</a:t>
              </a:r>
            </a:p>
            <a:p>
              <a:pPr algn="l">
                <a:lnSpc>
                  <a:spcPts val="2175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461678"/>
              <a:ext cx="11627051" cy="4473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3"/>
                </a:lnSpc>
              </a:pPr>
              <a:r>
                <a:rPr lang="en-US" sz="3525" spc="21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Employee Heal</a:t>
              </a:r>
              <a:r>
                <a:rPr lang="en-US" sz="3525" spc="21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th Management Plan (EHMP) — a program that helps employers save money on FICA taxes while providing employees with additional benefits — and it pays for itself.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12628352" y="0"/>
              <a:ext cx="0" cy="11681772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12602952" y="1006381"/>
              <a:ext cx="865632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19481" y="2946390"/>
              <a:ext cx="6275306" cy="439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b="true" sz="201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5</a:t>
              </a:r>
              <a:r>
                <a:rPr lang="en-US" sz="201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Plan Administration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578853" y="3722494"/>
              <a:ext cx="7463993" cy="144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Wellness Program fee paid monthly</a:t>
              </a:r>
            </a:p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Supplemental carriers paid monthly</a:t>
              </a:r>
            </a:p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 fees are paid for with tax savings</a:t>
              </a:r>
            </a:p>
            <a:p>
              <a:pPr algn="l">
                <a:lnSpc>
                  <a:spcPts val="2175"/>
                </a:lnSpc>
              </a:pP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12602952" y="3563744"/>
              <a:ext cx="865632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3212717" y="5081880"/>
              <a:ext cx="6275306" cy="439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b="true" sz="201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6</a:t>
              </a:r>
              <a:r>
                <a:rPr lang="en-US" sz="201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01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Commission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12615652" y="5686534"/>
              <a:ext cx="8656320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3701934" y="5832584"/>
              <a:ext cx="7463993" cy="1448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</a:t>
              </a: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get paid monthly in perpetuity</a:t>
              </a:r>
            </a:p>
            <a:p>
              <a:pPr algn="l" marL="344576" indent="-172288" lvl="1">
                <a:lnSpc>
                  <a:spcPts val="2175"/>
                </a:lnSpc>
                <a:buFont typeface="Arial"/>
                <a:buChar char="•"/>
              </a:pP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Have</a:t>
              </a:r>
              <a:r>
                <a:rPr lang="en-US" sz="159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questions? Please contact support@seqsolution.com</a:t>
              </a:r>
            </a:p>
            <a:p>
              <a:pPr algn="l">
                <a:lnSpc>
                  <a:spcPts val="2175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DAG4CiOVDQ8</dc:identifier>
  <dcterms:modified xsi:type="dcterms:W3CDTF">2011-08-01T06:04:30Z</dcterms:modified>
  <cp:revision>1</cp:revision>
  <dc:title>EHMP Roadmap-PPT 20251110</dc:title>
</cp:coreProperties>
</file>