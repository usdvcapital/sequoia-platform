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0104100" cy="11303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12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2" name="Shape 7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1507806" y="3505898"/>
            <a:ext cx="17088487" cy="237496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15614" y="6333235"/>
            <a:ext cx="14072871" cy="28273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bg object 16" descr="bg object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20104099" cy="3082628"/>
          </a:xfrm>
          <a:prstGeom prst="rect">
            <a:avLst/>
          </a:prstGeom>
          <a:ln w="25400">
            <a:solidFill>
              <a:srgbClr val="DDDDDD"/>
            </a:solidFill>
            <a:miter lim="400000"/>
          </a:ln>
        </p:spPr>
      </p:pic>
      <p:sp>
        <p:nvSpPr>
          <p:cNvPr id="2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idx="1"/>
          </p:nvPr>
        </p:nvSpPr>
        <p:spPr>
          <a:xfrm>
            <a:off x="1109781" y="4684774"/>
            <a:ext cx="17783176" cy="527304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2" name="Body Level One…"/>
          <p:cNvSpPr txBox="1">
            <a:spLocks noGrp="1"/>
          </p:cNvSpPr>
          <p:nvPr>
            <p:ph type="body" idx="1"/>
          </p:nvPr>
        </p:nvSpPr>
        <p:spPr>
          <a:xfrm>
            <a:off x="1109781" y="4684774"/>
            <a:ext cx="17783176" cy="527304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7" name="bg object 16" descr="bg object 16">
            <a:extLst>
              <a:ext uri="{FF2B5EF4-FFF2-40B4-BE49-F238E27FC236}">
                <a16:creationId xmlns:a16="http://schemas.microsoft.com/office/drawing/2014/main" id="{34C3761F-CA02-1F3B-9F02-CDFB67B50C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20104099" cy="3082628"/>
          </a:xfrm>
          <a:prstGeom prst="rect">
            <a:avLst/>
          </a:prstGeom>
          <a:ln w="25400">
            <a:solidFill>
              <a:srgbClr val="DDDDDD"/>
            </a:solidFill>
            <a:miter lim="400000"/>
          </a:ln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bg object 16" descr="bg object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04099" cy="3082628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05205" y="2601149"/>
            <a:ext cx="8745285" cy="746417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1247BE8D-A60B-DD63-2A62-4CC50B4410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05" y="389465"/>
            <a:ext cx="5278012" cy="2303697"/>
          </a:xfrm>
          <a:prstGeom prst="rect">
            <a:avLst/>
          </a:prstGeom>
        </p:spPr>
      </p:pic>
      <p:pic>
        <p:nvPicPr>
          <p:cNvPr id="4" name="bg object 16" descr="bg object 16">
            <a:extLst>
              <a:ext uri="{FF2B5EF4-FFF2-40B4-BE49-F238E27FC236}">
                <a16:creationId xmlns:a16="http://schemas.microsoft.com/office/drawing/2014/main" id="{1EEAF221-D5DA-C764-982B-974F5F5ACF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-1"/>
            <a:ext cx="20104099" cy="3082628"/>
          </a:xfrm>
          <a:prstGeom prst="rect">
            <a:avLst/>
          </a:prstGeom>
          <a:ln w="25400">
            <a:solidFill>
              <a:srgbClr val="DDDDDD"/>
            </a:solidFill>
            <a:miter lim="400000"/>
          </a:ln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76D4462F-F523-1985-8765-D41FBFFDAF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05" y="389465"/>
            <a:ext cx="5278012" cy="2303697"/>
          </a:xfrm>
          <a:prstGeom prst="rect">
            <a:avLst/>
          </a:prstGeom>
        </p:spPr>
      </p:pic>
      <p:pic>
        <p:nvPicPr>
          <p:cNvPr id="4" name="bg object 16" descr="bg object 16">
            <a:extLst>
              <a:ext uri="{FF2B5EF4-FFF2-40B4-BE49-F238E27FC236}">
                <a16:creationId xmlns:a16="http://schemas.microsoft.com/office/drawing/2014/main" id="{097DD5C1-AFF5-47B4-28E3-249F9E2471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-1"/>
            <a:ext cx="20104099" cy="3082628"/>
          </a:xfrm>
          <a:prstGeom prst="rect">
            <a:avLst/>
          </a:prstGeom>
          <a:ln w="25400">
            <a:solidFill>
              <a:srgbClr val="DDDDDD"/>
            </a:solidFill>
            <a:miter lim="400000"/>
          </a:ln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 descr="bg object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20104099" cy="308262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793227" y="3363938"/>
            <a:ext cx="18517644" cy="130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1005205" y="2637366"/>
            <a:ext cx="18093690" cy="7459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8831923" y="10517695"/>
            <a:ext cx="266974" cy="279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object 2"/>
          <p:cNvGrpSpPr/>
          <p:nvPr/>
        </p:nvGrpSpPr>
        <p:grpSpPr>
          <a:xfrm>
            <a:off x="0" y="-1"/>
            <a:ext cx="20104100" cy="11308558"/>
            <a:chOff x="0" y="0"/>
            <a:chExt cx="20104100" cy="11308556"/>
          </a:xfrm>
        </p:grpSpPr>
        <p:pic>
          <p:nvPicPr>
            <p:cNvPr id="74" name="object 3" descr="object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"/>
              <a:ext cx="20104100" cy="11308558"/>
            </a:xfrm>
            <a:prstGeom prst="rect">
              <a:avLst/>
            </a:prstGeom>
            <a:ln w="25400" cap="flat">
              <a:solidFill>
                <a:srgbClr val="DDDDDD"/>
              </a:solidFill>
              <a:prstDash val="solid"/>
              <a:miter lim="400000"/>
            </a:ln>
            <a:effectLst/>
          </p:spPr>
        </p:pic>
        <p:pic>
          <p:nvPicPr>
            <p:cNvPr id="75" name="object 4" descr="object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9316983"/>
              <a:ext cx="20104100" cy="19915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7" name="object 5"/>
          <p:cNvSpPr txBox="1"/>
          <p:nvPr/>
        </p:nvSpPr>
        <p:spPr>
          <a:xfrm>
            <a:off x="4939303" y="9999579"/>
            <a:ext cx="10226041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2800" spc="114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dirty="0"/>
              <a:t>Wellness</a:t>
            </a:r>
            <a:r>
              <a:rPr spc="-125" dirty="0"/>
              <a:t> </a:t>
            </a:r>
            <a:r>
              <a:rPr spc="195" dirty="0"/>
              <a:t>&amp;</a:t>
            </a:r>
            <a:r>
              <a:rPr spc="-125" dirty="0"/>
              <a:t> </a:t>
            </a:r>
            <a:r>
              <a:rPr spc="85" dirty="0"/>
              <a:t>Health</a:t>
            </a:r>
            <a:r>
              <a:rPr spc="-120" dirty="0"/>
              <a:t> </a:t>
            </a:r>
            <a:r>
              <a:rPr spc="94" dirty="0"/>
              <a:t>Integrated</a:t>
            </a:r>
            <a:r>
              <a:rPr spc="-125" dirty="0"/>
              <a:t> </a:t>
            </a:r>
            <a:r>
              <a:rPr spc="110" dirty="0"/>
              <a:t>Preventive-</a:t>
            </a:r>
            <a:r>
              <a:rPr spc="125" dirty="0"/>
              <a:t>Care</a:t>
            </a:r>
            <a:r>
              <a:rPr spc="-120" dirty="0"/>
              <a:t> </a:t>
            </a:r>
            <a:r>
              <a:rPr spc="120" dirty="0"/>
              <a:t>Program</a:t>
            </a:r>
          </a:p>
        </p:txBody>
      </p:sp>
      <p:pic>
        <p:nvPicPr>
          <p:cNvPr id="79" name="object 7" descr="object 7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3" y="-2"/>
            <a:ext cx="20104102" cy="3082631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5" name="object 7" descr="object 7">
            <a:extLst>
              <a:ext uri="{FF2B5EF4-FFF2-40B4-BE49-F238E27FC236}">
                <a16:creationId xmlns:a16="http://schemas.microsoft.com/office/drawing/2014/main" id="{5E894F56-826F-656D-C2B0-A10EC5D27B0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-3" y="4658491"/>
            <a:ext cx="20104102" cy="3082631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43A88BB-E2DC-55E3-1F5A-C289E1E220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81" y="615009"/>
            <a:ext cx="4656838" cy="1909638"/>
          </a:xfrm>
          <a:prstGeom prst="rect">
            <a:avLst/>
          </a:prstGeom>
        </p:spPr>
      </p:pic>
      <p:sp>
        <p:nvSpPr>
          <p:cNvPr id="78" name="object 11"/>
          <p:cNvSpPr txBox="1">
            <a:spLocks noGrp="1"/>
          </p:cNvSpPr>
          <p:nvPr>
            <p:ph type="title"/>
          </p:nvPr>
        </p:nvSpPr>
        <p:spPr>
          <a:xfrm>
            <a:off x="5199358" y="5085384"/>
            <a:ext cx="10596165" cy="1882139"/>
          </a:xfrm>
          <a:prstGeom prst="rect">
            <a:avLst/>
          </a:prstGeom>
        </p:spPr>
        <p:txBody>
          <a:bodyPr>
            <a:normAutofit/>
          </a:bodyPr>
          <a:lstStyle>
            <a:lvl1pPr indent="12700">
              <a:spcBef>
                <a:spcPts val="100"/>
              </a:spcBef>
              <a:defRPr sz="12100" spc="-199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员工福利计划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object 2"/>
          <p:cNvGrpSpPr/>
          <p:nvPr/>
        </p:nvGrpSpPr>
        <p:grpSpPr>
          <a:xfrm>
            <a:off x="-2" y="0"/>
            <a:ext cx="20104101" cy="11308555"/>
            <a:chOff x="0" y="0"/>
            <a:chExt cx="20104100" cy="11308555"/>
          </a:xfrm>
        </p:grpSpPr>
        <p:pic>
          <p:nvPicPr>
            <p:cNvPr id="93" name="object 3" descr="object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0"/>
              <a:ext cx="20104101" cy="82095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4" name="object 4" descr="object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7196649"/>
              <a:ext cx="20104101" cy="41119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6" name="object 5"/>
          <p:cNvSpPr txBox="1"/>
          <p:nvPr/>
        </p:nvSpPr>
        <p:spPr>
          <a:xfrm>
            <a:off x="997433" y="8609050"/>
            <a:ext cx="17870806" cy="120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064" algn="ctr">
              <a:lnSpc>
                <a:spcPct val="141000"/>
              </a:lnSpc>
              <a:defRPr sz="1900" spc="22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我们向您介绍一个员工福利计划，其目标是使公司能够为其员工提供全面的健康福利，同时最大限度地节省开支。通过利用税收优惠，我们使企业能够将节省的开支用于员工医疗保险，从而促进更健康的员工队伍和繁荣的工作环境。我们的方案可满足监管合规要求、财务效率和雇主</a:t>
            </a:r>
            <a:r>
              <a:rPr lang="en-US" altLang="zh-CN" dirty="0"/>
              <a:t>/</a:t>
            </a:r>
            <a:r>
              <a:rPr lang="zh-CN" altLang="en-US" dirty="0"/>
              <a:t>员工的满意度，这使得我们红杉（</a:t>
            </a:r>
            <a:r>
              <a:rPr lang="en-US" altLang="zh-CN" dirty="0"/>
              <a:t>Sequoia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成为前瞻性企业的首选合作伙伴。</a:t>
            </a:r>
            <a:endParaRPr spc="40" dirty="0"/>
          </a:p>
        </p:txBody>
      </p:sp>
      <p:grpSp>
        <p:nvGrpSpPr>
          <p:cNvPr id="113" name="object 6"/>
          <p:cNvGrpSpPr/>
          <p:nvPr/>
        </p:nvGrpSpPr>
        <p:grpSpPr>
          <a:xfrm>
            <a:off x="0" y="0"/>
            <a:ext cx="20104101" cy="3082630"/>
            <a:chOff x="0" y="-32595"/>
            <a:chExt cx="20104101" cy="3082630"/>
          </a:xfrm>
        </p:grpSpPr>
        <p:pic>
          <p:nvPicPr>
            <p:cNvPr id="97" name="object 7" descr="object 7"/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tretch>
              <a:fillRect/>
            </a:stretch>
          </p:blipFill>
          <p:spPr>
            <a:xfrm>
              <a:off x="0" y="-32595"/>
              <a:ext cx="20104101" cy="30826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11" name="object 10"/>
            <p:cNvGrpSpPr/>
            <p:nvPr/>
          </p:nvGrpSpPr>
          <p:grpSpPr>
            <a:xfrm>
              <a:off x="17731744" y="735088"/>
              <a:ext cx="1004808" cy="1429915"/>
              <a:chOff x="0" y="0"/>
              <a:chExt cx="1004806" cy="1429913"/>
            </a:xfrm>
          </p:grpSpPr>
          <p:sp>
            <p:nvSpPr>
              <p:cNvPr id="109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10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112" name="object 11"/>
            <p:cNvSpPr/>
            <p:nvPr/>
          </p:nvSpPr>
          <p:spPr>
            <a:xfrm>
              <a:off x="18941367" y="760216"/>
              <a:ext cx="401925" cy="14086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657" y="3081"/>
                  </a:moveTo>
                  <a:lnTo>
                    <a:pt x="9657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3081"/>
                  </a:lnTo>
                  <a:lnTo>
                    <a:pt x="9657" y="3081"/>
                  </a:lnTo>
                  <a:close/>
                </a:path>
              </a:pathLst>
            </a:custGeom>
            <a:noFill/>
            <a:ln w="1047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14" name="object 12"/>
          <p:cNvSpPr txBox="1"/>
          <p:nvPr/>
        </p:nvSpPr>
        <p:spPr>
          <a:xfrm>
            <a:off x="1110633" y="7113804"/>
            <a:ext cx="3697606" cy="877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5700" b="1" spc="-8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dirty="0"/>
              <a:t>关于我们</a:t>
            </a:r>
            <a:endParaRPr spc="-145" dirty="0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C608359-ED05-4E0C-D91B-80F3DBD6D6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81" y="615009"/>
            <a:ext cx="4656838" cy="190963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object 2"/>
          <p:cNvGrpSpPr/>
          <p:nvPr/>
        </p:nvGrpSpPr>
        <p:grpSpPr>
          <a:xfrm>
            <a:off x="0" y="0"/>
            <a:ext cx="20104103" cy="11303000"/>
            <a:chOff x="-1" y="-1"/>
            <a:chExt cx="20104102" cy="11302998"/>
          </a:xfrm>
        </p:grpSpPr>
        <p:pic>
          <p:nvPicPr>
            <p:cNvPr id="116" name="object 3" descr="object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-1"/>
              <a:ext cx="20104101" cy="958644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7" name="object 4" descr="object 4"/>
            <p:cNvPicPr>
              <a:picLocks noChangeAspect="1"/>
            </p:cNvPicPr>
            <p:nvPr/>
          </p:nvPicPr>
          <p:blipFill>
            <a:blip r:embed="rId3">
              <a:alphaModFix amt="50000"/>
            </a:blip>
            <a:srcRect/>
            <a:stretch>
              <a:fillRect/>
            </a:stretch>
          </p:blipFill>
          <p:spPr>
            <a:xfrm>
              <a:off x="-1" y="-1"/>
              <a:ext cx="20104101" cy="30826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31" name="object 7"/>
            <p:cNvGrpSpPr/>
            <p:nvPr/>
          </p:nvGrpSpPr>
          <p:grpSpPr>
            <a:xfrm>
              <a:off x="17512427" y="703094"/>
              <a:ext cx="1004808" cy="1429915"/>
              <a:chOff x="0" y="0"/>
              <a:chExt cx="1004806" cy="1429913"/>
            </a:xfrm>
          </p:grpSpPr>
          <p:sp>
            <p:nvSpPr>
              <p:cNvPr id="129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30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132" name="object 8"/>
            <p:cNvSpPr/>
            <p:nvPr/>
          </p:nvSpPr>
          <p:spPr>
            <a:xfrm>
              <a:off x="18731709" y="699223"/>
              <a:ext cx="941050" cy="14183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" y="19158"/>
                  </a:moveTo>
                  <a:lnTo>
                    <a:pt x="44" y="21600"/>
                  </a:lnTo>
                  <a:lnTo>
                    <a:pt x="21600" y="21600"/>
                  </a:lnTo>
                  <a:lnTo>
                    <a:pt x="21600" y="18804"/>
                  </a:lnTo>
                  <a:lnTo>
                    <a:pt x="7540" y="18804"/>
                  </a:lnTo>
                  <a:lnTo>
                    <a:pt x="9536" y="17627"/>
                  </a:lnTo>
                  <a:lnTo>
                    <a:pt x="10499" y="17057"/>
                  </a:lnTo>
                  <a:lnTo>
                    <a:pt x="11413" y="16507"/>
                  </a:lnTo>
                  <a:lnTo>
                    <a:pt x="12277" y="15976"/>
                  </a:lnTo>
                  <a:lnTo>
                    <a:pt x="13091" y="15465"/>
                  </a:lnTo>
                  <a:lnTo>
                    <a:pt x="13856" y="14974"/>
                  </a:lnTo>
                  <a:lnTo>
                    <a:pt x="14570" y="14503"/>
                  </a:lnTo>
                  <a:lnTo>
                    <a:pt x="15235" y="14052"/>
                  </a:lnTo>
                  <a:lnTo>
                    <a:pt x="15964" y="13525"/>
                  </a:lnTo>
                  <a:lnTo>
                    <a:pt x="16659" y="12976"/>
                  </a:lnTo>
                  <a:lnTo>
                    <a:pt x="17319" y="12404"/>
                  </a:lnTo>
                  <a:lnTo>
                    <a:pt x="17945" y="11809"/>
                  </a:lnTo>
                  <a:lnTo>
                    <a:pt x="18537" y="11191"/>
                  </a:lnTo>
                  <a:lnTo>
                    <a:pt x="19094" y="10550"/>
                  </a:lnTo>
                  <a:lnTo>
                    <a:pt x="19589" y="9893"/>
                  </a:lnTo>
                  <a:lnTo>
                    <a:pt x="19993" y="9227"/>
                  </a:lnTo>
                  <a:lnTo>
                    <a:pt x="20308" y="8553"/>
                  </a:lnTo>
                  <a:lnTo>
                    <a:pt x="20533" y="7869"/>
                  </a:lnTo>
                  <a:lnTo>
                    <a:pt x="20668" y="7176"/>
                  </a:lnTo>
                  <a:lnTo>
                    <a:pt x="20713" y="6474"/>
                  </a:lnTo>
                  <a:lnTo>
                    <a:pt x="20657" y="5658"/>
                  </a:lnTo>
                  <a:lnTo>
                    <a:pt x="20490" y="4889"/>
                  </a:lnTo>
                  <a:lnTo>
                    <a:pt x="20212" y="4168"/>
                  </a:lnTo>
                  <a:lnTo>
                    <a:pt x="19822" y="3495"/>
                  </a:lnTo>
                  <a:lnTo>
                    <a:pt x="19321" y="2871"/>
                  </a:lnTo>
                  <a:lnTo>
                    <a:pt x="18709" y="2294"/>
                  </a:lnTo>
                  <a:lnTo>
                    <a:pt x="17985" y="1766"/>
                  </a:lnTo>
                  <a:lnTo>
                    <a:pt x="17163" y="1297"/>
                  </a:lnTo>
                  <a:lnTo>
                    <a:pt x="16254" y="901"/>
                  </a:lnTo>
                  <a:lnTo>
                    <a:pt x="15260" y="577"/>
                  </a:lnTo>
                  <a:lnTo>
                    <a:pt x="14180" y="324"/>
                  </a:lnTo>
                  <a:lnTo>
                    <a:pt x="13013" y="144"/>
                  </a:lnTo>
                  <a:lnTo>
                    <a:pt x="11761" y="36"/>
                  </a:lnTo>
                  <a:lnTo>
                    <a:pt x="10423" y="0"/>
                  </a:lnTo>
                  <a:lnTo>
                    <a:pt x="9175" y="36"/>
                  </a:lnTo>
                  <a:lnTo>
                    <a:pt x="7991" y="145"/>
                  </a:lnTo>
                  <a:lnTo>
                    <a:pt x="6872" y="327"/>
                  </a:lnTo>
                  <a:lnTo>
                    <a:pt x="5817" y="581"/>
                  </a:lnTo>
                  <a:lnTo>
                    <a:pt x="4827" y="908"/>
                  </a:lnTo>
                  <a:lnTo>
                    <a:pt x="3900" y="1308"/>
                  </a:lnTo>
                  <a:lnTo>
                    <a:pt x="3038" y="1780"/>
                  </a:lnTo>
                  <a:lnTo>
                    <a:pt x="2355" y="2250"/>
                  </a:lnTo>
                  <a:lnTo>
                    <a:pt x="1759" y="2769"/>
                  </a:lnTo>
                  <a:lnTo>
                    <a:pt x="1249" y="3337"/>
                  </a:lnTo>
                  <a:lnTo>
                    <a:pt x="826" y="3955"/>
                  </a:lnTo>
                  <a:lnTo>
                    <a:pt x="490" y="4621"/>
                  </a:lnTo>
                  <a:lnTo>
                    <a:pt x="240" y="5337"/>
                  </a:lnTo>
                  <a:lnTo>
                    <a:pt x="77" y="6102"/>
                  </a:lnTo>
                  <a:lnTo>
                    <a:pt x="0" y="6916"/>
                  </a:lnTo>
                  <a:lnTo>
                    <a:pt x="4879" y="6916"/>
                  </a:lnTo>
                  <a:lnTo>
                    <a:pt x="5007" y="6036"/>
                  </a:lnTo>
                  <a:lnTo>
                    <a:pt x="5305" y="5249"/>
                  </a:lnTo>
                  <a:lnTo>
                    <a:pt x="5773" y="4557"/>
                  </a:lnTo>
                  <a:lnTo>
                    <a:pt x="6409" y="3958"/>
                  </a:lnTo>
                  <a:lnTo>
                    <a:pt x="7203" y="3475"/>
                  </a:lnTo>
                  <a:lnTo>
                    <a:pt x="8144" y="3131"/>
                  </a:lnTo>
                  <a:lnTo>
                    <a:pt x="9232" y="2924"/>
                  </a:lnTo>
                  <a:lnTo>
                    <a:pt x="10467" y="2855"/>
                  </a:lnTo>
                  <a:lnTo>
                    <a:pt x="11730" y="2917"/>
                  </a:lnTo>
                  <a:lnTo>
                    <a:pt x="12812" y="3105"/>
                  </a:lnTo>
                  <a:lnTo>
                    <a:pt x="13715" y="3418"/>
                  </a:lnTo>
                  <a:lnTo>
                    <a:pt x="14437" y="3855"/>
                  </a:lnTo>
                  <a:lnTo>
                    <a:pt x="14990" y="4403"/>
                  </a:lnTo>
                  <a:lnTo>
                    <a:pt x="15385" y="5047"/>
                  </a:lnTo>
                  <a:lnTo>
                    <a:pt x="15622" y="5786"/>
                  </a:lnTo>
                  <a:lnTo>
                    <a:pt x="15701" y="6621"/>
                  </a:lnTo>
                  <a:lnTo>
                    <a:pt x="15635" y="7304"/>
                  </a:lnTo>
                  <a:lnTo>
                    <a:pt x="15438" y="7987"/>
                  </a:lnTo>
                  <a:lnTo>
                    <a:pt x="15110" y="8670"/>
                  </a:lnTo>
                  <a:lnTo>
                    <a:pt x="14650" y="9352"/>
                  </a:lnTo>
                  <a:lnTo>
                    <a:pt x="14060" y="10035"/>
                  </a:lnTo>
                  <a:lnTo>
                    <a:pt x="13490" y="10600"/>
                  </a:lnTo>
                  <a:lnTo>
                    <a:pt x="12874" y="11158"/>
                  </a:lnTo>
                  <a:lnTo>
                    <a:pt x="12214" y="11709"/>
                  </a:lnTo>
                  <a:lnTo>
                    <a:pt x="11507" y="12252"/>
                  </a:lnTo>
                  <a:lnTo>
                    <a:pt x="10755" y="12788"/>
                  </a:lnTo>
                  <a:lnTo>
                    <a:pt x="9957" y="13316"/>
                  </a:lnTo>
                  <a:lnTo>
                    <a:pt x="9314" y="13723"/>
                  </a:lnTo>
                  <a:lnTo>
                    <a:pt x="8614" y="14158"/>
                  </a:lnTo>
                  <a:lnTo>
                    <a:pt x="7858" y="14619"/>
                  </a:lnTo>
                  <a:lnTo>
                    <a:pt x="7047" y="15108"/>
                  </a:lnTo>
                  <a:lnTo>
                    <a:pt x="6179" y="15623"/>
                  </a:lnTo>
                  <a:lnTo>
                    <a:pt x="5254" y="16166"/>
                  </a:lnTo>
                  <a:lnTo>
                    <a:pt x="4274" y="16736"/>
                  </a:lnTo>
                  <a:lnTo>
                    <a:pt x="3238" y="17333"/>
                  </a:lnTo>
                  <a:lnTo>
                    <a:pt x="44" y="19158"/>
                  </a:lnTo>
                  <a:close/>
                </a:path>
              </a:pathLst>
            </a:custGeom>
            <a:noFill/>
            <a:ln w="1047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33" name="object 9" descr="object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" y="7195026"/>
              <a:ext cx="20104100" cy="410797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5" name="object 10"/>
          <p:cNvSpPr txBox="1"/>
          <p:nvPr/>
        </p:nvSpPr>
        <p:spPr>
          <a:xfrm>
            <a:off x="1136033" y="7041529"/>
            <a:ext cx="7868920" cy="877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5700" b="1" spc="-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dirty="0"/>
              <a:t>申请资格</a:t>
            </a:r>
            <a:endParaRPr spc="-195" dirty="0"/>
          </a:p>
        </p:txBody>
      </p:sp>
      <p:sp>
        <p:nvSpPr>
          <p:cNvPr id="136" name="object 11"/>
          <p:cNvSpPr txBox="1"/>
          <p:nvPr/>
        </p:nvSpPr>
        <p:spPr>
          <a:xfrm>
            <a:off x="2247397" y="8691797"/>
            <a:ext cx="11762741" cy="1513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9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必须是 </a:t>
            </a:r>
            <a:r>
              <a:rPr lang="en-US" altLang="zh-CN" dirty="0"/>
              <a:t>W2 </a:t>
            </a:r>
            <a:r>
              <a:rPr lang="zh-CN" altLang="en-US" dirty="0"/>
              <a:t>员工</a:t>
            </a:r>
            <a:endParaRPr lang="en-US" altLang="zh-CN" dirty="0"/>
          </a:p>
          <a:p>
            <a:pPr indent="12700">
              <a:spcBef>
                <a:spcPts val="100"/>
              </a:spcBef>
              <a:defRPr sz="19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
每周至少工作 </a:t>
            </a:r>
            <a:r>
              <a:rPr lang="en-US" altLang="zh-CN" dirty="0"/>
              <a:t>30 </a:t>
            </a:r>
            <a:r>
              <a:rPr lang="zh-CN" altLang="en-US" dirty="0"/>
              <a:t>小时，且经济状况良好</a:t>
            </a:r>
            <a:endParaRPr lang="en-US" altLang="zh-CN" dirty="0"/>
          </a:p>
          <a:p>
            <a:pPr indent="12700">
              <a:spcBef>
                <a:spcPts val="100"/>
              </a:spcBef>
              <a:defRPr sz="19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
如果没有获得 </a:t>
            </a:r>
            <a:r>
              <a:rPr lang="en-US" altLang="zh-CN" dirty="0"/>
              <a:t>MEC</a:t>
            </a:r>
            <a:r>
              <a:rPr lang="zh-CN" altLang="en-US" dirty="0"/>
              <a:t>（最低基本保险）计划，则必须购买健康保险</a:t>
            </a:r>
            <a:endParaRPr spc="75" dirty="0"/>
          </a:p>
        </p:txBody>
      </p:sp>
      <p:grpSp>
        <p:nvGrpSpPr>
          <p:cNvPr id="151" name="object 12"/>
          <p:cNvGrpSpPr/>
          <p:nvPr/>
        </p:nvGrpSpPr>
        <p:grpSpPr>
          <a:xfrm>
            <a:off x="1454382" y="8691797"/>
            <a:ext cx="381871" cy="1509658"/>
            <a:chOff x="0" y="0"/>
            <a:chExt cx="381870" cy="1948266"/>
          </a:xfrm>
        </p:grpSpPr>
        <p:sp>
          <p:nvSpPr>
            <p:cNvPr id="137" name="object 13"/>
            <p:cNvSpPr/>
            <p:nvPr/>
          </p:nvSpPr>
          <p:spPr>
            <a:xfrm>
              <a:off x="23083" y="778439"/>
              <a:ext cx="267051" cy="303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093" y="0"/>
                  </a:moveTo>
                  <a:lnTo>
                    <a:pt x="8701" y="488"/>
                  </a:lnTo>
                  <a:lnTo>
                    <a:pt x="5569" y="1779"/>
                  </a:lnTo>
                  <a:lnTo>
                    <a:pt x="2973" y="3788"/>
                  </a:lnTo>
                  <a:lnTo>
                    <a:pt x="773" y="7045"/>
                  </a:lnTo>
                  <a:lnTo>
                    <a:pt x="0" y="10038"/>
                  </a:lnTo>
                  <a:lnTo>
                    <a:pt x="0" y="11735"/>
                  </a:lnTo>
                  <a:lnTo>
                    <a:pt x="27" y="11817"/>
                  </a:lnTo>
                  <a:lnTo>
                    <a:pt x="76" y="12431"/>
                  </a:lnTo>
                  <a:lnTo>
                    <a:pt x="928" y="15060"/>
                  </a:lnTo>
                  <a:lnTo>
                    <a:pt x="2741" y="17734"/>
                  </a:lnTo>
                  <a:lnTo>
                    <a:pt x="5081" y="19681"/>
                  </a:lnTo>
                  <a:lnTo>
                    <a:pt x="8827" y="21312"/>
                  </a:lnTo>
                  <a:lnTo>
                    <a:pt x="10845" y="21600"/>
                  </a:lnTo>
                  <a:lnTo>
                    <a:pt x="11251" y="21286"/>
                  </a:lnTo>
                  <a:lnTo>
                    <a:pt x="11419" y="20435"/>
                  </a:lnTo>
                  <a:lnTo>
                    <a:pt x="11137" y="20011"/>
                  </a:lnTo>
                  <a:lnTo>
                    <a:pt x="10542" y="19833"/>
                  </a:lnTo>
                  <a:lnTo>
                    <a:pt x="9657" y="19656"/>
                  </a:lnTo>
                  <a:lnTo>
                    <a:pt x="9052" y="19498"/>
                  </a:lnTo>
                  <a:lnTo>
                    <a:pt x="6045" y="18077"/>
                  </a:lnTo>
                  <a:lnTo>
                    <a:pt x="3345" y="15337"/>
                  </a:lnTo>
                  <a:lnTo>
                    <a:pt x="2174" y="12423"/>
                  </a:lnTo>
                  <a:lnTo>
                    <a:pt x="2027" y="11254"/>
                  </a:lnTo>
                  <a:lnTo>
                    <a:pt x="2058" y="10079"/>
                  </a:lnTo>
                  <a:lnTo>
                    <a:pt x="2813" y="7371"/>
                  </a:lnTo>
                  <a:lnTo>
                    <a:pt x="4708" y="4762"/>
                  </a:lnTo>
                  <a:lnTo>
                    <a:pt x="7807" y="2718"/>
                  </a:lnTo>
                  <a:lnTo>
                    <a:pt x="11633" y="1824"/>
                  </a:lnTo>
                  <a:lnTo>
                    <a:pt x="13694" y="1877"/>
                  </a:lnTo>
                  <a:lnTo>
                    <a:pt x="16858" y="2708"/>
                  </a:lnTo>
                  <a:lnTo>
                    <a:pt x="18024" y="3355"/>
                  </a:lnTo>
                  <a:lnTo>
                    <a:pt x="17475" y="4027"/>
                  </a:lnTo>
                  <a:lnTo>
                    <a:pt x="17093" y="4562"/>
                  </a:lnTo>
                  <a:lnTo>
                    <a:pt x="17214" y="4749"/>
                  </a:lnTo>
                  <a:lnTo>
                    <a:pt x="17791" y="4744"/>
                  </a:lnTo>
                  <a:lnTo>
                    <a:pt x="21365" y="4452"/>
                  </a:lnTo>
                  <a:lnTo>
                    <a:pt x="21600" y="4171"/>
                  </a:lnTo>
                  <a:lnTo>
                    <a:pt x="20589" y="947"/>
                  </a:lnTo>
                  <a:lnTo>
                    <a:pt x="20496" y="711"/>
                  </a:lnTo>
                  <a:lnTo>
                    <a:pt x="20171" y="660"/>
                  </a:lnTo>
                  <a:lnTo>
                    <a:pt x="20066" y="754"/>
                  </a:lnTo>
                  <a:lnTo>
                    <a:pt x="19568" y="1350"/>
                  </a:lnTo>
                  <a:lnTo>
                    <a:pt x="19261" y="1797"/>
                  </a:lnTo>
                  <a:lnTo>
                    <a:pt x="19161" y="1811"/>
                  </a:lnTo>
                  <a:lnTo>
                    <a:pt x="16216" y="536"/>
                  </a:lnTo>
                  <a:lnTo>
                    <a:pt x="13246" y="25"/>
                  </a:lnTo>
                  <a:lnTo>
                    <a:pt x="12093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38" name="object 14" descr="object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7565" y="829504"/>
              <a:ext cx="170996" cy="2523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44" name="object 15"/>
            <p:cNvGrpSpPr/>
            <p:nvPr/>
          </p:nvGrpSpPr>
          <p:grpSpPr>
            <a:xfrm>
              <a:off x="16646" y="1583061"/>
              <a:ext cx="365225" cy="365206"/>
              <a:chOff x="0" y="0"/>
              <a:chExt cx="365224" cy="365204"/>
            </a:xfrm>
          </p:grpSpPr>
          <p:sp>
            <p:nvSpPr>
              <p:cNvPr id="139" name="Shape"/>
              <p:cNvSpPr/>
              <p:nvPr/>
            </p:nvSpPr>
            <p:spPr>
              <a:xfrm>
                <a:off x="10" y="193240"/>
                <a:ext cx="317317" cy="1719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73" y="0"/>
                    </a:moveTo>
                    <a:lnTo>
                      <a:pt x="182" y="0"/>
                    </a:lnTo>
                    <a:lnTo>
                      <a:pt x="0" y="389"/>
                    </a:lnTo>
                    <a:lnTo>
                      <a:pt x="2" y="15584"/>
                    </a:lnTo>
                    <a:lnTo>
                      <a:pt x="1516" y="18049"/>
                    </a:lnTo>
                    <a:lnTo>
                      <a:pt x="14906" y="18049"/>
                    </a:lnTo>
                    <a:lnTo>
                      <a:pt x="15273" y="18205"/>
                    </a:lnTo>
                    <a:lnTo>
                      <a:pt x="17887" y="21170"/>
                    </a:lnTo>
                    <a:lnTo>
                      <a:pt x="18698" y="21600"/>
                    </a:lnTo>
                    <a:lnTo>
                      <a:pt x="19183" y="21600"/>
                    </a:lnTo>
                    <a:lnTo>
                      <a:pt x="19983" y="21170"/>
                    </a:lnTo>
                    <a:lnTo>
                      <a:pt x="20747" y="20603"/>
                    </a:lnTo>
                    <a:lnTo>
                      <a:pt x="21471" y="19881"/>
                    </a:lnTo>
                    <a:lnTo>
                      <a:pt x="21600" y="19713"/>
                    </a:lnTo>
                    <a:lnTo>
                      <a:pt x="18855" y="19713"/>
                    </a:lnTo>
                    <a:lnTo>
                      <a:pt x="18660" y="19622"/>
                    </a:lnTo>
                    <a:lnTo>
                      <a:pt x="16947" y="18268"/>
                    </a:lnTo>
                    <a:lnTo>
                      <a:pt x="15646" y="16226"/>
                    </a:lnTo>
                    <a:lnTo>
                      <a:pt x="14248" y="16226"/>
                    </a:lnTo>
                    <a:lnTo>
                      <a:pt x="14059" y="16197"/>
                    </a:lnTo>
                    <a:lnTo>
                      <a:pt x="1149" y="16197"/>
                    </a:lnTo>
                    <a:lnTo>
                      <a:pt x="1004" y="15927"/>
                    </a:lnTo>
                    <a:lnTo>
                      <a:pt x="999" y="858"/>
                    </a:lnTo>
                    <a:lnTo>
                      <a:pt x="982" y="389"/>
                    </a:lnTo>
                    <a:lnTo>
                      <a:pt x="979" y="331"/>
                    </a:lnTo>
                    <a:lnTo>
                      <a:pt x="7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40" name="Shape"/>
              <p:cNvSpPr/>
              <p:nvPr/>
            </p:nvSpPr>
            <p:spPr>
              <a:xfrm>
                <a:off x="277782" y="177931"/>
                <a:ext cx="87443" cy="1722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694" y="0"/>
                    </a:moveTo>
                    <a:lnTo>
                      <a:pt x="0" y="0"/>
                    </a:lnTo>
                    <a:lnTo>
                      <a:pt x="372" y="18"/>
                    </a:lnTo>
                    <a:lnTo>
                      <a:pt x="17797" y="2776"/>
                    </a:lnTo>
                    <a:lnTo>
                      <a:pt x="18033" y="2926"/>
                    </a:lnTo>
                    <a:lnTo>
                      <a:pt x="18005" y="10464"/>
                    </a:lnTo>
                    <a:lnTo>
                      <a:pt x="16707" y="14230"/>
                    </a:lnTo>
                    <a:lnTo>
                      <a:pt x="7938" y="19978"/>
                    </a:lnTo>
                    <a:lnTo>
                      <a:pt x="425" y="21600"/>
                    </a:lnTo>
                    <a:lnTo>
                      <a:pt x="9768" y="21600"/>
                    </a:lnTo>
                    <a:lnTo>
                      <a:pt x="18358" y="16971"/>
                    </a:lnTo>
                    <a:lnTo>
                      <a:pt x="21489" y="12079"/>
                    </a:lnTo>
                    <a:lnTo>
                      <a:pt x="21507" y="12007"/>
                    </a:lnTo>
                    <a:lnTo>
                      <a:pt x="21561" y="11937"/>
                    </a:lnTo>
                    <a:lnTo>
                      <a:pt x="21600" y="11865"/>
                    </a:lnTo>
                    <a:lnTo>
                      <a:pt x="21600" y="1762"/>
                    </a:lnTo>
                    <a:lnTo>
                      <a:pt x="21216" y="1406"/>
                    </a:lnTo>
                    <a:lnTo>
                      <a:pt x="21257" y="1406"/>
                    </a:lnTo>
                    <a:lnTo>
                      <a:pt x="20532" y="1236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41" name="Shape"/>
              <p:cNvSpPr/>
              <p:nvPr/>
            </p:nvSpPr>
            <p:spPr>
              <a:xfrm>
                <a:off x="43432" y="14763"/>
                <a:ext cx="285740" cy="3076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860" y="0"/>
                    </a:moveTo>
                    <a:lnTo>
                      <a:pt x="10880" y="0"/>
                    </a:lnTo>
                    <a:lnTo>
                      <a:pt x="10945" y="59"/>
                    </a:lnTo>
                    <a:lnTo>
                      <a:pt x="10941" y="2944"/>
                    </a:lnTo>
                    <a:lnTo>
                      <a:pt x="11062" y="3533"/>
                    </a:lnTo>
                    <a:lnTo>
                      <a:pt x="11390" y="3993"/>
                    </a:lnTo>
                    <a:lnTo>
                      <a:pt x="11892" y="4294"/>
                    </a:lnTo>
                    <a:lnTo>
                      <a:pt x="12539" y="4404"/>
                    </a:lnTo>
                    <a:lnTo>
                      <a:pt x="15681" y="4404"/>
                    </a:lnTo>
                    <a:lnTo>
                      <a:pt x="15688" y="10865"/>
                    </a:lnTo>
                    <a:lnTo>
                      <a:pt x="15602" y="10969"/>
                    </a:lnTo>
                    <a:lnTo>
                      <a:pt x="15353" y="11038"/>
                    </a:lnTo>
                    <a:lnTo>
                      <a:pt x="11453" y="12167"/>
                    </a:lnTo>
                    <a:lnTo>
                      <a:pt x="11256" y="12243"/>
                    </a:lnTo>
                    <a:lnTo>
                      <a:pt x="11152" y="12667"/>
                    </a:lnTo>
                    <a:lnTo>
                      <a:pt x="10998" y="12680"/>
                    </a:lnTo>
                    <a:lnTo>
                      <a:pt x="509" y="12680"/>
                    </a:lnTo>
                    <a:lnTo>
                      <a:pt x="207" y="12704"/>
                    </a:lnTo>
                    <a:lnTo>
                      <a:pt x="2" y="12920"/>
                    </a:lnTo>
                    <a:lnTo>
                      <a:pt x="9" y="13523"/>
                    </a:lnTo>
                    <a:lnTo>
                      <a:pt x="245" y="13710"/>
                    </a:lnTo>
                    <a:lnTo>
                      <a:pt x="11099" y="13710"/>
                    </a:lnTo>
                    <a:lnTo>
                      <a:pt x="11169" y="13772"/>
                    </a:lnTo>
                    <a:lnTo>
                      <a:pt x="11147" y="14354"/>
                    </a:lnTo>
                    <a:lnTo>
                      <a:pt x="11157" y="14730"/>
                    </a:lnTo>
                    <a:lnTo>
                      <a:pt x="11157" y="15483"/>
                    </a:lnTo>
                    <a:lnTo>
                      <a:pt x="503" y="15483"/>
                    </a:lnTo>
                    <a:lnTo>
                      <a:pt x="203" y="15509"/>
                    </a:lnTo>
                    <a:lnTo>
                      <a:pt x="0" y="15728"/>
                    </a:lnTo>
                    <a:lnTo>
                      <a:pt x="6" y="16008"/>
                    </a:lnTo>
                    <a:lnTo>
                      <a:pt x="13" y="16336"/>
                    </a:lnTo>
                    <a:lnTo>
                      <a:pt x="253" y="16515"/>
                    </a:lnTo>
                    <a:lnTo>
                      <a:pt x="11169" y="16515"/>
                    </a:lnTo>
                    <a:lnTo>
                      <a:pt x="11162" y="16719"/>
                    </a:lnTo>
                    <a:lnTo>
                      <a:pt x="11594" y="19766"/>
                    </a:lnTo>
                    <a:lnTo>
                      <a:pt x="12562" y="21537"/>
                    </a:lnTo>
                    <a:lnTo>
                      <a:pt x="12546" y="21584"/>
                    </a:lnTo>
                    <a:lnTo>
                      <a:pt x="12540" y="21600"/>
                    </a:lnTo>
                    <a:lnTo>
                      <a:pt x="14092" y="21600"/>
                    </a:lnTo>
                    <a:lnTo>
                      <a:pt x="13979" y="21510"/>
                    </a:lnTo>
                    <a:lnTo>
                      <a:pt x="12875" y="19918"/>
                    </a:lnTo>
                    <a:lnTo>
                      <a:pt x="12271" y="16912"/>
                    </a:lnTo>
                    <a:lnTo>
                      <a:pt x="12266" y="13094"/>
                    </a:lnTo>
                    <a:lnTo>
                      <a:pt x="12340" y="13010"/>
                    </a:lnTo>
                    <a:lnTo>
                      <a:pt x="17715" y="11456"/>
                    </a:lnTo>
                    <a:lnTo>
                      <a:pt x="21600" y="11456"/>
                    </a:lnTo>
                    <a:lnTo>
                      <a:pt x="18796" y="10633"/>
                    </a:lnTo>
                    <a:lnTo>
                      <a:pt x="16809" y="10633"/>
                    </a:lnTo>
                    <a:lnTo>
                      <a:pt x="16804" y="3779"/>
                    </a:lnTo>
                    <a:lnTo>
                      <a:pt x="16715" y="3576"/>
                    </a:lnTo>
                    <a:lnTo>
                      <a:pt x="16496" y="3374"/>
                    </a:lnTo>
                    <a:lnTo>
                      <a:pt x="12866" y="3374"/>
                    </a:lnTo>
                    <a:lnTo>
                      <a:pt x="12262" y="3352"/>
                    </a:lnTo>
                    <a:lnTo>
                      <a:pt x="12068" y="3207"/>
                    </a:lnTo>
                    <a:lnTo>
                      <a:pt x="12060" y="818"/>
                    </a:lnTo>
                    <a:lnTo>
                      <a:pt x="13737" y="818"/>
                    </a:lnTo>
                    <a:lnTo>
                      <a:pt x="128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42" name="Shape"/>
              <p:cNvSpPr/>
              <p:nvPr/>
            </p:nvSpPr>
            <p:spPr>
              <a:xfrm>
                <a:off x="0" y="0"/>
                <a:ext cx="213547" cy="1438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957" y="0"/>
                    </a:moveTo>
                    <a:lnTo>
                      <a:pt x="2336" y="0"/>
                    </a:lnTo>
                    <a:lnTo>
                      <a:pt x="1360" y="239"/>
                    </a:lnTo>
                    <a:lnTo>
                      <a:pt x="624" y="926"/>
                    </a:lnTo>
                    <a:lnTo>
                      <a:pt x="161" y="2018"/>
                    </a:lnTo>
                    <a:lnTo>
                      <a:pt x="0" y="3468"/>
                    </a:lnTo>
                    <a:lnTo>
                      <a:pt x="5" y="20598"/>
                    </a:lnTo>
                    <a:lnTo>
                      <a:pt x="40" y="21109"/>
                    </a:lnTo>
                    <a:lnTo>
                      <a:pt x="46" y="21194"/>
                    </a:lnTo>
                    <a:lnTo>
                      <a:pt x="358" y="21600"/>
                    </a:lnTo>
                    <a:lnTo>
                      <a:pt x="1211" y="21600"/>
                    </a:lnTo>
                    <a:lnTo>
                      <a:pt x="1490" y="21109"/>
                    </a:lnTo>
                    <a:lnTo>
                      <a:pt x="1493" y="2620"/>
                    </a:lnTo>
                    <a:lnTo>
                      <a:pt x="1755" y="2217"/>
                    </a:lnTo>
                    <a:lnTo>
                      <a:pt x="21600" y="2217"/>
                    </a:lnTo>
                    <a:lnTo>
                      <a:pt x="20235" y="179"/>
                    </a:lnTo>
                    <a:lnTo>
                      <a:pt x="199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43" name="Shape"/>
              <p:cNvSpPr/>
              <p:nvPr/>
            </p:nvSpPr>
            <p:spPr>
              <a:xfrm>
                <a:off x="202966" y="26407"/>
                <a:ext cx="89108" cy="1398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585" y="20979"/>
                    </a:moveTo>
                    <a:lnTo>
                      <a:pt x="15229" y="21600"/>
                    </a:lnTo>
                    <a:lnTo>
                      <a:pt x="21600" y="21600"/>
                    </a:lnTo>
                    <a:lnTo>
                      <a:pt x="18943" y="21056"/>
                    </a:lnTo>
                    <a:lnTo>
                      <a:pt x="17585" y="20979"/>
                    </a:lnTo>
                    <a:close/>
                    <a:moveTo>
                      <a:pt x="5377" y="0"/>
                    </a:moveTo>
                    <a:lnTo>
                      <a:pt x="0" y="0"/>
                    </a:lnTo>
                    <a:lnTo>
                      <a:pt x="8838" y="5625"/>
                    </a:lnTo>
                    <a:lnTo>
                      <a:pt x="14225" y="5625"/>
                    </a:lnTo>
                    <a:lnTo>
                      <a:pt x="5377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pic>
          <p:nvPicPr>
            <p:cNvPr id="145" name="object 16" descr="object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101" y="1652951"/>
              <a:ext cx="105903" cy="1059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48" name="object 17"/>
            <p:cNvGrpSpPr/>
            <p:nvPr/>
          </p:nvGrpSpPr>
          <p:grpSpPr>
            <a:xfrm>
              <a:off x="16622" y="1744107"/>
              <a:ext cx="144464" cy="128856"/>
              <a:chOff x="0" y="0"/>
              <a:chExt cx="144462" cy="128855"/>
            </a:xfrm>
          </p:grpSpPr>
          <p:sp>
            <p:nvSpPr>
              <p:cNvPr id="146" name="Shape"/>
              <p:cNvSpPr/>
              <p:nvPr/>
            </p:nvSpPr>
            <p:spPr>
              <a:xfrm>
                <a:off x="0" y="0"/>
                <a:ext cx="14782" cy="147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6924"/>
                    </a:moveTo>
                    <a:lnTo>
                      <a:pt x="21470" y="4731"/>
                    </a:lnTo>
                    <a:lnTo>
                      <a:pt x="17016" y="222"/>
                    </a:lnTo>
                    <a:lnTo>
                      <a:pt x="4825" y="0"/>
                    </a:lnTo>
                    <a:lnTo>
                      <a:pt x="111" y="4546"/>
                    </a:lnTo>
                    <a:lnTo>
                      <a:pt x="0" y="16943"/>
                    </a:lnTo>
                    <a:lnTo>
                      <a:pt x="4601" y="21600"/>
                    </a:lnTo>
                    <a:lnTo>
                      <a:pt x="10800" y="21582"/>
                    </a:lnTo>
                    <a:lnTo>
                      <a:pt x="16999" y="21582"/>
                    </a:lnTo>
                    <a:lnTo>
                      <a:pt x="21600" y="16924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47" name="Shape"/>
              <p:cNvSpPr/>
              <p:nvPr/>
            </p:nvSpPr>
            <p:spPr>
              <a:xfrm>
                <a:off x="43204" y="114122"/>
                <a:ext cx="101259" cy="147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6089"/>
                    </a:moveTo>
                    <a:lnTo>
                      <a:pt x="21307" y="3296"/>
                    </a:lnTo>
                    <a:lnTo>
                      <a:pt x="20671" y="0"/>
                    </a:lnTo>
                    <a:lnTo>
                      <a:pt x="778" y="37"/>
                    </a:lnTo>
                    <a:lnTo>
                      <a:pt x="138" y="3817"/>
                    </a:lnTo>
                    <a:lnTo>
                      <a:pt x="0" y="16740"/>
                    </a:lnTo>
                    <a:lnTo>
                      <a:pt x="664" y="21544"/>
                    </a:lnTo>
                    <a:lnTo>
                      <a:pt x="10715" y="21600"/>
                    </a:lnTo>
                    <a:lnTo>
                      <a:pt x="20896" y="21544"/>
                    </a:lnTo>
                    <a:lnTo>
                      <a:pt x="21600" y="16089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pic>
          <p:nvPicPr>
            <p:cNvPr id="149" name="object 18" descr="object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6206" y="1775340"/>
              <a:ext cx="117379" cy="1441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object 19" descr="object 1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0"/>
              <a:ext cx="351614" cy="2303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7775BE0-84F2-C8C7-3CF8-9344279C409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81" y="615009"/>
            <a:ext cx="4656838" cy="190963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object 2"/>
          <p:cNvGrpSpPr/>
          <p:nvPr/>
        </p:nvGrpSpPr>
        <p:grpSpPr>
          <a:xfrm>
            <a:off x="17496004" y="695345"/>
            <a:ext cx="2154532" cy="1449247"/>
            <a:chOff x="16941975" y="4543"/>
            <a:chExt cx="2154532" cy="1449244"/>
          </a:xfrm>
        </p:grpSpPr>
        <p:grpSp>
          <p:nvGrpSpPr>
            <p:cNvPr id="166" name="object 5"/>
            <p:cNvGrpSpPr/>
            <p:nvPr/>
          </p:nvGrpSpPr>
          <p:grpSpPr>
            <a:xfrm>
              <a:off x="16941975" y="12270"/>
              <a:ext cx="1004808" cy="1429914"/>
              <a:chOff x="0" y="0"/>
              <a:chExt cx="1004806" cy="1429913"/>
            </a:xfrm>
          </p:grpSpPr>
          <p:sp>
            <p:nvSpPr>
              <p:cNvPr id="164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65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167" name="object 6"/>
            <p:cNvSpPr/>
            <p:nvPr/>
          </p:nvSpPr>
          <p:spPr>
            <a:xfrm>
              <a:off x="18157394" y="4543"/>
              <a:ext cx="939113" cy="1449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4" y="5674"/>
                  </a:moveTo>
                  <a:lnTo>
                    <a:pt x="5378" y="5674"/>
                  </a:lnTo>
                  <a:lnTo>
                    <a:pt x="5580" y="5093"/>
                  </a:lnTo>
                  <a:lnTo>
                    <a:pt x="5922" y="4561"/>
                  </a:lnTo>
                  <a:lnTo>
                    <a:pt x="6403" y="4078"/>
                  </a:lnTo>
                  <a:lnTo>
                    <a:pt x="7022" y="3643"/>
                  </a:lnTo>
                  <a:lnTo>
                    <a:pt x="7780" y="3284"/>
                  </a:lnTo>
                  <a:lnTo>
                    <a:pt x="8677" y="3028"/>
                  </a:lnTo>
                  <a:lnTo>
                    <a:pt x="9714" y="2874"/>
                  </a:lnTo>
                  <a:lnTo>
                    <a:pt x="10889" y="2822"/>
                  </a:lnTo>
                  <a:lnTo>
                    <a:pt x="12083" y="2874"/>
                  </a:lnTo>
                  <a:lnTo>
                    <a:pt x="13133" y="3028"/>
                  </a:lnTo>
                  <a:lnTo>
                    <a:pt x="14039" y="3284"/>
                  </a:lnTo>
                  <a:lnTo>
                    <a:pt x="14800" y="3643"/>
                  </a:lnTo>
                  <a:lnTo>
                    <a:pt x="15402" y="4089"/>
                  </a:lnTo>
                  <a:lnTo>
                    <a:pt x="15833" y="4604"/>
                  </a:lnTo>
                  <a:lnTo>
                    <a:pt x="16091" y="5190"/>
                  </a:lnTo>
                  <a:lnTo>
                    <a:pt x="16178" y="5846"/>
                  </a:lnTo>
                  <a:lnTo>
                    <a:pt x="16060" y="6599"/>
                  </a:lnTo>
                  <a:lnTo>
                    <a:pt x="15705" y="7243"/>
                  </a:lnTo>
                  <a:lnTo>
                    <a:pt x="15115" y="7780"/>
                  </a:lnTo>
                  <a:lnTo>
                    <a:pt x="14289" y="8208"/>
                  </a:lnTo>
                  <a:lnTo>
                    <a:pt x="13465" y="8479"/>
                  </a:lnTo>
                  <a:lnTo>
                    <a:pt x="12504" y="8692"/>
                  </a:lnTo>
                  <a:lnTo>
                    <a:pt x="11406" y="8848"/>
                  </a:lnTo>
                  <a:lnTo>
                    <a:pt x="10171" y="8945"/>
                  </a:lnTo>
                  <a:lnTo>
                    <a:pt x="8800" y="8986"/>
                  </a:lnTo>
                  <a:lnTo>
                    <a:pt x="7600" y="8986"/>
                  </a:lnTo>
                  <a:lnTo>
                    <a:pt x="7600" y="11693"/>
                  </a:lnTo>
                  <a:lnTo>
                    <a:pt x="8756" y="11693"/>
                  </a:lnTo>
                  <a:lnTo>
                    <a:pt x="10306" y="11727"/>
                  </a:lnTo>
                  <a:lnTo>
                    <a:pt x="11689" y="11829"/>
                  </a:lnTo>
                  <a:lnTo>
                    <a:pt x="12902" y="11999"/>
                  </a:lnTo>
                  <a:lnTo>
                    <a:pt x="13946" y="12237"/>
                  </a:lnTo>
                  <a:lnTo>
                    <a:pt x="14822" y="12542"/>
                  </a:lnTo>
                  <a:lnTo>
                    <a:pt x="15534" y="12929"/>
                  </a:lnTo>
                  <a:lnTo>
                    <a:pt x="16088" y="13409"/>
                  </a:lnTo>
                  <a:lnTo>
                    <a:pt x="16483" y="13982"/>
                  </a:lnTo>
                  <a:lnTo>
                    <a:pt x="16721" y="14648"/>
                  </a:lnTo>
                  <a:lnTo>
                    <a:pt x="16800" y="15408"/>
                  </a:lnTo>
                  <a:lnTo>
                    <a:pt x="16708" y="16136"/>
                  </a:lnTo>
                  <a:lnTo>
                    <a:pt x="16433" y="16794"/>
                  </a:lnTo>
                  <a:lnTo>
                    <a:pt x="15975" y="17382"/>
                  </a:lnTo>
                  <a:lnTo>
                    <a:pt x="15333" y="17899"/>
                  </a:lnTo>
                  <a:lnTo>
                    <a:pt x="14522" y="18321"/>
                  </a:lnTo>
                  <a:lnTo>
                    <a:pt x="13555" y="18623"/>
                  </a:lnTo>
                  <a:lnTo>
                    <a:pt x="12433" y="18804"/>
                  </a:lnTo>
                  <a:lnTo>
                    <a:pt x="11155" y="18864"/>
                  </a:lnTo>
                  <a:lnTo>
                    <a:pt x="9828" y="18804"/>
                  </a:lnTo>
                  <a:lnTo>
                    <a:pt x="8644" y="18623"/>
                  </a:lnTo>
                  <a:lnTo>
                    <a:pt x="7605" y="18321"/>
                  </a:lnTo>
                  <a:lnTo>
                    <a:pt x="6711" y="17899"/>
                  </a:lnTo>
                  <a:lnTo>
                    <a:pt x="5980" y="17382"/>
                  </a:lnTo>
                  <a:lnTo>
                    <a:pt x="5433" y="16794"/>
                  </a:lnTo>
                  <a:lnTo>
                    <a:pt x="5069" y="16136"/>
                  </a:lnTo>
                  <a:lnTo>
                    <a:pt x="4889" y="15408"/>
                  </a:lnTo>
                  <a:lnTo>
                    <a:pt x="0" y="15408"/>
                  </a:lnTo>
                  <a:lnTo>
                    <a:pt x="122" y="16235"/>
                  </a:lnTo>
                  <a:lnTo>
                    <a:pt x="361" y="17006"/>
                  </a:lnTo>
                  <a:lnTo>
                    <a:pt x="717" y="17719"/>
                  </a:lnTo>
                  <a:lnTo>
                    <a:pt x="1190" y="18375"/>
                  </a:lnTo>
                  <a:lnTo>
                    <a:pt x="1780" y="18974"/>
                  </a:lnTo>
                  <a:lnTo>
                    <a:pt x="2487" y="19516"/>
                  </a:lnTo>
                  <a:lnTo>
                    <a:pt x="3311" y="20002"/>
                  </a:lnTo>
                  <a:lnTo>
                    <a:pt x="4228" y="20426"/>
                  </a:lnTo>
                  <a:lnTo>
                    <a:pt x="5216" y="20785"/>
                  </a:lnTo>
                  <a:lnTo>
                    <a:pt x="6273" y="21078"/>
                  </a:lnTo>
                  <a:lnTo>
                    <a:pt x="7400" y="21306"/>
                  </a:lnTo>
                  <a:lnTo>
                    <a:pt x="8597" y="21470"/>
                  </a:lnTo>
                  <a:lnTo>
                    <a:pt x="9863" y="21567"/>
                  </a:lnTo>
                  <a:lnTo>
                    <a:pt x="11200" y="21600"/>
                  </a:lnTo>
                  <a:lnTo>
                    <a:pt x="12478" y="21569"/>
                  </a:lnTo>
                  <a:lnTo>
                    <a:pt x="13681" y="21478"/>
                  </a:lnTo>
                  <a:lnTo>
                    <a:pt x="14810" y="21325"/>
                  </a:lnTo>
                  <a:lnTo>
                    <a:pt x="15865" y="21112"/>
                  </a:lnTo>
                  <a:lnTo>
                    <a:pt x="16844" y="20837"/>
                  </a:lnTo>
                  <a:lnTo>
                    <a:pt x="17950" y="20420"/>
                  </a:lnTo>
                  <a:lnTo>
                    <a:pt x="18911" y="19933"/>
                  </a:lnTo>
                  <a:lnTo>
                    <a:pt x="19728" y="19376"/>
                  </a:lnTo>
                  <a:lnTo>
                    <a:pt x="20400" y="18749"/>
                  </a:lnTo>
                  <a:lnTo>
                    <a:pt x="20925" y="18063"/>
                  </a:lnTo>
                  <a:lnTo>
                    <a:pt x="21300" y="17331"/>
                  </a:lnTo>
                  <a:lnTo>
                    <a:pt x="21525" y="16551"/>
                  </a:lnTo>
                  <a:lnTo>
                    <a:pt x="21600" y="15725"/>
                  </a:lnTo>
                  <a:lnTo>
                    <a:pt x="21541" y="14903"/>
                  </a:lnTo>
                  <a:lnTo>
                    <a:pt x="21365" y="14142"/>
                  </a:lnTo>
                  <a:lnTo>
                    <a:pt x="21072" y="13442"/>
                  </a:lnTo>
                  <a:lnTo>
                    <a:pt x="20661" y="12803"/>
                  </a:lnTo>
                  <a:lnTo>
                    <a:pt x="20133" y="12226"/>
                  </a:lnTo>
                  <a:lnTo>
                    <a:pt x="19328" y="11595"/>
                  </a:lnTo>
                  <a:lnTo>
                    <a:pt x="18377" y="11070"/>
                  </a:lnTo>
                  <a:lnTo>
                    <a:pt x="17283" y="10652"/>
                  </a:lnTo>
                  <a:lnTo>
                    <a:pt x="16044" y="10339"/>
                  </a:lnTo>
                  <a:lnTo>
                    <a:pt x="16044" y="10224"/>
                  </a:lnTo>
                  <a:lnTo>
                    <a:pt x="17030" y="9956"/>
                  </a:lnTo>
                  <a:lnTo>
                    <a:pt x="17944" y="9583"/>
                  </a:lnTo>
                  <a:lnTo>
                    <a:pt x="18786" y="9106"/>
                  </a:lnTo>
                  <a:lnTo>
                    <a:pt x="19556" y="8525"/>
                  </a:lnTo>
                  <a:lnTo>
                    <a:pt x="20197" y="7859"/>
                  </a:lnTo>
                  <a:lnTo>
                    <a:pt x="20655" y="7128"/>
                  </a:lnTo>
                  <a:lnTo>
                    <a:pt x="20930" y="6333"/>
                  </a:lnTo>
                  <a:lnTo>
                    <a:pt x="21022" y="5472"/>
                  </a:lnTo>
                  <a:lnTo>
                    <a:pt x="20950" y="4714"/>
                  </a:lnTo>
                  <a:lnTo>
                    <a:pt x="20733" y="3996"/>
                  </a:lnTo>
                  <a:lnTo>
                    <a:pt x="20372" y="3317"/>
                  </a:lnTo>
                  <a:lnTo>
                    <a:pt x="19867" y="2678"/>
                  </a:lnTo>
                  <a:lnTo>
                    <a:pt x="19219" y="2092"/>
                  </a:lnTo>
                  <a:lnTo>
                    <a:pt x="18433" y="1570"/>
                  </a:lnTo>
                  <a:lnTo>
                    <a:pt x="17508" y="1113"/>
                  </a:lnTo>
                  <a:lnTo>
                    <a:pt x="16444" y="720"/>
                  </a:lnTo>
                  <a:lnTo>
                    <a:pt x="15504" y="461"/>
                  </a:lnTo>
                  <a:lnTo>
                    <a:pt x="14496" y="259"/>
                  </a:lnTo>
                  <a:lnTo>
                    <a:pt x="13420" y="115"/>
                  </a:lnTo>
                  <a:lnTo>
                    <a:pt x="12277" y="29"/>
                  </a:lnTo>
                  <a:lnTo>
                    <a:pt x="11066" y="0"/>
                  </a:lnTo>
                  <a:lnTo>
                    <a:pt x="9804" y="31"/>
                  </a:lnTo>
                  <a:lnTo>
                    <a:pt x="8608" y="122"/>
                  </a:lnTo>
                  <a:lnTo>
                    <a:pt x="7479" y="275"/>
                  </a:lnTo>
                  <a:lnTo>
                    <a:pt x="6415" y="489"/>
                  </a:lnTo>
                  <a:lnTo>
                    <a:pt x="5418" y="764"/>
                  </a:lnTo>
                  <a:lnTo>
                    <a:pt x="4487" y="1100"/>
                  </a:lnTo>
                  <a:lnTo>
                    <a:pt x="3622" y="1498"/>
                  </a:lnTo>
                  <a:lnTo>
                    <a:pt x="2844" y="1950"/>
                  </a:lnTo>
                  <a:lnTo>
                    <a:pt x="2174" y="2450"/>
                  </a:lnTo>
                  <a:lnTo>
                    <a:pt x="1613" y="2998"/>
                  </a:lnTo>
                  <a:lnTo>
                    <a:pt x="1159" y="3595"/>
                  </a:lnTo>
                  <a:lnTo>
                    <a:pt x="813" y="4240"/>
                  </a:lnTo>
                  <a:lnTo>
                    <a:pt x="574" y="4932"/>
                  </a:lnTo>
                  <a:lnTo>
                    <a:pt x="444" y="5674"/>
                  </a:lnTo>
                  <a:close/>
                </a:path>
              </a:pathLst>
            </a:custGeom>
            <a:noFill/>
            <a:ln w="1047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dirty="0"/>
            </a:p>
          </p:txBody>
        </p:sp>
      </p:grpSp>
      <p:sp>
        <p:nvSpPr>
          <p:cNvPr id="169" name="object 7"/>
          <p:cNvSpPr txBox="1">
            <a:spLocks noGrp="1"/>
          </p:cNvSpPr>
          <p:nvPr>
            <p:ph type="title"/>
          </p:nvPr>
        </p:nvSpPr>
        <p:spPr>
          <a:xfrm>
            <a:off x="793228" y="3363938"/>
            <a:ext cx="18517642" cy="1307031"/>
          </a:xfrm>
          <a:prstGeom prst="rect">
            <a:avLst/>
          </a:prstGeom>
        </p:spPr>
        <p:txBody>
          <a:bodyPr/>
          <a:lstStyle/>
          <a:p>
            <a:pPr indent="328929">
              <a:spcBef>
                <a:spcPts val="100"/>
              </a:spcBef>
              <a:defRPr spc="-200"/>
            </a:pPr>
            <a:r>
              <a:rPr lang="zh-CN" altLang="en-US" dirty="0"/>
              <a:t>这对每个人来说都是双赢！</a:t>
            </a:r>
            <a:endParaRPr dirty="0"/>
          </a:p>
        </p:txBody>
      </p:sp>
      <p:sp>
        <p:nvSpPr>
          <p:cNvPr id="170" name="object 8"/>
          <p:cNvSpPr txBox="1">
            <a:spLocks noGrp="1"/>
          </p:cNvSpPr>
          <p:nvPr>
            <p:ph type="body" idx="1"/>
          </p:nvPr>
        </p:nvSpPr>
        <p:spPr>
          <a:xfrm>
            <a:off x="1109781" y="4684774"/>
            <a:ext cx="17783176" cy="5273042"/>
          </a:xfrm>
          <a:prstGeom prst="rect">
            <a:avLst/>
          </a:prstGeom>
        </p:spPr>
        <p:txBody>
          <a:bodyPr>
            <a:normAutofit/>
          </a:bodyPr>
          <a:lstStyle/>
          <a:p>
            <a:pPr indent="11937" defTabSz="859536">
              <a:spcBef>
                <a:spcPts val="500"/>
              </a:spcBef>
              <a:defRPr sz="2444" spc="-94"/>
            </a:pPr>
            <a:r>
              <a:rPr lang="zh-CN" altLang="en-US" b="1" dirty="0"/>
              <a:t>雇主福利</a:t>
            </a:r>
            <a:r>
              <a:rPr lang="zh-CN" altLang="en-US" dirty="0"/>
              <a:t>
针对每位员工，每年平均可降低 </a:t>
            </a:r>
            <a:r>
              <a:rPr lang="en-US" altLang="zh-CN" dirty="0"/>
              <a:t>630 </a:t>
            </a:r>
            <a:r>
              <a:rPr lang="zh-CN" altLang="en-US" dirty="0"/>
              <a:t>美元的工资税。 减少通常在周一早上报告的工伤补偿索赔的发生率，占总索赔的 </a:t>
            </a:r>
            <a:r>
              <a:rPr lang="en-US" altLang="zh-CN" dirty="0"/>
              <a:t>70%</a:t>
            </a:r>
            <a:r>
              <a:rPr lang="zh-CN" altLang="en-US" dirty="0"/>
              <a:t>。 在维持您当前的经纪人和保单的同时，将工伤赔偿成本降低多达 </a:t>
            </a:r>
            <a:r>
              <a:rPr lang="en-US" altLang="zh-CN" dirty="0"/>
              <a:t>30%</a:t>
            </a:r>
            <a:r>
              <a:rPr lang="zh-CN" altLang="en-US" dirty="0"/>
              <a:t>。</a:t>
            </a:r>
            <a:endParaRPr lang="en-US" altLang="zh-CN" dirty="0"/>
          </a:p>
          <a:p>
            <a:pPr indent="11937" defTabSz="859536">
              <a:spcBef>
                <a:spcPts val="500"/>
              </a:spcBef>
              <a:defRPr sz="2444" spc="-94"/>
            </a:pPr>
            <a:r>
              <a:rPr lang="zh-CN" altLang="en-US" dirty="0"/>
              <a:t>
</a:t>
            </a:r>
            <a:r>
              <a:rPr lang="zh-CN" altLang="en-US" b="1" dirty="0"/>
              <a:t>员工福利</a:t>
            </a:r>
            <a:r>
              <a:rPr lang="zh-CN" altLang="en-US" dirty="0"/>
              <a:t>
每位员工都可以通过我们的健康应用程序获得预防性护理福利包。我们的技术平台是您与医疗保健专业人员之间的沟通桥梁。现在，只需轻轻一按，即可安排预约并寻找适合您的日程安排和需求的新医生。我们提供事故、残疾、重大疾病（包括癌症）、牙科、住院津贴、视力和终身保险等承保政策，无需健康资格审查。员工可在不影响净工资的情况下，享受保险覆盖和资源支持。
</a:t>
            </a:r>
            <a:r>
              <a:rPr lang="zh-CN" altLang="en-US" b="1" dirty="0"/>
              <a:t>人力资源</a:t>
            </a:r>
            <a:r>
              <a:rPr lang="zh-CN" altLang="en-US" dirty="0"/>
              <a:t>
与所有薪资公司兼容，实现无缝集成。该技术可确保最高效率，人力资源、薪资团队和其他成员只需投入最少的精力。我们还将提供包括个性化帮助的专属客户服务经理，竭诚为您的公司服务。</a:t>
            </a:r>
            <a:endParaRPr dirty="0"/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5DD046E-A2B4-089C-EFD7-E3B8A60EA3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81" y="615009"/>
            <a:ext cx="4656838" cy="190963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object 2"/>
          <p:cNvGrpSpPr/>
          <p:nvPr/>
        </p:nvGrpSpPr>
        <p:grpSpPr>
          <a:xfrm>
            <a:off x="17444798" y="703062"/>
            <a:ext cx="2307173" cy="1433789"/>
            <a:chOff x="16890769" y="12149"/>
            <a:chExt cx="2307173" cy="1433787"/>
          </a:xfrm>
        </p:grpSpPr>
        <p:grpSp>
          <p:nvGrpSpPr>
            <p:cNvPr id="185" name="object 5"/>
            <p:cNvGrpSpPr/>
            <p:nvPr/>
          </p:nvGrpSpPr>
          <p:grpSpPr>
            <a:xfrm>
              <a:off x="16890769" y="12149"/>
              <a:ext cx="1004807" cy="1429915"/>
              <a:chOff x="0" y="0"/>
              <a:chExt cx="1004806" cy="1429913"/>
            </a:xfrm>
          </p:grpSpPr>
          <p:sp>
            <p:nvSpPr>
              <p:cNvPr id="183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84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188" name="object 6"/>
            <p:cNvGrpSpPr/>
            <p:nvPr/>
          </p:nvGrpSpPr>
          <p:grpSpPr>
            <a:xfrm>
              <a:off x="18102319" y="54668"/>
              <a:ext cx="1095623" cy="1391268"/>
              <a:chOff x="0" y="0"/>
              <a:chExt cx="1095622" cy="1391266"/>
            </a:xfrm>
          </p:grpSpPr>
          <p:sp>
            <p:nvSpPr>
              <p:cNvPr id="186" name="Shape"/>
              <p:cNvSpPr/>
              <p:nvPr/>
            </p:nvSpPr>
            <p:spPr>
              <a:xfrm>
                <a:off x="0" y="0"/>
                <a:ext cx="1095623" cy="13912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790" y="17040"/>
                    </a:moveTo>
                    <a:lnTo>
                      <a:pt x="13790" y="21600"/>
                    </a:lnTo>
                    <a:lnTo>
                      <a:pt x="18057" y="21600"/>
                    </a:lnTo>
                    <a:lnTo>
                      <a:pt x="18057" y="17040"/>
                    </a:lnTo>
                    <a:lnTo>
                      <a:pt x="21600" y="17040"/>
                    </a:lnTo>
                    <a:lnTo>
                      <a:pt x="21600" y="14070"/>
                    </a:lnTo>
                    <a:lnTo>
                      <a:pt x="18057" y="14070"/>
                    </a:lnTo>
                    <a:lnTo>
                      <a:pt x="18057" y="0"/>
                    </a:lnTo>
                    <a:lnTo>
                      <a:pt x="12800" y="0"/>
                    </a:lnTo>
                    <a:lnTo>
                      <a:pt x="0" y="14460"/>
                    </a:lnTo>
                    <a:lnTo>
                      <a:pt x="0" y="17040"/>
                    </a:lnTo>
                    <a:lnTo>
                      <a:pt x="13790" y="17040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87" name="Triangle"/>
              <p:cNvSpPr/>
              <p:nvPr/>
            </p:nvSpPr>
            <p:spPr>
              <a:xfrm>
                <a:off x="253133" y="224139"/>
                <a:ext cx="456029" cy="6821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sp>
        <p:nvSpPr>
          <p:cNvPr id="190" name="object 7"/>
          <p:cNvSpPr txBox="1"/>
          <p:nvPr/>
        </p:nvSpPr>
        <p:spPr>
          <a:xfrm>
            <a:off x="819870" y="5063668"/>
            <a:ext cx="2045971" cy="1061829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40384" indent="548005" algn="ctr">
              <a:spcBef>
                <a:spcPts val="9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数量
员工</a:t>
            </a:r>
            <a:endParaRPr lang="en-US" altLang="zh-CN" dirty="0"/>
          </a:p>
          <a:p>
            <a:pPr marR="540384" indent="548005" algn="ctr">
              <a:spcBef>
                <a:spcPts val="9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dirty="0"/>
          </a:p>
        </p:txBody>
      </p:sp>
      <p:sp>
        <p:nvSpPr>
          <p:cNvPr id="191" name="object 8"/>
          <p:cNvSpPr txBox="1"/>
          <p:nvPr/>
        </p:nvSpPr>
        <p:spPr>
          <a:xfrm>
            <a:off x="3001228" y="5063668"/>
            <a:ext cx="2045971" cy="1087477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21615" indent="229234" algn="ctr">
              <a:spcBef>
                <a:spcPts val="10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每位员工</a:t>
            </a:r>
            <a:endParaRPr lang="en-US" altLang="zh-CN" dirty="0"/>
          </a:p>
          <a:p>
            <a:pPr marR="221615" indent="229234" algn="ctr">
              <a:spcBef>
                <a:spcPts val="10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的月分配</a:t>
            </a:r>
            <a:endParaRPr lang="en-US" altLang="zh-CN" dirty="0"/>
          </a:p>
          <a:p>
            <a:pPr marR="221615" indent="229234" algn="ctr">
              <a:spcBef>
                <a:spcPts val="10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pc="65" dirty="0"/>
          </a:p>
        </p:txBody>
      </p:sp>
      <p:sp>
        <p:nvSpPr>
          <p:cNvPr id="192" name="object 9"/>
          <p:cNvSpPr txBox="1"/>
          <p:nvPr/>
        </p:nvSpPr>
        <p:spPr>
          <a:xfrm>
            <a:off x="5182615" y="5063668"/>
            <a:ext cx="2045971" cy="1113125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448944" indent="456565" algn="ctr">
              <a:spcBef>
                <a:spcPts val="11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r>
              <a:rPr lang="zh-CN" altLang="en-US" dirty="0"/>
              <a:t>年度</a:t>
            </a:r>
            <a:endParaRPr lang="en-US" altLang="zh-CN" dirty="0"/>
          </a:p>
          <a:p>
            <a:r>
              <a:rPr lang="zh-CN" altLang="en-US" dirty="0"/>
              <a:t>分配总额</a:t>
            </a:r>
            <a:endParaRPr lang="en-US" altLang="zh-CN" dirty="0"/>
          </a:p>
          <a:p>
            <a:endParaRPr dirty="0"/>
          </a:p>
        </p:txBody>
      </p:sp>
      <p:sp>
        <p:nvSpPr>
          <p:cNvPr id="193" name="object 10"/>
          <p:cNvSpPr txBox="1"/>
          <p:nvPr/>
        </p:nvSpPr>
        <p:spPr>
          <a:xfrm>
            <a:off x="7363973" y="5063668"/>
            <a:ext cx="2045971" cy="1039772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156210" indent="163829" algn="ctr">
              <a:lnSpc>
                <a:spcPct val="101800"/>
              </a:lnSpc>
              <a:spcBef>
                <a:spcPts val="1300"/>
              </a:spcBef>
              <a:defRPr sz="1500" spc="114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公司年度</a:t>
            </a:r>
            <a:endParaRPr lang="en-US" altLang="zh-CN" dirty="0"/>
          </a:p>
          <a:p>
            <a:pPr marR="156210" indent="163829" algn="ctr">
              <a:lnSpc>
                <a:spcPct val="101800"/>
              </a:lnSpc>
              <a:spcBef>
                <a:spcPts val="1300"/>
              </a:spcBef>
              <a:defRPr sz="1500" spc="114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员工福利</a:t>
            </a:r>
            <a:endParaRPr lang="en-US" altLang="zh-CN" dirty="0"/>
          </a:p>
          <a:p>
            <a:pPr marR="156210" indent="163829" algn="ctr">
              <a:lnSpc>
                <a:spcPct val="101800"/>
              </a:lnSpc>
              <a:spcBef>
                <a:spcPts val="1300"/>
              </a:spcBef>
              <a:defRPr sz="1500" spc="114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spc="-10" dirty="0"/>
          </a:p>
        </p:txBody>
      </p:sp>
      <p:sp>
        <p:nvSpPr>
          <p:cNvPr id="194" name="object 11"/>
          <p:cNvSpPr txBox="1">
            <a:spLocks noGrp="1"/>
          </p:cNvSpPr>
          <p:nvPr>
            <p:ph type="title"/>
          </p:nvPr>
        </p:nvSpPr>
        <p:spPr>
          <a:xfrm>
            <a:off x="836058" y="4126376"/>
            <a:ext cx="8573770" cy="739776"/>
          </a:xfrm>
          <a:prstGeom prst="rect">
            <a:avLst/>
          </a:prstGeom>
          <a:solidFill>
            <a:srgbClr val="1B2C5F"/>
          </a:solidFill>
        </p:spPr>
        <p:txBody>
          <a:bodyPr/>
          <a:lstStyle/>
          <a:p>
            <a:pPr algn="ctr">
              <a:spcBef>
                <a:spcPts val="400"/>
              </a:spcBef>
              <a:defRPr sz="4100" spc="-199">
                <a:solidFill>
                  <a:srgbClr val="FFFFFF"/>
                </a:solidFill>
              </a:defRPr>
            </a:pPr>
            <a:r>
              <a:rPr lang="zh-CN" altLang="en-US"/>
              <a:t>分配估算</a:t>
            </a:r>
            <a:endParaRPr spc="-99" dirty="0"/>
          </a:p>
        </p:txBody>
      </p:sp>
      <p:sp>
        <p:nvSpPr>
          <p:cNvPr id="195" name="object 12"/>
          <p:cNvSpPr txBox="1"/>
          <p:nvPr/>
        </p:nvSpPr>
        <p:spPr>
          <a:xfrm>
            <a:off x="819870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2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100</a:t>
            </a:r>
          </a:p>
        </p:txBody>
      </p:sp>
      <p:sp>
        <p:nvSpPr>
          <p:cNvPr id="196" name="object 13"/>
          <p:cNvSpPr txBox="1"/>
          <p:nvPr/>
        </p:nvSpPr>
        <p:spPr>
          <a:xfrm>
            <a:off x="819870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2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500</a:t>
            </a:r>
          </a:p>
        </p:txBody>
      </p:sp>
      <p:sp>
        <p:nvSpPr>
          <p:cNvPr id="197" name="object 14"/>
          <p:cNvSpPr txBox="1"/>
          <p:nvPr/>
        </p:nvSpPr>
        <p:spPr>
          <a:xfrm>
            <a:off x="819870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1,000</a:t>
            </a:r>
          </a:p>
        </p:txBody>
      </p:sp>
      <p:sp>
        <p:nvSpPr>
          <p:cNvPr id="198" name="object 15"/>
          <p:cNvSpPr txBox="1"/>
          <p:nvPr/>
        </p:nvSpPr>
        <p:spPr>
          <a:xfrm>
            <a:off x="3001228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56705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$203.08</a:t>
            </a:r>
          </a:p>
        </p:txBody>
      </p:sp>
      <p:sp>
        <p:nvSpPr>
          <p:cNvPr id="199" name="object 16"/>
          <p:cNvSpPr txBox="1"/>
          <p:nvPr/>
        </p:nvSpPr>
        <p:spPr>
          <a:xfrm>
            <a:off x="3001228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56705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$203.08</a:t>
            </a:r>
          </a:p>
        </p:txBody>
      </p:sp>
      <p:sp>
        <p:nvSpPr>
          <p:cNvPr id="200" name="object 17"/>
          <p:cNvSpPr txBox="1"/>
          <p:nvPr/>
        </p:nvSpPr>
        <p:spPr>
          <a:xfrm>
            <a:off x="3001228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56705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$203.08</a:t>
            </a:r>
          </a:p>
        </p:txBody>
      </p:sp>
      <p:sp>
        <p:nvSpPr>
          <p:cNvPr id="201" name="object 18"/>
          <p:cNvSpPr txBox="1"/>
          <p:nvPr/>
        </p:nvSpPr>
        <p:spPr>
          <a:xfrm>
            <a:off x="5182615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468630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$2,436.96</a:t>
            </a:r>
          </a:p>
        </p:txBody>
      </p:sp>
      <p:sp>
        <p:nvSpPr>
          <p:cNvPr id="202" name="object 19"/>
          <p:cNvSpPr txBox="1"/>
          <p:nvPr/>
        </p:nvSpPr>
        <p:spPr>
          <a:xfrm>
            <a:off x="5182615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468630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$2,436.96</a:t>
            </a:r>
          </a:p>
        </p:txBody>
      </p:sp>
      <p:sp>
        <p:nvSpPr>
          <p:cNvPr id="203" name="object 20"/>
          <p:cNvSpPr txBox="1"/>
          <p:nvPr/>
        </p:nvSpPr>
        <p:spPr>
          <a:xfrm>
            <a:off x="5182615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468630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$2,436.96</a:t>
            </a:r>
          </a:p>
        </p:txBody>
      </p:sp>
      <p:sp>
        <p:nvSpPr>
          <p:cNvPr id="204" name="object 21"/>
          <p:cNvSpPr txBox="1"/>
          <p:nvPr/>
        </p:nvSpPr>
        <p:spPr>
          <a:xfrm>
            <a:off x="7363973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493394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$243,696</a:t>
            </a:r>
          </a:p>
        </p:txBody>
      </p:sp>
      <p:sp>
        <p:nvSpPr>
          <p:cNvPr id="205" name="object 22"/>
          <p:cNvSpPr txBox="1"/>
          <p:nvPr/>
        </p:nvSpPr>
        <p:spPr>
          <a:xfrm>
            <a:off x="7363973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465455">
              <a:defRPr spc="-9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$1,218,480</a:t>
            </a:r>
          </a:p>
        </p:txBody>
      </p:sp>
      <p:sp>
        <p:nvSpPr>
          <p:cNvPr id="206" name="object 23"/>
          <p:cNvSpPr txBox="1"/>
          <p:nvPr/>
        </p:nvSpPr>
        <p:spPr>
          <a:xfrm>
            <a:off x="7363973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39687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$2,436,960</a:t>
            </a:r>
          </a:p>
        </p:txBody>
      </p:sp>
      <p:sp>
        <p:nvSpPr>
          <p:cNvPr id="207" name="object 24"/>
          <p:cNvSpPr txBox="1"/>
          <p:nvPr/>
        </p:nvSpPr>
        <p:spPr>
          <a:xfrm>
            <a:off x="10694334" y="5063668"/>
            <a:ext cx="2045971" cy="1061829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40384" indent="548005" algn="ctr">
              <a:spcBef>
                <a:spcPts val="9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数量
员工</a:t>
            </a:r>
            <a:endParaRPr lang="en-US" altLang="zh-CN" dirty="0"/>
          </a:p>
          <a:p>
            <a:pPr marR="540384" indent="548005" algn="ctr">
              <a:spcBef>
                <a:spcPts val="9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dirty="0"/>
          </a:p>
        </p:txBody>
      </p:sp>
      <p:sp>
        <p:nvSpPr>
          <p:cNvPr id="208" name="object 25"/>
          <p:cNvSpPr txBox="1"/>
          <p:nvPr/>
        </p:nvSpPr>
        <p:spPr>
          <a:xfrm>
            <a:off x="12875701" y="5063668"/>
            <a:ext cx="2045971" cy="1087477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24154" indent="231775" algn="ctr">
              <a:spcBef>
                <a:spcPts val="10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每位员工</a:t>
            </a:r>
            <a:endParaRPr lang="en-US" altLang="zh-CN" dirty="0"/>
          </a:p>
          <a:p>
            <a:pPr marR="224154" indent="231775" algn="ctr">
              <a:spcBef>
                <a:spcPts val="10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每月费用</a:t>
            </a:r>
            <a:endParaRPr lang="en-US" altLang="zh-CN" dirty="0"/>
          </a:p>
          <a:p>
            <a:pPr marR="224154" indent="231775" algn="ctr">
              <a:spcBef>
                <a:spcPts val="10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减少</a:t>
            </a:r>
            <a:endParaRPr lang="en-US" altLang="zh-CN" dirty="0"/>
          </a:p>
        </p:txBody>
      </p:sp>
      <p:sp>
        <p:nvSpPr>
          <p:cNvPr id="209" name="object 26"/>
          <p:cNvSpPr txBox="1"/>
          <p:nvPr/>
        </p:nvSpPr>
        <p:spPr>
          <a:xfrm>
            <a:off x="15057079" y="5063668"/>
            <a:ext cx="2045971" cy="1020792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95250" indent="102870" algn="ctr">
              <a:spcBef>
                <a:spcPts val="1100"/>
              </a:spcBef>
              <a:defRPr sz="1600" spc="95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公司年度</a:t>
            </a:r>
            <a:endParaRPr lang="en-US" altLang="zh-CN" dirty="0"/>
          </a:p>
          <a:p>
            <a:pPr marR="95250" indent="102870" algn="ctr">
              <a:spcBef>
                <a:spcPts val="1100"/>
              </a:spcBef>
              <a:defRPr sz="1600" spc="95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工资节省</a:t>
            </a:r>
            <a:endParaRPr lang="en-US" altLang="zh-CN" dirty="0"/>
          </a:p>
          <a:p>
            <a:pPr marR="95250" indent="102870" algn="ctr">
              <a:spcBef>
                <a:spcPts val="1100"/>
              </a:spcBef>
              <a:defRPr sz="1600" spc="95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spc="-10" dirty="0"/>
          </a:p>
        </p:txBody>
      </p:sp>
      <p:sp>
        <p:nvSpPr>
          <p:cNvPr id="210" name="object 27"/>
          <p:cNvSpPr txBox="1"/>
          <p:nvPr/>
        </p:nvSpPr>
        <p:spPr>
          <a:xfrm>
            <a:off x="17238448" y="5063668"/>
            <a:ext cx="2045971" cy="984885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6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1600" dirty="0"/>
          </a:p>
          <a:p>
            <a:pPr algn="ctr">
              <a:defRPr sz="1500" spc="-2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sz="1600" dirty="0"/>
              <a:t>FICA</a:t>
            </a:r>
          </a:p>
          <a:p>
            <a:pPr algn="ctr">
              <a:defRPr sz="15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z="1600" dirty="0"/>
              <a:t>税务节省</a:t>
            </a:r>
            <a:endParaRPr lang="en-US" altLang="zh-CN" sz="1600" dirty="0"/>
          </a:p>
          <a:p>
            <a:pPr algn="ctr">
              <a:defRPr sz="15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z="1600" spc="55" dirty="0"/>
          </a:p>
        </p:txBody>
      </p:sp>
      <p:sp>
        <p:nvSpPr>
          <p:cNvPr id="211" name="object 28"/>
          <p:cNvSpPr txBox="1"/>
          <p:nvPr/>
        </p:nvSpPr>
        <p:spPr>
          <a:xfrm>
            <a:off x="10710522" y="4126376"/>
            <a:ext cx="8573770" cy="630942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721994" algn="ctr">
              <a:spcBef>
                <a:spcPts val="400"/>
              </a:spcBef>
              <a:defRPr sz="4100" b="1" spc="-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dirty="0"/>
              <a:t>减免和节省</a:t>
            </a:r>
            <a:endParaRPr spc="-10" dirty="0"/>
          </a:p>
        </p:txBody>
      </p:sp>
      <p:sp>
        <p:nvSpPr>
          <p:cNvPr id="212" name="object 29"/>
          <p:cNvSpPr txBox="1"/>
          <p:nvPr/>
        </p:nvSpPr>
        <p:spPr>
          <a:xfrm>
            <a:off x="10694334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2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100</a:t>
            </a:r>
          </a:p>
        </p:txBody>
      </p:sp>
      <p:sp>
        <p:nvSpPr>
          <p:cNvPr id="213" name="object 30"/>
          <p:cNvSpPr txBox="1"/>
          <p:nvPr/>
        </p:nvSpPr>
        <p:spPr>
          <a:xfrm>
            <a:off x="10694334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2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500</a:t>
            </a:r>
          </a:p>
        </p:txBody>
      </p:sp>
      <p:sp>
        <p:nvSpPr>
          <p:cNvPr id="214" name="object 31"/>
          <p:cNvSpPr txBox="1"/>
          <p:nvPr/>
        </p:nvSpPr>
        <p:spPr>
          <a:xfrm>
            <a:off x="10694334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1,000</a:t>
            </a:r>
          </a:p>
        </p:txBody>
      </p:sp>
      <p:sp>
        <p:nvSpPr>
          <p:cNvPr id="215" name="object 32"/>
          <p:cNvSpPr txBox="1"/>
          <p:nvPr/>
        </p:nvSpPr>
        <p:spPr>
          <a:xfrm>
            <a:off x="12875701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27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$1,216</a:t>
            </a:r>
          </a:p>
        </p:txBody>
      </p:sp>
      <p:sp>
        <p:nvSpPr>
          <p:cNvPr id="216" name="object 33"/>
          <p:cNvSpPr txBox="1"/>
          <p:nvPr/>
        </p:nvSpPr>
        <p:spPr>
          <a:xfrm>
            <a:off x="12875701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27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$1,216</a:t>
            </a:r>
          </a:p>
        </p:txBody>
      </p:sp>
      <p:sp>
        <p:nvSpPr>
          <p:cNvPr id="217" name="object 34"/>
          <p:cNvSpPr txBox="1"/>
          <p:nvPr/>
        </p:nvSpPr>
        <p:spPr>
          <a:xfrm>
            <a:off x="12875701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27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$1,216</a:t>
            </a:r>
          </a:p>
        </p:txBody>
      </p:sp>
      <p:sp>
        <p:nvSpPr>
          <p:cNvPr id="218" name="object 35"/>
          <p:cNvSpPr txBox="1"/>
          <p:nvPr/>
        </p:nvSpPr>
        <p:spPr>
          <a:xfrm>
            <a:off x="15057079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0007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$14,592</a:t>
            </a:r>
          </a:p>
        </p:txBody>
      </p:sp>
      <p:sp>
        <p:nvSpPr>
          <p:cNvPr id="219" name="object 36"/>
          <p:cNvSpPr txBox="1"/>
          <p:nvPr/>
        </p:nvSpPr>
        <p:spPr>
          <a:xfrm>
            <a:off x="15057079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0007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$14,592</a:t>
            </a:r>
          </a:p>
        </p:txBody>
      </p:sp>
      <p:sp>
        <p:nvSpPr>
          <p:cNvPr id="220" name="object 37"/>
          <p:cNvSpPr txBox="1"/>
          <p:nvPr/>
        </p:nvSpPr>
        <p:spPr>
          <a:xfrm>
            <a:off x="15057079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0007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$14,592</a:t>
            </a:r>
          </a:p>
        </p:txBody>
      </p:sp>
      <p:sp>
        <p:nvSpPr>
          <p:cNvPr id="221" name="object 38"/>
          <p:cNvSpPr txBox="1"/>
          <p:nvPr/>
        </p:nvSpPr>
        <p:spPr>
          <a:xfrm>
            <a:off x="17238448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56197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$63,000</a:t>
            </a:r>
          </a:p>
        </p:txBody>
      </p:sp>
      <p:sp>
        <p:nvSpPr>
          <p:cNvPr id="222" name="object 39"/>
          <p:cNvSpPr txBox="1"/>
          <p:nvPr/>
        </p:nvSpPr>
        <p:spPr>
          <a:xfrm>
            <a:off x="17238448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525144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$315,000</a:t>
            </a:r>
          </a:p>
        </p:txBody>
      </p:sp>
      <p:sp>
        <p:nvSpPr>
          <p:cNvPr id="223" name="object 40"/>
          <p:cNvSpPr txBox="1"/>
          <p:nvPr/>
        </p:nvSpPr>
        <p:spPr>
          <a:xfrm>
            <a:off x="17238448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48831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$630,000</a:t>
            </a: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6A3A9F9-9A84-E309-5CA3-36904EF66F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81" y="615009"/>
            <a:ext cx="4656838" cy="190963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object 11"/>
          <p:cNvGrpSpPr/>
          <p:nvPr/>
        </p:nvGrpSpPr>
        <p:grpSpPr>
          <a:xfrm>
            <a:off x="-2" y="13005"/>
            <a:ext cx="20104102" cy="3082631"/>
            <a:chOff x="0" y="13006"/>
            <a:chExt cx="20104101" cy="3082630"/>
          </a:xfrm>
        </p:grpSpPr>
        <p:pic>
          <p:nvPicPr>
            <p:cNvPr id="234" name="object 12" descr="object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006"/>
              <a:ext cx="20104101" cy="30826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48" name="object 15"/>
            <p:cNvGrpSpPr/>
            <p:nvPr/>
          </p:nvGrpSpPr>
          <p:grpSpPr>
            <a:xfrm>
              <a:off x="17452537" y="703062"/>
              <a:ext cx="1004808" cy="1429915"/>
              <a:chOff x="0" y="0"/>
              <a:chExt cx="1004806" cy="1429913"/>
            </a:xfrm>
          </p:grpSpPr>
          <p:sp>
            <p:nvSpPr>
              <p:cNvPr id="246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47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249" name="object 16"/>
            <p:cNvSpPr/>
            <p:nvPr/>
          </p:nvSpPr>
          <p:spPr>
            <a:xfrm>
              <a:off x="18718200" y="724321"/>
              <a:ext cx="977751" cy="14125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66" y="0"/>
                  </a:moveTo>
                  <a:lnTo>
                    <a:pt x="683" y="0"/>
                  </a:lnTo>
                  <a:lnTo>
                    <a:pt x="683" y="12440"/>
                  </a:lnTo>
                  <a:lnTo>
                    <a:pt x="5293" y="12440"/>
                  </a:lnTo>
                  <a:lnTo>
                    <a:pt x="5663" y="11852"/>
                  </a:lnTo>
                  <a:lnTo>
                    <a:pt x="6131" y="11328"/>
                  </a:lnTo>
                  <a:lnTo>
                    <a:pt x="6698" y="10869"/>
                  </a:lnTo>
                  <a:lnTo>
                    <a:pt x="7364" y="10475"/>
                  </a:lnTo>
                  <a:lnTo>
                    <a:pt x="8120" y="10158"/>
                  </a:lnTo>
                  <a:lnTo>
                    <a:pt x="8959" y="9932"/>
                  </a:lnTo>
                  <a:lnTo>
                    <a:pt x="9881" y="9796"/>
                  </a:lnTo>
                  <a:lnTo>
                    <a:pt x="10885" y="9751"/>
                  </a:lnTo>
                  <a:lnTo>
                    <a:pt x="12022" y="9797"/>
                  </a:lnTo>
                  <a:lnTo>
                    <a:pt x="13043" y="9933"/>
                  </a:lnTo>
                  <a:lnTo>
                    <a:pt x="13948" y="10161"/>
                  </a:lnTo>
                  <a:lnTo>
                    <a:pt x="14737" y="10479"/>
                  </a:lnTo>
                  <a:lnTo>
                    <a:pt x="15410" y="10889"/>
                  </a:lnTo>
                  <a:lnTo>
                    <a:pt x="15963" y="11383"/>
                  </a:lnTo>
                  <a:lnTo>
                    <a:pt x="16394" y="11957"/>
                  </a:lnTo>
                  <a:lnTo>
                    <a:pt x="16701" y="12610"/>
                  </a:lnTo>
                  <a:lnTo>
                    <a:pt x="16885" y="13342"/>
                  </a:lnTo>
                  <a:lnTo>
                    <a:pt x="16947" y="14154"/>
                  </a:lnTo>
                  <a:lnTo>
                    <a:pt x="16886" y="14960"/>
                  </a:lnTo>
                  <a:lnTo>
                    <a:pt x="16704" y="15700"/>
                  </a:lnTo>
                  <a:lnTo>
                    <a:pt x="16401" y="16374"/>
                  </a:lnTo>
                  <a:lnTo>
                    <a:pt x="15977" y="16981"/>
                  </a:lnTo>
                  <a:lnTo>
                    <a:pt x="15432" y="17522"/>
                  </a:lnTo>
                  <a:lnTo>
                    <a:pt x="14765" y="17980"/>
                  </a:lnTo>
                  <a:lnTo>
                    <a:pt x="13977" y="18336"/>
                  </a:lnTo>
                  <a:lnTo>
                    <a:pt x="13067" y="18590"/>
                  </a:lnTo>
                  <a:lnTo>
                    <a:pt x="12037" y="18742"/>
                  </a:lnTo>
                  <a:lnTo>
                    <a:pt x="10885" y="18793"/>
                  </a:lnTo>
                  <a:lnTo>
                    <a:pt x="9719" y="18742"/>
                  </a:lnTo>
                  <a:lnTo>
                    <a:pt x="8655" y="18590"/>
                  </a:lnTo>
                  <a:lnTo>
                    <a:pt x="7692" y="18336"/>
                  </a:lnTo>
                  <a:lnTo>
                    <a:pt x="6830" y="17980"/>
                  </a:lnTo>
                  <a:lnTo>
                    <a:pt x="6091" y="17538"/>
                  </a:lnTo>
                  <a:lnTo>
                    <a:pt x="5496" y="17024"/>
                  </a:lnTo>
                  <a:lnTo>
                    <a:pt x="5045" y="16438"/>
                  </a:lnTo>
                  <a:lnTo>
                    <a:pt x="4738" y="15779"/>
                  </a:lnTo>
                  <a:lnTo>
                    <a:pt x="0" y="15779"/>
                  </a:lnTo>
                  <a:lnTo>
                    <a:pt x="205" y="16509"/>
                  </a:lnTo>
                  <a:lnTo>
                    <a:pt x="502" y="17197"/>
                  </a:lnTo>
                  <a:lnTo>
                    <a:pt x="891" y="17843"/>
                  </a:lnTo>
                  <a:lnTo>
                    <a:pt x="1373" y="18447"/>
                  </a:lnTo>
                  <a:lnTo>
                    <a:pt x="1947" y="19008"/>
                  </a:lnTo>
                  <a:lnTo>
                    <a:pt x="2614" y="19528"/>
                  </a:lnTo>
                  <a:lnTo>
                    <a:pt x="3372" y="20005"/>
                  </a:lnTo>
                  <a:lnTo>
                    <a:pt x="4215" y="20428"/>
                  </a:lnTo>
                  <a:lnTo>
                    <a:pt x="5132" y="20786"/>
                  </a:lnTo>
                  <a:lnTo>
                    <a:pt x="6124" y="21079"/>
                  </a:lnTo>
                  <a:lnTo>
                    <a:pt x="7192" y="21307"/>
                  </a:lnTo>
                  <a:lnTo>
                    <a:pt x="8334" y="21470"/>
                  </a:lnTo>
                  <a:lnTo>
                    <a:pt x="9551" y="21567"/>
                  </a:lnTo>
                  <a:lnTo>
                    <a:pt x="10843" y="21600"/>
                  </a:lnTo>
                  <a:lnTo>
                    <a:pt x="11979" y="21573"/>
                  </a:lnTo>
                  <a:lnTo>
                    <a:pt x="13055" y="21492"/>
                  </a:lnTo>
                  <a:lnTo>
                    <a:pt x="14071" y="21356"/>
                  </a:lnTo>
                  <a:lnTo>
                    <a:pt x="15026" y="21167"/>
                  </a:lnTo>
                  <a:lnTo>
                    <a:pt x="15921" y="20923"/>
                  </a:lnTo>
                  <a:lnTo>
                    <a:pt x="16755" y="20625"/>
                  </a:lnTo>
                  <a:lnTo>
                    <a:pt x="17672" y="20206"/>
                  </a:lnTo>
                  <a:lnTo>
                    <a:pt x="18493" y="19729"/>
                  </a:lnTo>
                  <a:lnTo>
                    <a:pt x="19219" y="19194"/>
                  </a:lnTo>
                  <a:lnTo>
                    <a:pt x="19849" y="18602"/>
                  </a:lnTo>
                  <a:lnTo>
                    <a:pt x="20383" y="17951"/>
                  </a:lnTo>
                  <a:lnTo>
                    <a:pt x="20821" y="17252"/>
                  </a:lnTo>
                  <a:lnTo>
                    <a:pt x="21162" y="16514"/>
                  </a:lnTo>
                  <a:lnTo>
                    <a:pt x="21405" y="15737"/>
                  </a:lnTo>
                  <a:lnTo>
                    <a:pt x="21551" y="14920"/>
                  </a:lnTo>
                  <a:lnTo>
                    <a:pt x="21600" y="14065"/>
                  </a:lnTo>
                  <a:lnTo>
                    <a:pt x="21562" y="13351"/>
                  </a:lnTo>
                  <a:lnTo>
                    <a:pt x="21446" y="12652"/>
                  </a:lnTo>
                  <a:lnTo>
                    <a:pt x="21254" y="11966"/>
                  </a:lnTo>
                  <a:lnTo>
                    <a:pt x="20985" y="11295"/>
                  </a:lnTo>
                  <a:lnTo>
                    <a:pt x="20639" y="10638"/>
                  </a:lnTo>
                  <a:lnTo>
                    <a:pt x="20204" y="10010"/>
                  </a:lnTo>
                  <a:lnTo>
                    <a:pt x="19666" y="9427"/>
                  </a:lnTo>
                  <a:lnTo>
                    <a:pt x="19026" y="8890"/>
                  </a:lnTo>
                  <a:lnTo>
                    <a:pt x="18283" y="8397"/>
                  </a:lnTo>
                  <a:lnTo>
                    <a:pt x="17438" y="7949"/>
                  </a:lnTo>
                  <a:lnTo>
                    <a:pt x="16653" y="7624"/>
                  </a:lnTo>
                  <a:lnTo>
                    <a:pt x="15794" y="7358"/>
                  </a:lnTo>
                  <a:lnTo>
                    <a:pt x="14861" y="7151"/>
                  </a:lnTo>
                  <a:lnTo>
                    <a:pt x="13852" y="7003"/>
                  </a:lnTo>
                  <a:lnTo>
                    <a:pt x="12769" y="6914"/>
                  </a:lnTo>
                  <a:lnTo>
                    <a:pt x="11611" y="6885"/>
                  </a:lnTo>
                  <a:lnTo>
                    <a:pt x="10622" y="6920"/>
                  </a:lnTo>
                  <a:lnTo>
                    <a:pt x="9663" y="7025"/>
                  </a:lnTo>
                  <a:lnTo>
                    <a:pt x="8733" y="7201"/>
                  </a:lnTo>
                  <a:lnTo>
                    <a:pt x="7833" y="7446"/>
                  </a:lnTo>
                  <a:lnTo>
                    <a:pt x="7002" y="7744"/>
                  </a:lnTo>
                  <a:lnTo>
                    <a:pt x="6280" y="8074"/>
                  </a:lnTo>
                  <a:lnTo>
                    <a:pt x="5165" y="8835"/>
                  </a:lnTo>
                  <a:lnTo>
                    <a:pt x="5165" y="2955"/>
                  </a:lnTo>
                  <a:lnTo>
                    <a:pt x="19466" y="2955"/>
                  </a:lnTo>
                  <a:lnTo>
                    <a:pt x="19466" y="0"/>
                  </a:lnTo>
                  <a:close/>
                </a:path>
              </a:pathLst>
            </a:custGeom>
            <a:noFill/>
            <a:ln w="1047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25" name="object 2"/>
          <p:cNvSpPr/>
          <p:nvPr/>
        </p:nvSpPr>
        <p:spPr>
          <a:xfrm>
            <a:off x="4824281" y="5977473"/>
            <a:ext cx="62827" cy="1"/>
          </a:xfrm>
          <a:prstGeom prst="line">
            <a:avLst/>
          </a:prstGeom>
          <a:ln w="31412">
            <a:solidFill>
              <a:srgbClr val="1B2C5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6" name="object 3"/>
          <p:cNvSpPr/>
          <p:nvPr/>
        </p:nvSpPr>
        <p:spPr>
          <a:xfrm>
            <a:off x="5010815" y="5977473"/>
            <a:ext cx="232293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7" name="object 4"/>
          <p:cNvSpPr/>
          <p:nvPr/>
        </p:nvSpPr>
        <p:spPr>
          <a:xfrm>
            <a:off x="12045005" y="5977473"/>
            <a:ext cx="552875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8" name="object 5"/>
          <p:cNvSpPr/>
          <p:nvPr/>
        </p:nvSpPr>
        <p:spPr>
          <a:xfrm>
            <a:off x="4824281" y="7585809"/>
            <a:ext cx="62827" cy="1"/>
          </a:xfrm>
          <a:prstGeom prst="line">
            <a:avLst/>
          </a:prstGeom>
          <a:ln w="31412">
            <a:solidFill>
              <a:srgbClr val="1B2C5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9" name="object 6"/>
          <p:cNvSpPr/>
          <p:nvPr/>
        </p:nvSpPr>
        <p:spPr>
          <a:xfrm>
            <a:off x="5010815" y="7585809"/>
            <a:ext cx="232293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0" name="object 7"/>
          <p:cNvSpPr/>
          <p:nvPr/>
        </p:nvSpPr>
        <p:spPr>
          <a:xfrm>
            <a:off x="12045005" y="7585809"/>
            <a:ext cx="552875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1" name="object 8"/>
          <p:cNvSpPr/>
          <p:nvPr/>
        </p:nvSpPr>
        <p:spPr>
          <a:xfrm>
            <a:off x="4824281" y="9395176"/>
            <a:ext cx="62827" cy="1"/>
          </a:xfrm>
          <a:prstGeom prst="line">
            <a:avLst/>
          </a:prstGeom>
          <a:ln w="31412">
            <a:solidFill>
              <a:srgbClr val="1B2C5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2" name="object 9"/>
          <p:cNvSpPr/>
          <p:nvPr/>
        </p:nvSpPr>
        <p:spPr>
          <a:xfrm>
            <a:off x="5010815" y="9395176"/>
            <a:ext cx="232293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3" name="object 10"/>
          <p:cNvSpPr/>
          <p:nvPr/>
        </p:nvSpPr>
        <p:spPr>
          <a:xfrm>
            <a:off x="12045005" y="9395176"/>
            <a:ext cx="552875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1" name="object 17"/>
          <p:cNvSpPr txBox="1">
            <a:spLocks noGrp="1"/>
          </p:cNvSpPr>
          <p:nvPr>
            <p:ph type="title"/>
          </p:nvPr>
        </p:nvSpPr>
        <p:spPr>
          <a:xfrm>
            <a:off x="1090535" y="3700291"/>
            <a:ext cx="7458711" cy="779781"/>
          </a:xfrm>
          <a:prstGeom prst="rect">
            <a:avLst/>
          </a:prstGeom>
        </p:spPr>
        <p:txBody>
          <a:bodyPr/>
          <a:lstStyle/>
          <a:p>
            <a:pPr indent="12700">
              <a:defRPr sz="4900" spc="200"/>
            </a:pPr>
            <a:r>
              <a:rPr lang="zh-CN" altLang="en-US"/>
              <a:t>这是如何运作的？</a:t>
            </a:r>
            <a:endParaRPr spc="-100" dirty="0"/>
          </a:p>
        </p:txBody>
      </p:sp>
      <p:sp>
        <p:nvSpPr>
          <p:cNvPr id="252" name="object 18"/>
          <p:cNvSpPr txBox="1"/>
          <p:nvPr/>
        </p:nvSpPr>
        <p:spPr>
          <a:xfrm>
            <a:off x="803293" y="5710820"/>
            <a:ext cx="3793492" cy="353943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0954" algn="ctr">
              <a:spcBef>
                <a:spcPts val="900"/>
              </a:spcBef>
              <a:defRPr sz="2300" spc="-16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lang="zh-CN" altLang="en-US" b="1" dirty="0"/>
              <a:t>税前扣除</a:t>
            </a:r>
            <a:endParaRPr b="1" spc="-10" dirty="0"/>
          </a:p>
        </p:txBody>
      </p:sp>
      <p:sp>
        <p:nvSpPr>
          <p:cNvPr id="253" name="object 19"/>
          <p:cNvSpPr txBox="1"/>
          <p:nvPr/>
        </p:nvSpPr>
        <p:spPr>
          <a:xfrm>
            <a:off x="803293" y="7326531"/>
            <a:ext cx="3793492" cy="353943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22250" algn="ctr">
              <a:spcBef>
                <a:spcPts val="900"/>
              </a:spcBef>
              <a:defRPr sz="2300" spc="-16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lang="zh-CN" altLang="en-US" b="1" dirty="0"/>
              <a:t>收入豁免</a:t>
            </a:r>
            <a:endParaRPr b="1" spc="-10" dirty="0"/>
          </a:p>
        </p:txBody>
      </p:sp>
      <p:sp>
        <p:nvSpPr>
          <p:cNvPr id="255" name="object 21"/>
          <p:cNvSpPr txBox="1"/>
          <p:nvPr/>
        </p:nvSpPr>
        <p:spPr>
          <a:xfrm>
            <a:off x="6083486" y="4902552"/>
            <a:ext cx="5093337" cy="50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 algn="ctr">
              <a:defRPr sz="3300" spc="-150">
                <a:solidFill>
                  <a:srgbClr val="1B2C5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lang="zh-CN" altLang="en-US" b="1" dirty="0"/>
              <a:t>国内税收法典</a:t>
            </a:r>
            <a:endParaRPr b="1" spc="-55" dirty="0"/>
          </a:p>
        </p:txBody>
      </p:sp>
      <p:sp>
        <p:nvSpPr>
          <p:cNvPr id="256" name="object 22"/>
          <p:cNvSpPr txBox="1"/>
          <p:nvPr/>
        </p:nvSpPr>
        <p:spPr>
          <a:xfrm>
            <a:off x="5487287" y="5720705"/>
            <a:ext cx="6285867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904363">
              <a:lnSpc>
                <a:spcPts val="2100"/>
              </a:lnSpc>
              <a:spcBef>
                <a:spcPts val="100"/>
              </a:spcBef>
              <a:defRPr sz="1600" spc="-146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§</a:t>
            </a:r>
            <a:r>
              <a:rPr spc="-115" dirty="0"/>
              <a:t> </a:t>
            </a:r>
            <a:r>
              <a:rPr spc="-203" dirty="0"/>
              <a:t>125.</a:t>
            </a:r>
            <a:r>
              <a:rPr spc="-111" dirty="0"/>
              <a:t> </a:t>
            </a:r>
            <a:r>
              <a:rPr lang="en-US" spc="-53" dirty="0"/>
              <a:t>Cafeteria</a:t>
            </a:r>
            <a:r>
              <a:rPr lang="en-US" spc="-111" dirty="0"/>
              <a:t> </a:t>
            </a:r>
            <a:r>
              <a:rPr lang="en-US" spc="-8" dirty="0"/>
              <a:t>plans</a:t>
            </a:r>
          </a:p>
          <a:p>
            <a:pPr marL="918844" marR="97789" indent="-812800">
              <a:lnSpc>
                <a:spcPts val="1900"/>
              </a:lnSpc>
              <a:buSzPct val="100000"/>
              <a:buAutoNum type="alphaLcParenBoth"/>
              <a:tabLst>
                <a:tab pos="914400" algn="l"/>
              </a:tabLst>
              <a:defRPr sz="1600" spc="-80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lang="en-US" dirty="0"/>
              <a:t>General</a:t>
            </a:r>
            <a:r>
              <a:rPr lang="en-US" spc="-125" dirty="0"/>
              <a:t> </a:t>
            </a:r>
            <a:r>
              <a:rPr lang="en-US" spc="-75" dirty="0"/>
              <a:t>rule</a:t>
            </a:r>
            <a:r>
              <a:rPr lang="en-US" spc="-125" dirty="0"/>
              <a:t> </a:t>
            </a:r>
            <a:r>
              <a:rPr lang="en-US" spc="-145" dirty="0"/>
              <a:t>Except</a:t>
            </a:r>
            <a:r>
              <a:rPr lang="en-US" spc="-125" dirty="0"/>
              <a:t> </a:t>
            </a:r>
            <a:r>
              <a:rPr lang="en-US" spc="-60" dirty="0"/>
              <a:t>as</a:t>
            </a:r>
            <a:r>
              <a:rPr lang="en-US" spc="-125" dirty="0"/>
              <a:t> </a:t>
            </a:r>
            <a:r>
              <a:rPr lang="en-US" spc="-45" dirty="0"/>
              <a:t>provided</a:t>
            </a:r>
            <a:r>
              <a:rPr lang="en-US" spc="-125" dirty="0"/>
              <a:t> </a:t>
            </a:r>
            <a:r>
              <a:rPr lang="en-US" spc="-65" dirty="0"/>
              <a:t>in</a:t>
            </a:r>
            <a:r>
              <a:rPr lang="en-US" spc="-125" dirty="0"/>
              <a:t> </a:t>
            </a:r>
            <a:r>
              <a:rPr lang="en-US" spc="-10" dirty="0"/>
              <a:t>subsection </a:t>
            </a:r>
          </a:p>
          <a:p>
            <a:pPr marL="918844" marR="97789" indent="-812800">
              <a:lnSpc>
                <a:spcPts val="1900"/>
              </a:lnSpc>
              <a:buSzPct val="100000"/>
              <a:buAutoNum type="alphaLcParenBoth"/>
              <a:tabLst>
                <a:tab pos="914400" algn="l"/>
              </a:tabLst>
              <a:defRPr sz="1600" spc="-80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spc="50" dirty="0"/>
              <a:t>,</a:t>
            </a:r>
            <a:r>
              <a:rPr spc="-135" dirty="0"/>
              <a:t> </a:t>
            </a:r>
            <a:r>
              <a:rPr spc="-40" dirty="0"/>
              <a:t>no</a:t>
            </a:r>
            <a:r>
              <a:rPr spc="-135" dirty="0"/>
              <a:t> </a:t>
            </a:r>
            <a:r>
              <a:rPr spc="-30" dirty="0"/>
              <a:t>amount</a:t>
            </a:r>
            <a:r>
              <a:rPr spc="-130" dirty="0"/>
              <a:t> </a:t>
            </a:r>
            <a:r>
              <a:rPr spc="-70" dirty="0"/>
              <a:t>shall</a:t>
            </a:r>
            <a:r>
              <a:rPr spc="-135" dirty="0"/>
              <a:t> </a:t>
            </a:r>
            <a:r>
              <a:rPr spc="-40" dirty="0"/>
              <a:t>be</a:t>
            </a:r>
            <a:r>
              <a:rPr spc="-135" dirty="0"/>
              <a:t> </a:t>
            </a:r>
            <a:r>
              <a:rPr spc="-55" dirty="0"/>
              <a:t>included</a:t>
            </a:r>
            <a:r>
              <a:rPr spc="-130" dirty="0"/>
              <a:t> </a:t>
            </a:r>
            <a:r>
              <a:rPr spc="-65" dirty="0"/>
              <a:t>in</a:t>
            </a:r>
            <a:r>
              <a:rPr spc="-135" dirty="0"/>
              <a:t> </a:t>
            </a:r>
            <a:r>
              <a:rPr spc="-75" dirty="0"/>
              <a:t>the</a:t>
            </a:r>
            <a:r>
              <a:rPr spc="-130" dirty="0"/>
              <a:t> </a:t>
            </a:r>
            <a:r>
              <a:rPr spc="-75" dirty="0"/>
              <a:t>gross</a:t>
            </a:r>
            <a:r>
              <a:rPr spc="-135" dirty="0"/>
              <a:t> </a:t>
            </a:r>
            <a:r>
              <a:rPr spc="-50" dirty="0"/>
              <a:t>income</a:t>
            </a:r>
            <a:r>
              <a:rPr spc="-135" dirty="0"/>
              <a:t> </a:t>
            </a:r>
            <a:r>
              <a:rPr spc="-70" dirty="0"/>
              <a:t>of</a:t>
            </a:r>
            <a:r>
              <a:rPr spc="-130" dirty="0"/>
              <a:t> </a:t>
            </a:r>
            <a:r>
              <a:rPr spc="-50" dirty="0"/>
              <a:t>a </a:t>
            </a:r>
            <a:r>
              <a:rPr spc="-55" dirty="0"/>
              <a:t>participant</a:t>
            </a:r>
            <a:r>
              <a:rPr spc="-114" dirty="0"/>
              <a:t> </a:t>
            </a:r>
            <a:r>
              <a:rPr spc="-65" dirty="0"/>
              <a:t>in</a:t>
            </a:r>
            <a:r>
              <a:rPr spc="-114" dirty="0"/>
              <a:t> </a:t>
            </a:r>
            <a:r>
              <a:rPr spc="0" dirty="0"/>
              <a:t>a</a:t>
            </a:r>
            <a:r>
              <a:rPr spc="-114" dirty="0"/>
              <a:t> </a:t>
            </a:r>
            <a:r>
              <a:rPr spc="-70" dirty="0"/>
              <a:t>cafeteria</a:t>
            </a:r>
            <a:r>
              <a:rPr spc="-114" dirty="0"/>
              <a:t> </a:t>
            </a:r>
            <a:r>
              <a:rPr spc="-25" dirty="0"/>
              <a:t>plan</a:t>
            </a:r>
            <a:r>
              <a:rPr spc="-114" dirty="0"/>
              <a:t> </a:t>
            </a:r>
            <a:r>
              <a:rPr spc="-85" dirty="0"/>
              <a:t>solely</a:t>
            </a:r>
            <a:r>
              <a:rPr spc="-114" dirty="0"/>
              <a:t> </a:t>
            </a:r>
            <a:r>
              <a:rPr dirty="0"/>
              <a:t>because,</a:t>
            </a:r>
            <a:r>
              <a:rPr spc="-114" dirty="0"/>
              <a:t> </a:t>
            </a:r>
            <a:r>
              <a:rPr spc="-50" dirty="0"/>
              <a:t>under</a:t>
            </a:r>
            <a:r>
              <a:rPr spc="-114" dirty="0"/>
              <a:t> </a:t>
            </a:r>
            <a:r>
              <a:rPr spc="-25" dirty="0"/>
              <a:t>the </a:t>
            </a:r>
            <a:r>
              <a:rPr spc="50" dirty="0"/>
              <a:t>plan,</a:t>
            </a:r>
            <a:r>
              <a:rPr spc="-95" dirty="0"/>
              <a:t> </a:t>
            </a:r>
            <a:r>
              <a:rPr spc="50" dirty="0"/>
              <a:t>the</a:t>
            </a:r>
            <a:r>
              <a:rPr spc="-90" dirty="0"/>
              <a:t> </a:t>
            </a:r>
            <a:r>
              <a:rPr spc="80" dirty="0"/>
              <a:t>participant</a:t>
            </a:r>
            <a:r>
              <a:rPr spc="-95" dirty="0"/>
              <a:t> </a:t>
            </a:r>
            <a:r>
              <a:rPr spc="220" dirty="0"/>
              <a:t>may</a:t>
            </a:r>
            <a:r>
              <a:rPr spc="-90" dirty="0"/>
              <a:t> </a:t>
            </a:r>
            <a:r>
              <a:rPr spc="114" dirty="0"/>
              <a:t>choose</a:t>
            </a:r>
            <a:r>
              <a:rPr spc="-95" dirty="0"/>
              <a:t> </a:t>
            </a:r>
            <a:r>
              <a:rPr spc="209" dirty="0"/>
              <a:t>among</a:t>
            </a:r>
            <a:r>
              <a:rPr spc="-90" dirty="0"/>
              <a:t> </a:t>
            </a:r>
            <a:r>
              <a:rPr spc="50" dirty="0"/>
              <a:t>the</a:t>
            </a:r>
            <a:r>
              <a:rPr spc="-95" dirty="0"/>
              <a:t> </a:t>
            </a:r>
            <a:r>
              <a:rPr spc="80" dirty="0"/>
              <a:t>beneﬁts</a:t>
            </a:r>
            <a:r>
              <a:rPr spc="-90" dirty="0"/>
              <a:t> </a:t>
            </a:r>
            <a:r>
              <a:rPr spc="-25" dirty="0"/>
              <a:t>of </a:t>
            </a:r>
            <a:r>
              <a:rPr dirty="0"/>
              <a:t>the</a:t>
            </a:r>
            <a:r>
              <a:rPr spc="-145" dirty="0"/>
              <a:t> </a:t>
            </a:r>
            <a:r>
              <a:rPr spc="-10" dirty="0"/>
              <a:t>plan.</a:t>
            </a:r>
          </a:p>
        </p:txBody>
      </p:sp>
      <p:sp>
        <p:nvSpPr>
          <p:cNvPr id="257" name="object 23"/>
          <p:cNvSpPr txBox="1"/>
          <p:nvPr/>
        </p:nvSpPr>
        <p:spPr>
          <a:xfrm>
            <a:off x="12946798" y="4902552"/>
            <a:ext cx="6126481" cy="50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3300" spc="-70">
                <a:solidFill>
                  <a:srgbClr val="1B2C5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lang="zh-CN" altLang="en-US"/>
              <a:t>解释</a:t>
            </a:r>
            <a:endParaRPr dirty="0"/>
          </a:p>
        </p:txBody>
      </p:sp>
      <p:sp>
        <p:nvSpPr>
          <p:cNvPr id="258" name="object 24"/>
          <p:cNvSpPr txBox="1"/>
          <p:nvPr/>
        </p:nvSpPr>
        <p:spPr>
          <a:xfrm>
            <a:off x="12868477" y="7399838"/>
            <a:ext cx="6283961" cy="117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 algn="ctr">
              <a:lnSpc>
                <a:spcPct val="100800"/>
              </a:lnSpc>
              <a:defRPr sz="1600" spc="-57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Through</a:t>
            </a:r>
            <a:r>
              <a:rPr spc="-124" dirty="0"/>
              <a:t> </a:t>
            </a:r>
            <a:r>
              <a:rPr spc="-177" dirty="0"/>
              <a:t>§106</a:t>
            </a:r>
            <a:r>
              <a:rPr spc="-124" dirty="0"/>
              <a:t> </a:t>
            </a:r>
            <a:r>
              <a:rPr spc="106" dirty="0"/>
              <a:t>(a)</a:t>
            </a:r>
            <a:r>
              <a:rPr spc="-124" dirty="0"/>
              <a:t> </a:t>
            </a:r>
            <a:r>
              <a:rPr spc="-62" dirty="0"/>
              <a:t>the</a:t>
            </a:r>
            <a:r>
              <a:rPr spc="-124" dirty="0"/>
              <a:t> </a:t>
            </a:r>
            <a:r>
              <a:rPr spc="-17" dirty="0"/>
              <a:t>amount</a:t>
            </a:r>
            <a:r>
              <a:rPr spc="-124" dirty="0"/>
              <a:t> </a:t>
            </a:r>
            <a:r>
              <a:rPr spc="-66" dirty="0"/>
              <a:t>of</a:t>
            </a:r>
            <a:r>
              <a:rPr spc="-124" dirty="0"/>
              <a:t> </a:t>
            </a:r>
            <a:r>
              <a:rPr spc="-62" dirty="0"/>
              <a:t>the</a:t>
            </a:r>
            <a:r>
              <a:rPr spc="-124" dirty="0"/>
              <a:t> </a:t>
            </a:r>
            <a:r>
              <a:rPr spc="-44" dirty="0"/>
              <a:t>deduction</a:t>
            </a:r>
            <a:r>
              <a:rPr spc="-124" dirty="0"/>
              <a:t> </a:t>
            </a:r>
            <a:r>
              <a:rPr spc="-22" dirty="0"/>
              <a:t>or </a:t>
            </a:r>
            <a:r>
              <a:rPr spc="-17" dirty="0"/>
              <a:t>premium</a:t>
            </a:r>
            <a:r>
              <a:rPr spc="-120" dirty="0"/>
              <a:t> </a:t>
            </a:r>
            <a:r>
              <a:rPr spc="-66" dirty="0"/>
              <a:t>of</a:t>
            </a:r>
            <a:r>
              <a:rPr spc="-120" dirty="0"/>
              <a:t> </a:t>
            </a:r>
            <a:r>
              <a:rPr spc="-62" dirty="0"/>
              <a:t>the</a:t>
            </a:r>
            <a:r>
              <a:rPr spc="-120" dirty="0"/>
              <a:t> </a:t>
            </a:r>
            <a:r>
              <a:rPr spc="-44" dirty="0"/>
              <a:t>health</a:t>
            </a:r>
            <a:r>
              <a:rPr spc="-120" dirty="0"/>
              <a:t> </a:t>
            </a:r>
            <a:r>
              <a:rPr spc="-17" dirty="0"/>
              <a:t>plan</a:t>
            </a:r>
            <a:r>
              <a:rPr spc="-115" dirty="0"/>
              <a:t> </a:t>
            </a:r>
            <a:r>
              <a:rPr spc="-35" dirty="0"/>
              <a:t>being</a:t>
            </a:r>
            <a:r>
              <a:rPr spc="-120" dirty="0"/>
              <a:t> </a:t>
            </a:r>
            <a:r>
              <a:rPr spc="-66" dirty="0"/>
              <a:t>offered,</a:t>
            </a:r>
            <a:r>
              <a:rPr spc="-120" dirty="0"/>
              <a:t> </a:t>
            </a:r>
            <a:r>
              <a:rPr spc="-53" dirty="0"/>
              <a:t>in</a:t>
            </a:r>
            <a:r>
              <a:rPr spc="-120" dirty="0"/>
              <a:t> </a:t>
            </a:r>
            <a:r>
              <a:rPr spc="-79" dirty="0"/>
              <a:t>this</a:t>
            </a:r>
            <a:r>
              <a:rPr spc="-120" dirty="0"/>
              <a:t> </a:t>
            </a:r>
            <a:r>
              <a:rPr spc="-26" dirty="0"/>
              <a:t>case </a:t>
            </a:r>
            <a:r>
              <a:rPr spc="-79" dirty="0"/>
              <a:t>Wellness,</a:t>
            </a:r>
            <a:r>
              <a:rPr spc="-120" dirty="0"/>
              <a:t> </a:t>
            </a:r>
            <a:r>
              <a:rPr spc="-106" dirty="0"/>
              <a:t>is</a:t>
            </a:r>
            <a:r>
              <a:rPr spc="-115" dirty="0"/>
              <a:t> </a:t>
            </a:r>
            <a:r>
              <a:rPr spc="-66" dirty="0"/>
              <a:t>excluded</a:t>
            </a:r>
            <a:r>
              <a:rPr spc="-115" dirty="0"/>
              <a:t> </a:t>
            </a:r>
            <a:r>
              <a:rPr spc="-26" dirty="0"/>
              <a:t>from</a:t>
            </a:r>
            <a:r>
              <a:rPr spc="-115" dirty="0"/>
              <a:t> </a:t>
            </a:r>
            <a:r>
              <a:rPr spc="-62" dirty="0"/>
              <a:t>gross</a:t>
            </a:r>
            <a:r>
              <a:rPr spc="-115" dirty="0"/>
              <a:t> </a:t>
            </a:r>
            <a:r>
              <a:rPr spc="-48" dirty="0"/>
              <a:t>income</a:t>
            </a:r>
            <a:r>
              <a:rPr spc="-115" dirty="0"/>
              <a:t> </a:t>
            </a:r>
            <a:r>
              <a:rPr spc="-8" dirty="0"/>
              <a:t>therefore </a:t>
            </a:r>
            <a:r>
              <a:rPr spc="-62" dirty="0"/>
              <a:t>allowing</a:t>
            </a:r>
            <a:r>
              <a:rPr spc="-124" dirty="0"/>
              <a:t> </a:t>
            </a:r>
            <a:r>
              <a:rPr spc="-26" dirty="0"/>
              <a:t>you</a:t>
            </a:r>
            <a:r>
              <a:rPr spc="-120" dirty="0"/>
              <a:t> </a:t>
            </a:r>
            <a:r>
              <a:rPr spc="-62" dirty="0"/>
              <a:t>to</a:t>
            </a:r>
            <a:r>
              <a:rPr spc="-124" dirty="0"/>
              <a:t> </a:t>
            </a:r>
            <a:r>
              <a:rPr spc="-93" dirty="0"/>
              <a:t>lower</a:t>
            </a:r>
            <a:r>
              <a:rPr spc="-120" dirty="0"/>
              <a:t> </a:t>
            </a:r>
            <a:r>
              <a:rPr spc="-35" dirty="0"/>
              <a:t>your</a:t>
            </a:r>
            <a:r>
              <a:rPr spc="-120" dirty="0"/>
              <a:t> </a:t>
            </a:r>
            <a:r>
              <a:rPr spc="-62" dirty="0"/>
              <a:t>taxable</a:t>
            </a:r>
            <a:r>
              <a:rPr spc="-124" dirty="0"/>
              <a:t> </a:t>
            </a:r>
            <a:r>
              <a:rPr spc="-48" dirty="0"/>
              <a:t>income</a:t>
            </a:r>
            <a:r>
              <a:rPr spc="-120" dirty="0"/>
              <a:t> </a:t>
            </a:r>
            <a:r>
              <a:rPr spc="-22" dirty="0"/>
              <a:t>and</a:t>
            </a:r>
            <a:r>
              <a:rPr spc="444" dirty="0"/>
              <a:t> </a:t>
            </a:r>
            <a:r>
              <a:rPr spc="-71" dirty="0"/>
              <a:t>create</a:t>
            </a:r>
            <a:r>
              <a:rPr spc="-124" dirty="0"/>
              <a:t> </a:t>
            </a:r>
            <a:r>
              <a:rPr spc="-8" dirty="0"/>
              <a:t>savings.</a:t>
            </a:r>
          </a:p>
        </p:txBody>
      </p:sp>
      <p:sp>
        <p:nvSpPr>
          <p:cNvPr id="259" name="object 25"/>
          <p:cNvSpPr txBox="1"/>
          <p:nvPr/>
        </p:nvSpPr>
        <p:spPr>
          <a:xfrm>
            <a:off x="12906485" y="9258839"/>
            <a:ext cx="6207126" cy="117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064" algn="ctr">
              <a:lnSpc>
                <a:spcPct val="100800"/>
              </a:lnSpc>
              <a:defRPr sz="1600" spc="-225">
                <a:latin typeface="Arial Black"/>
                <a:ea typeface="Arial Black"/>
                <a:cs typeface="Arial Black"/>
                <a:sym typeface="Arial Black"/>
              </a:defRPr>
            </a:pPr>
            <a:r>
              <a:t>§213</a:t>
            </a:r>
            <a:r>
              <a:rPr spc="-128"/>
              <a:t> </a:t>
            </a:r>
            <a:r>
              <a:rPr spc="106"/>
              <a:t>(d)</a:t>
            </a:r>
            <a:r>
              <a:rPr spc="-128"/>
              <a:t> </a:t>
            </a:r>
            <a:r>
              <a:rPr spc="-53"/>
              <a:t>provides</a:t>
            </a:r>
            <a:r>
              <a:rPr spc="-128"/>
              <a:t> </a:t>
            </a:r>
            <a:r>
              <a:rPr spc="-57"/>
              <a:t>us</a:t>
            </a:r>
            <a:r>
              <a:rPr spc="-124"/>
              <a:t> </a:t>
            </a:r>
            <a:r>
              <a:rPr spc="-93"/>
              <a:t>with</a:t>
            </a:r>
            <a:r>
              <a:rPr spc="-128"/>
              <a:t> </a:t>
            </a:r>
            <a:r>
              <a:rPr spc="-62"/>
              <a:t>the</a:t>
            </a:r>
            <a:r>
              <a:rPr spc="-128"/>
              <a:t> </a:t>
            </a:r>
            <a:r>
              <a:rPr spc="-62"/>
              <a:t>categories</a:t>
            </a:r>
            <a:r>
              <a:rPr spc="-124"/>
              <a:t> </a:t>
            </a:r>
            <a:r>
              <a:rPr spc="-44"/>
              <a:t>that</a:t>
            </a:r>
            <a:r>
              <a:rPr spc="-128"/>
              <a:t> </a:t>
            </a:r>
            <a:r>
              <a:rPr spc="-22"/>
              <a:t>are </a:t>
            </a:r>
            <a:r>
              <a:rPr spc="-62"/>
              <a:t>eligible</a:t>
            </a:r>
            <a:r>
              <a:rPr spc="-101"/>
              <a:t> </a:t>
            </a:r>
            <a:r>
              <a:rPr spc="-62"/>
              <a:t>for</a:t>
            </a:r>
            <a:r>
              <a:rPr spc="-101"/>
              <a:t> </a:t>
            </a:r>
            <a:r>
              <a:rPr spc="-48"/>
              <a:t>reimbursements</a:t>
            </a:r>
            <a:r>
              <a:rPr spc="-101"/>
              <a:t> </a:t>
            </a:r>
            <a:r>
              <a:rPr spc="0"/>
              <a:t>and</a:t>
            </a:r>
            <a:r>
              <a:rPr spc="-101"/>
              <a:t> </a:t>
            </a:r>
            <a:r>
              <a:rPr spc="-79"/>
              <a:t>criteria</a:t>
            </a:r>
            <a:r>
              <a:rPr spc="-97"/>
              <a:t> </a:t>
            </a:r>
            <a:r>
              <a:rPr spc="-62"/>
              <a:t>for</a:t>
            </a:r>
            <a:r>
              <a:rPr spc="-101"/>
              <a:t> </a:t>
            </a:r>
            <a:r>
              <a:rPr spc="-8"/>
              <a:t>total </a:t>
            </a:r>
            <a:r>
              <a:rPr spc="-53"/>
              <a:t>compliance.</a:t>
            </a:r>
            <a:r>
              <a:rPr spc="-115"/>
              <a:t> </a:t>
            </a:r>
            <a:r>
              <a:rPr spc="-106"/>
              <a:t>A</a:t>
            </a:r>
            <a:r>
              <a:rPr spc="-115"/>
              <a:t> </a:t>
            </a:r>
            <a:r>
              <a:rPr spc="-93"/>
              <a:t>wellness</a:t>
            </a:r>
            <a:r>
              <a:rPr spc="-115"/>
              <a:t> </a:t>
            </a:r>
            <a:r>
              <a:rPr spc="-17"/>
              <a:t>plan</a:t>
            </a:r>
            <a:r>
              <a:rPr spc="-115"/>
              <a:t> </a:t>
            </a:r>
            <a:r>
              <a:rPr spc="-75"/>
              <a:t>falls</a:t>
            </a:r>
            <a:r>
              <a:rPr spc="-115"/>
              <a:t> </a:t>
            </a:r>
            <a:r>
              <a:rPr spc="-35"/>
              <a:t>under</a:t>
            </a:r>
            <a:r>
              <a:rPr spc="-115"/>
              <a:t> </a:t>
            </a:r>
            <a:r>
              <a:rPr spc="-31"/>
              <a:t>preventative </a:t>
            </a:r>
            <a:r>
              <a:rPr spc="-71"/>
              <a:t>care,</a:t>
            </a:r>
            <a:r>
              <a:rPr spc="-124"/>
              <a:t> </a:t>
            </a:r>
            <a:r>
              <a:rPr spc="-79"/>
              <a:t>which</a:t>
            </a:r>
            <a:r>
              <a:rPr spc="-120"/>
              <a:t> </a:t>
            </a:r>
            <a:r>
              <a:rPr spc="-106"/>
              <a:t>is</a:t>
            </a:r>
            <a:r>
              <a:rPr spc="-124"/>
              <a:t> </a:t>
            </a:r>
            <a:r>
              <a:rPr spc="-79"/>
              <a:t>within</a:t>
            </a:r>
            <a:r>
              <a:rPr spc="-120"/>
              <a:t> </a:t>
            </a:r>
            <a:r>
              <a:rPr spc="-62"/>
              <a:t>the</a:t>
            </a:r>
            <a:r>
              <a:rPr spc="-124"/>
              <a:t> </a:t>
            </a:r>
            <a:r>
              <a:rPr spc="-62"/>
              <a:t>categories</a:t>
            </a:r>
            <a:r>
              <a:rPr spc="-120"/>
              <a:t> </a:t>
            </a:r>
            <a:r>
              <a:rPr spc="-8"/>
              <a:t>mentioned.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AAB48A6-0C75-B454-2654-F69AC40C8F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81" y="615009"/>
            <a:ext cx="4656838" cy="1909638"/>
          </a:xfrm>
          <a:prstGeom prst="rect">
            <a:avLst/>
          </a:prstGeom>
        </p:spPr>
      </p:pic>
      <p:sp>
        <p:nvSpPr>
          <p:cNvPr id="4" name="object 19">
            <a:extLst>
              <a:ext uri="{FF2B5EF4-FFF2-40B4-BE49-F238E27FC236}">
                <a16:creationId xmlns:a16="http://schemas.microsoft.com/office/drawing/2014/main" id="{25891A3C-985E-7EAE-6518-01987BE1D007}"/>
              </a:ext>
            </a:extLst>
          </p:cNvPr>
          <p:cNvSpPr txBox="1"/>
          <p:nvPr/>
        </p:nvSpPr>
        <p:spPr>
          <a:xfrm>
            <a:off x="786610" y="9218204"/>
            <a:ext cx="3793492" cy="353943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22250" algn="ctr">
              <a:spcBef>
                <a:spcPts val="900"/>
              </a:spcBef>
              <a:defRPr sz="2300" spc="-16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lang="zh-CN" altLang="en-US" b="1" dirty="0"/>
              <a:t>法律合规</a:t>
            </a:r>
            <a:endParaRPr b="1" spc="-10" dirty="0"/>
          </a:p>
        </p:txBody>
      </p:sp>
      <p:sp>
        <p:nvSpPr>
          <p:cNvPr id="5" name="object 23">
            <a:extLst>
              <a:ext uri="{FF2B5EF4-FFF2-40B4-BE49-F238E27FC236}">
                <a16:creationId xmlns:a16="http://schemas.microsoft.com/office/drawing/2014/main" id="{AA6D266C-CF46-53B3-55E3-4444F495A647}"/>
              </a:ext>
            </a:extLst>
          </p:cNvPr>
          <p:cNvSpPr txBox="1"/>
          <p:nvPr/>
        </p:nvSpPr>
        <p:spPr>
          <a:xfrm>
            <a:off x="12663656" y="5847751"/>
            <a:ext cx="6126481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2500"/>
              </a:spcBef>
              <a:defRPr sz="1600" spc="-93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Section</a:t>
            </a:r>
            <a:r>
              <a:rPr spc="-120" dirty="0"/>
              <a:t> </a:t>
            </a:r>
            <a:r>
              <a:rPr spc="-208" dirty="0"/>
              <a:t>§125</a:t>
            </a:r>
            <a:r>
              <a:rPr spc="-120" dirty="0"/>
              <a:t> </a:t>
            </a:r>
            <a:r>
              <a:rPr spc="-84" dirty="0"/>
              <a:t>allows</a:t>
            </a:r>
            <a:r>
              <a:rPr spc="-120" dirty="0"/>
              <a:t> </a:t>
            </a:r>
            <a:r>
              <a:rPr spc="-62" dirty="0"/>
              <a:t>for</a:t>
            </a:r>
            <a:r>
              <a:rPr spc="-120" dirty="0"/>
              <a:t> </a:t>
            </a:r>
            <a:r>
              <a:rPr spc="-44" dirty="0"/>
              <a:t>pre</a:t>
            </a:r>
            <a:r>
              <a:rPr spc="-120" dirty="0"/>
              <a:t> </a:t>
            </a:r>
            <a:r>
              <a:rPr dirty="0"/>
              <a:t>tax</a:t>
            </a:r>
            <a:r>
              <a:rPr spc="-120" dirty="0"/>
              <a:t> </a:t>
            </a:r>
            <a:r>
              <a:rPr spc="-53" dirty="0"/>
              <a:t>deductions</a:t>
            </a:r>
            <a:r>
              <a:rPr spc="-120" dirty="0"/>
              <a:t> </a:t>
            </a:r>
            <a:r>
              <a:rPr spc="-26" dirty="0"/>
              <a:t>on</a:t>
            </a:r>
            <a:r>
              <a:rPr spc="-120" dirty="0"/>
              <a:t> </a:t>
            </a:r>
            <a:r>
              <a:rPr spc="-8" dirty="0"/>
              <a:t>certain</a:t>
            </a:r>
          </a:p>
          <a:p>
            <a:pPr algn="ctr">
              <a:defRPr sz="1600" spc="84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health</a:t>
            </a:r>
            <a:r>
              <a:rPr spc="-79" dirty="0"/>
              <a:t> </a:t>
            </a:r>
            <a:r>
              <a:rPr spc="57" dirty="0"/>
              <a:t>related</a:t>
            </a:r>
            <a:r>
              <a:rPr spc="-79" dirty="0"/>
              <a:t> </a:t>
            </a:r>
            <a:r>
              <a:rPr spc="75" dirty="0"/>
              <a:t>beneﬁts</a:t>
            </a:r>
          </a:p>
        </p:txBody>
      </p:sp>
      <p:sp>
        <p:nvSpPr>
          <p:cNvPr id="7" name="object 22">
            <a:extLst>
              <a:ext uri="{FF2B5EF4-FFF2-40B4-BE49-F238E27FC236}">
                <a16:creationId xmlns:a16="http://schemas.microsoft.com/office/drawing/2014/main" id="{F50BC314-B015-59AE-76DA-DF45D1047627}"/>
              </a:ext>
            </a:extLst>
          </p:cNvPr>
          <p:cNvSpPr txBox="1"/>
          <p:nvPr/>
        </p:nvSpPr>
        <p:spPr>
          <a:xfrm>
            <a:off x="5487220" y="7326531"/>
            <a:ext cx="6285867" cy="123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1300"/>
              </a:spcBef>
              <a:defRPr sz="1600" spc="-17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§106</a:t>
            </a:r>
          </a:p>
          <a:p>
            <a:pPr marR="5080" indent="12064" algn="ctr">
              <a:lnSpc>
                <a:spcPct val="100800"/>
              </a:lnSpc>
              <a:defRPr sz="1600" spc="-53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Contributions</a:t>
            </a:r>
            <a:r>
              <a:rPr spc="-115" dirty="0"/>
              <a:t> </a:t>
            </a:r>
            <a:r>
              <a:rPr spc="0" dirty="0"/>
              <a:t>by</a:t>
            </a:r>
            <a:r>
              <a:rPr spc="-111" dirty="0"/>
              <a:t> </a:t>
            </a:r>
            <a:r>
              <a:rPr spc="-35" dirty="0"/>
              <a:t>employer</a:t>
            </a:r>
            <a:r>
              <a:rPr spc="-111" dirty="0"/>
              <a:t> </a:t>
            </a:r>
            <a:r>
              <a:rPr spc="-62" dirty="0"/>
              <a:t>to</a:t>
            </a:r>
            <a:r>
              <a:rPr spc="-111" dirty="0"/>
              <a:t> </a:t>
            </a:r>
            <a:r>
              <a:rPr spc="-62" dirty="0"/>
              <a:t>accident</a:t>
            </a:r>
            <a:r>
              <a:rPr spc="-111" dirty="0"/>
              <a:t> </a:t>
            </a:r>
            <a:r>
              <a:rPr spc="0" dirty="0"/>
              <a:t>and</a:t>
            </a:r>
            <a:r>
              <a:rPr spc="-111" dirty="0"/>
              <a:t> </a:t>
            </a:r>
            <a:r>
              <a:rPr spc="-8" dirty="0"/>
              <a:t>health </a:t>
            </a:r>
            <a:r>
              <a:rPr spc="-35" dirty="0"/>
              <a:t>plans</a:t>
            </a:r>
            <a:r>
              <a:rPr spc="-120" dirty="0"/>
              <a:t> </a:t>
            </a:r>
            <a:r>
              <a:rPr spc="106" dirty="0"/>
              <a:t>(a)</a:t>
            </a:r>
            <a:r>
              <a:rPr spc="-115" dirty="0"/>
              <a:t> </a:t>
            </a:r>
            <a:r>
              <a:rPr spc="-66" dirty="0"/>
              <a:t>General</a:t>
            </a:r>
            <a:r>
              <a:rPr spc="-115" dirty="0"/>
              <a:t> </a:t>
            </a:r>
            <a:r>
              <a:rPr spc="-66" dirty="0"/>
              <a:t>rule</a:t>
            </a:r>
            <a:r>
              <a:rPr spc="-115" dirty="0"/>
              <a:t> </a:t>
            </a:r>
            <a:r>
              <a:rPr spc="-128" dirty="0"/>
              <a:t>Except</a:t>
            </a:r>
            <a:r>
              <a:rPr spc="-115" dirty="0"/>
              <a:t> </a:t>
            </a:r>
            <a:r>
              <a:rPr spc="-48" dirty="0"/>
              <a:t>as</a:t>
            </a:r>
            <a:r>
              <a:rPr spc="-120" dirty="0"/>
              <a:t> </a:t>
            </a:r>
            <a:r>
              <a:rPr spc="-84" dirty="0"/>
              <a:t>otherwise</a:t>
            </a:r>
            <a:r>
              <a:rPr spc="-115" dirty="0"/>
              <a:t> </a:t>
            </a:r>
            <a:r>
              <a:rPr spc="-8" dirty="0"/>
              <a:t>provided </a:t>
            </a:r>
            <a:r>
              <a:rPr dirty="0"/>
              <a:t>in</a:t>
            </a:r>
            <a:r>
              <a:rPr spc="-124" dirty="0"/>
              <a:t> </a:t>
            </a:r>
            <a:r>
              <a:rPr spc="-79" dirty="0"/>
              <a:t>this</a:t>
            </a:r>
            <a:r>
              <a:rPr spc="-120" dirty="0"/>
              <a:t> </a:t>
            </a:r>
            <a:r>
              <a:rPr spc="-84" dirty="0"/>
              <a:t>section,</a:t>
            </a:r>
            <a:r>
              <a:rPr spc="-124" dirty="0"/>
              <a:t> </a:t>
            </a:r>
            <a:r>
              <a:rPr spc="-62" dirty="0"/>
              <a:t>gross</a:t>
            </a:r>
            <a:r>
              <a:rPr spc="-120" dirty="0"/>
              <a:t> </a:t>
            </a:r>
            <a:r>
              <a:rPr spc="-48" dirty="0"/>
              <a:t>income</a:t>
            </a:r>
            <a:r>
              <a:rPr spc="-120" dirty="0"/>
              <a:t> </a:t>
            </a:r>
            <a:r>
              <a:rPr spc="-66" dirty="0"/>
              <a:t>of</a:t>
            </a:r>
            <a:r>
              <a:rPr spc="-124" dirty="0"/>
              <a:t> </a:t>
            </a:r>
            <a:r>
              <a:rPr spc="0" dirty="0"/>
              <a:t>an</a:t>
            </a:r>
            <a:r>
              <a:rPr spc="-120" dirty="0"/>
              <a:t> </a:t>
            </a:r>
            <a:r>
              <a:rPr spc="-39" dirty="0"/>
              <a:t>employee</a:t>
            </a:r>
            <a:r>
              <a:rPr spc="-124" dirty="0"/>
              <a:t> </a:t>
            </a:r>
            <a:r>
              <a:rPr spc="-57" dirty="0"/>
              <a:t>does</a:t>
            </a:r>
            <a:r>
              <a:rPr spc="-120" dirty="0"/>
              <a:t> </a:t>
            </a:r>
            <a:r>
              <a:rPr spc="-22" dirty="0"/>
              <a:t>not </a:t>
            </a:r>
            <a:r>
              <a:rPr dirty="0"/>
              <a:t>include</a:t>
            </a:r>
            <a:r>
              <a:rPr spc="-115" dirty="0"/>
              <a:t> </a:t>
            </a:r>
            <a:r>
              <a:rPr spc="0" dirty="0"/>
              <a:t>employer-provided</a:t>
            </a:r>
            <a:r>
              <a:rPr spc="-115" dirty="0"/>
              <a:t> </a:t>
            </a:r>
            <a:r>
              <a:rPr spc="-48" dirty="0"/>
              <a:t>coverage</a:t>
            </a:r>
            <a:r>
              <a:rPr spc="-111" dirty="0"/>
              <a:t> </a:t>
            </a:r>
            <a:r>
              <a:rPr spc="-35" dirty="0"/>
              <a:t>under</a:t>
            </a:r>
            <a:r>
              <a:rPr spc="-115" dirty="0"/>
              <a:t> </a:t>
            </a:r>
            <a:r>
              <a:rPr spc="-22" dirty="0"/>
              <a:t>an </a:t>
            </a:r>
            <a:r>
              <a:rPr spc="-62" dirty="0"/>
              <a:t>accident</a:t>
            </a:r>
            <a:r>
              <a:rPr spc="-124" dirty="0"/>
              <a:t> </a:t>
            </a:r>
            <a:r>
              <a:rPr dirty="0"/>
              <a:t>or</a:t>
            </a:r>
            <a:r>
              <a:rPr spc="-124" dirty="0"/>
              <a:t> </a:t>
            </a:r>
            <a:r>
              <a:rPr spc="-44" dirty="0"/>
              <a:t>health</a:t>
            </a:r>
            <a:r>
              <a:rPr spc="-120" dirty="0"/>
              <a:t> </a:t>
            </a:r>
            <a:r>
              <a:rPr spc="-8" dirty="0"/>
              <a:t>plan.</a:t>
            </a:r>
          </a:p>
        </p:txBody>
      </p:sp>
      <p:sp>
        <p:nvSpPr>
          <p:cNvPr id="8" name="object 22">
            <a:extLst>
              <a:ext uri="{FF2B5EF4-FFF2-40B4-BE49-F238E27FC236}">
                <a16:creationId xmlns:a16="http://schemas.microsoft.com/office/drawing/2014/main" id="{70A9576C-460B-6CB0-6D3C-8E285702F0A2}"/>
              </a:ext>
            </a:extLst>
          </p:cNvPr>
          <p:cNvSpPr txBox="1"/>
          <p:nvPr/>
        </p:nvSpPr>
        <p:spPr>
          <a:xfrm>
            <a:off x="5403138" y="8955760"/>
            <a:ext cx="6285867" cy="123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1100"/>
              </a:spcBef>
              <a:defRPr sz="1600" spc="-225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lang="en-US" dirty="0"/>
              <a:t>§213</a:t>
            </a:r>
            <a:r>
              <a:rPr lang="en-US" spc="-142" dirty="0"/>
              <a:t> </a:t>
            </a:r>
            <a:r>
              <a:rPr lang="en-US" spc="-44" dirty="0"/>
              <a:t>d</a:t>
            </a:r>
          </a:p>
          <a:p>
            <a:pPr marL="1280794" marR="894714" lvl="1" indent="-379094" algn="ctr">
              <a:lnSpc>
                <a:spcPct val="100800"/>
              </a:lnSpc>
              <a:buSzPct val="94444"/>
              <a:buAutoNum type="alphaLcParenBoth"/>
              <a:tabLst>
                <a:tab pos="1270000" algn="l"/>
              </a:tabLst>
              <a:defRPr sz="1600" spc="-62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for</a:t>
            </a:r>
            <a:r>
              <a:rPr spc="-146" dirty="0"/>
              <a:t> </a:t>
            </a:r>
            <a:r>
              <a:rPr dirty="0"/>
              <a:t>the</a:t>
            </a:r>
            <a:r>
              <a:rPr spc="-142" dirty="0"/>
              <a:t> </a:t>
            </a:r>
            <a:r>
              <a:rPr spc="-53" dirty="0"/>
              <a:t>diagnosis,</a:t>
            </a:r>
            <a:r>
              <a:rPr spc="-142" dirty="0"/>
              <a:t> </a:t>
            </a:r>
            <a:r>
              <a:rPr spc="-71" dirty="0"/>
              <a:t>cure,</a:t>
            </a:r>
            <a:r>
              <a:rPr spc="-142" dirty="0"/>
              <a:t> </a:t>
            </a:r>
            <a:r>
              <a:rPr spc="-8" dirty="0"/>
              <a:t>mitigation, </a:t>
            </a:r>
            <a:r>
              <a:rPr dirty="0"/>
              <a:t>treatment,</a:t>
            </a:r>
            <a:r>
              <a:rPr spc="-111" dirty="0"/>
              <a:t> </a:t>
            </a:r>
            <a:r>
              <a:rPr spc="-53" dirty="0"/>
              <a:t>or</a:t>
            </a:r>
            <a:r>
              <a:rPr spc="-111" dirty="0"/>
              <a:t> </a:t>
            </a:r>
            <a:r>
              <a:rPr spc="-53" dirty="0"/>
              <a:t>prevention</a:t>
            </a:r>
            <a:r>
              <a:rPr spc="-106" dirty="0"/>
              <a:t> </a:t>
            </a:r>
            <a:r>
              <a:rPr spc="-66" dirty="0"/>
              <a:t>of</a:t>
            </a:r>
            <a:r>
              <a:rPr spc="-111" dirty="0"/>
              <a:t> </a:t>
            </a:r>
            <a:r>
              <a:rPr spc="-71" dirty="0"/>
              <a:t>disease,</a:t>
            </a:r>
            <a:r>
              <a:rPr spc="-111" dirty="0"/>
              <a:t> </a:t>
            </a:r>
            <a:r>
              <a:rPr spc="-22" dirty="0"/>
              <a:t>or </a:t>
            </a:r>
            <a:r>
              <a:rPr dirty="0"/>
              <a:t>for</a:t>
            </a:r>
            <a:r>
              <a:rPr spc="-120" dirty="0"/>
              <a:t> </a:t>
            </a:r>
            <a:r>
              <a:rPr dirty="0"/>
              <a:t>the</a:t>
            </a:r>
            <a:r>
              <a:rPr spc="-120" dirty="0"/>
              <a:t> </a:t>
            </a:r>
            <a:r>
              <a:rPr spc="-48" dirty="0"/>
              <a:t>purpose</a:t>
            </a:r>
            <a:r>
              <a:rPr spc="-120" dirty="0"/>
              <a:t> </a:t>
            </a:r>
            <a:r>
              <a:rPr spc="-66" dirty="0"/>
              <a:t>of</a:t>
            </a:r>
            <a:r>
              <a:rPr spc="-115" dirty="0"/>
              <a:t> </a:t>
            </a:r>
            <a:r>
              <a:rPr spc="-57" dirty="0"/>
              <a:t>affecting</a:t>
            </a:r>
            <a:r>
              <a:rPr spc="-120" dirty="0"/>
              <a:t> </a:t>
            </a:r>
            <a:r>
              <a:rPr spc="-22" dirty="0"/>
              <a:t>any </a:t>
            </a:r>
            <a:r>
              <a:rPr spc="-71" dirty="0"/>
              <a:t>structure</a:t>
            </a:r>
            <a:r>
              <a:rPr spc="-120" dirty="0"/>
              <a:t> </a:t>
            </a:r>
            <a:r>
              <a:rPr spc="-53" dirty="0"/>
              <a:t>or</a:t>
            </a:r>
            <a:r>
              <a:rPr spc="-115" dirty="0"/>
              <a:t> </a:t>
            </a:r>
            <a:r>
              <a:rPr dirty="0"/>
              <a:t>function</a:t>
            </a:r>
            <a:r>
              <a:rPr spc="-115" dirty="0"/>
              <a:t> </a:t>
            </a:r>
            <a:r>
              <a:rPr spc="-66" dirty="0"/>
              <a:t>of</a:t>
            </a:r>
            <a:r>
              <a:rPr spc="-120" dirty="0"/>
              <a:t> </a:t>
            </a:r>
            <a:r>
              <a:rPr dirty="0"/>
              <a:t>the</a:t>
            </a:r>
            <a:r>
              <a:rPr spc="-115" dirty="0"/>
              <a:t> </a:t>
            </a:r>
            <a:r>
              <a:rPr spc="-8" dirty="0"/>
              <a:t>body.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object 2"/>
          <p:cNvGrpSpPr/>
          <p:nvPr/>
        </p:nvGrpSpPr>
        <p:grpSpPr>
          <a:xfrm>
            <a:off x="-3" y="-2"/>
            <a:ext cx="20104102" cy="3082631"/>
            <a:chOff x="-1" y="-1"/>
            <a:chExt cx="20104101" cy="3082630"/>
          </a:xfrm>
        </p:grpSpPr>
        <p:pic>
          <p:nvPicPr>
            <p:cNvPr id="261" name="object 3" descr="object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-1"/>
              <a:ext cx="20104101" cy="30826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75" name="object 8"/>
            <p:cNvGrpSpPr/>
            <p:nvPr/>
          </p:nvGrpSpPr>
          <p:grpSpPr>
            <a:xfrm>
              <a:off x="17449626" y="735088"/>
              <a:ext cx="1004808" cy="1429915"/>
              <a:chOff x="0" y="0"/>
              <a:chExt cx="1004806" cy="1429913"/>
            </a:xfrm>
          </p:grpSpPr>
          <p:sp>
            <p:nvSpPr>
              <p:cNvPr id="273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74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78" name="object 9"/>
            <p:cNvGrpSpPr/>
            <p:nvPr/>
          </p:nvGrpSpPr>
          <p:grpSpPr>
            <a:xfrm>
              <a:off x="18715282" y="725421"/>
              <a:ext cx="977751" cy="1443455"/>
              <a:chOff x="0" y="0"/>
              <a:chExt cx="977750" cy="1443454"/>
            </a:xfrm>
          </p:grpSpPr>
          <p:sp>
            <p:nvSpPr>
              <p:cNvPr id="276" name="Shape"/>
              <p:cNvSpPr/>
              <p:nvPr/>
            </p:nvSpPr>
            <p:spPr>
              <a:xfrm>
                <a:off x="0" y="0"/>
                <a:ext cx="977751" cy="1443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136" y="5407"/>
                    </a:moveTo>
                    <a:lnTo>
                      <a:pt x="20618" y="5407"/>
                    </a:lnTo>
                    <a:lnTo>
                      <a:pt x="20420" y="4666"/>
                    </a:lnTo>
                    <a:lnTo>
                      <a:pt x="20108" y="3965"/>
                    </a:lnTo>
                    <a:lnTo>
                      <a:pt x="19684" y="3304"/>
                    </a:lnTo>
                    <a:lnTo>
                      <a:pt x="19148" y="2683"/>
                    </a:lnTo>
                    <a:lnTo>
                      <a:pt x="18499" y="2102"/>
                    </a:lnTo>
                    <a:lnTo>
                      <a:pt x="17737" y="1562"/>
                    </a:lnTo>
                    <a:lnTo>
                      <a:pt x="16998" y="1147"/>
                    </a:lnTo>
                    <a:lnTo>
                      <a:pt x="16186" y="797"/>
                    </a:lnTo>
                    <a:lnTo>
                      <a:pt x="15299" y="510"/>
                    </a:lnTo>
                    <a:lnTo>
                      <a:pt x="14339" y="287"/>
                    </a:lnTo>
                    <a:lnTo>
                      <a:pt x="13304" y="127"/>
                    </a:lnTo>
                    <a:lnTo>
                      <a:pt x="12196" y="32"/>
                    </a:lnTo>
                    <a:lnTo>
                      <a:pt x="11013" y="0"/>
                    </a:lnTo>
                    <a:lnTo>
                      <a:pt x="10035" y="22"/>
                    </a:lnTo>
                    <a:lnTo>
                      <a:pt x="9102" y="87"/>
                    </a:lnTo>
                    <a:lnTo>
                      <a:pt x="8214" y="197"/>
                    </a:lnTo>
                    <a:lnTo>
                      <a:pt x="7372" y="350"/>
                    </a:lnTo>
                    <a:lnTo>
                      <a:pt x="6576" y="547"/>
                    </a:lnTo>
                    <a:lnTo>
                      <a:pt x="5120" y="1071"/>
                    </a:lnTo>
                    <a:lnTo>
                      <a:pt x="3845" y="1771"/>
                    </a:lnTo>
                    <a:lnTo>
                      <a:pt x="2753" y="2646"/>
                    </a:lnTo>
                    <a:lnTo>
                      <a:pt x="2275" y="3149"/>
                    </a:lnTo>
                    <a:lnTo>
                      <a:pt x="1843" y="3695"/>
                    </a:lnTo>
                    <a:lnTo>
                      <a:pt x="1456" y="4286"/>
                    </a:lnTo>
                    <a:lnTo>
                      <a:pt x="1115" y="4920"/>
                    </a:lnTo>
                    <a:lnTo>
                      <a:pt x="819" y="5598"/>
                    </a:lnTo>
                    <a:lnTo>
                      <a:pt x="569" y="6319"/>
                    </a:lnTo>
                    <a:lnTo>
                      <a:pt x="364" y="7085"/>
                    </a:lnTo>
                    <a:lnTo>
                      <a:pt x="205" y="7894"/>
                    </a:lnTo>
                    <a:lnTo>
                      <a:pt x="91" y="8746"/>
                    </a:lnTo>
                    <a:lnTo>
                      <a:pt x="23" y="9643"/>
                    </a:lnTo>
                    <a:lnTo>
                      <a:pt x="0" y="10583"/>
                    </a:lnTo>
                    <a:lnTo>
                      <a:pt x="16" y="11461"/>
                    </a:lnTo>
                    <a:lnTo>
                      <a:pt x="63" y="12302"/>
                    </a:lnTo>
                    <a:lnTo>
                      <a:pt x="141" y="13106"/>
                    </a:lnTo>
                    <a:lnTo>
                      <a:pt x="251" y="13872"/>
                    </a:lnTo>
                    <a:lnTo>
                      <a:pt x="392" y="14602"/>
                    </a:lnTo>
                    <a:lnTo>
                      <a:pt x="564" y="15295"/>
                    </a:lnTo>
                    <a:lnTo>
                      <a:pt x="768" y="15950"/>
                    </a:lnTo>
                    <a:lnTo>
                      <a:pt x="1003" y="16569"/>
                    </a:lnTo>
                    <a:lnTo>
                      <a:pt x="1379" y="17339"/>
                    </a:lnTo>
                    <a:lnTo>
                      <a:pt x="1838" y="18048"/>
                    </a:lnTo>
                    <a:lnTo>
                      <a:pt x="2380" y="18698"/>
                    </a:lnTo>
                    <a:lnTo>
                      <a:pt x="3005" y="19287"/>
                    </a:lnTo>
                    <a:lnTo>
                      <a:pt x="3713" y="19816"/>
                    </a:lnTo>
                    <a:lnTo>
                      <a:pt x="4504" y="20284"/>
                    </a:lnTo>
                    <a:lnTo>
                      <a:pt x="5256" y="20633"/>
                    </a:lnTo>
                    <a:lnTo>
                      <a:pt x="6086" y="20929"/>
                    </a:lnTo>
                    <a:lnTo>
                      <a:pt x="6993" y="21171"/>
                    </a:lnTo>
                    <a:lnTo>
                      <a:pt x="7978" y="21358"/>
                    </a:lnTo>
                    <a:lnTo>
                      <a:pt x="9040" y="21493"/>
                    </a:lnTo>
                    <a:lnTo>
                      <a:pt x="10180" y="21573"/>
                    </a:lnTo>
                    <a:lnTo>
                      <a:pt x="11398" y="21600"/>
                    </a:lnTo>
                    <a:lnTo>
                      <a:pt x="12658" y="21564"/>
                    </a:lnTo>
                    <a:lnTo>
                      <a:pt x="13843" y="21454"/>
                    </a:lnTo>
                    <a:lnTo>
                      <a:pt x="14953" y="21272"/>
                    </a:lnTo>
                    <a:lnTo>
                      <a:pt x="15987" y="21017"/>
                    </a:lnTo>
                    <a:lnTo>
                      <a:pt x="16947" y="20689"/>
                    </a:lnTo>
                    <a:lnTo>
                      <a:pt x="17824" y="20298"/>
                    </a:lnTo>
                    <a:lnTo>
                      <a:pt x="18610" y="19852"/>
                    </a:lnTo>
                    <a:lnTo>
                      <a:pt x="19306" y="19351"/>
                    </a:lnTo>
                    <a:lnTo>
                      <a:pt x="19911" y="18797"/>
                    </a:lnTo>
                    <a:lnTo>
                      <a:pt x="20426" y="18188"/>
                    </a:lnTo>
                    <a:lnTo>
                      <a:pt x="20849" y="17535"/>
                    </a:lnTo>
                    <a:lnTo>
                      <a:pt x="21177" y="16846"/>
                    </a:lnTo>
                    <a:lnTo>
                      <a:pt x="21412" y="16124"/>
                    </a:lnTo>
                    <a:lnTo>
                      <a:pt x="21553" y="15366"/>
                    </a:lnTo>
                    <a:lnTo>
                      <a:pt x="21600" y="14574"/>
                    </a:lnTo>
                    <a:lnTo>
                      <a:pt x="21551" y="13730"/>
                    </a:lnTo>
                    <a:lnTo>
                      <a:pt x="21405" y="12936"/>
                    </a:lnTo>
                    <a:lnTo>
                      <a:pt x="21162" y="12190"/>
                    </a:lnTo>
                    <a:lnTo>
                      <a:pt x="20821" y="11492"/>
                    </a:lnTo>
                    <a:lnTo>
                      <a:pt x="20383" y="10843"/>
                    </a:lnTo>
                    <a:lnTo>
                      <a:pt x="19716" y="10109"/>
                    </a:lnTo>
                    <a:lnTo>
                      <a:pt x="18932" y="9466"/>
                    </a:lnTo>
                    <a:lnTo>
                      <a:pt x="18030" y="8916"/>
                    </a:lnTo>
                    <a:lnTo>
                      <a:pt x="17011" y="8458"/>
                    </a:lnTo>
                    <a:lnTo>
                      <a:pt x="16122" y="8161"/>
                    </a:lnTo>
                    <a:lnTo>
                      <a:pt x="15181" y="7930"/>
                    </a:lnTo>
                    <a:lnTo>
                      <a:pt x="14186" y="7766"/>
                    </a:lnTo>
                    <a:lnTo>
                      <a:pt x="13138" y="7667"/>
                    </a:lnTo>
                    <a:lnTo>
                      <a:pt x="12038" y="7634"/>
                    </a:lnTo>
                    <a:lnTo>
                      <a:pt x="10821" y="7677"/>
                    </a:lnTo>
                    <a:lnTo>
                      <a:pt x="9647" y="7807"/>
                    </a:lnTo>
                    <a:lnTo>
                      <a:pt x="8516" y="8024"/>
                    </a:lnTo>
                    <a:lnTo>
                      <a:pt x="7428" y="8328"/>
                    </a:lnTo>
                    <a:lnTo>
                      <a:pt x="6424" y="8711"/>
                    </a:lnTo>
                    <a:lnTo>
                      <a:pt x="5549" y="9166"/>
                    </a:lnTo>
                    <a:lnTo>
                      <a:pt x="4802" y="9694"/>
                    </a:lnTo>
                    <a:lnTo>
                      <a:pt x="4183" y="10294"/>
                    </a:lnTo>
                    <a:lnTo>
                      <a:pt x="4229" y="9318"/>
                    </a:lnTo>
                    <a:lnTo>
                      <a:pt x="4325" y="8414"/>
                    </a:lnTo>
                    <a:lnTo>
                      <a:pt x="4469" y="7581"/>
                    </a:lnTo>
                    <a:lnTo>
                      <a:pt x="4664" y="6821"/>
                    </a:lnTo>
                    <a:lnTo>
                      <a:pt x="4907" y="6132"/>
                    </a:lnTo>
                    <a:lnTo>
                      <a:pt x="5200" y="5515"/>
                    </a:lnTo>
                    <a:lnTo>
                      <a:pt x="5542" y="4970"/>
                    </a:lnTo>
                    <a:lnTo>
                      <a:pt x="6536" y="3962"/>
                    </a:lnTo>
                    <a:lnTo>
                      <a:pt x="7233" y="3525"/>
                    </a:lnTo>
                    <a:lnTo>
                      <a:pt x="8025" y="3184"/>
                    </a:lnTo>
                    <a:lnTo>
                      <a:pt x="8912" y="2941"/>
                    </a:lnTo>
                    <a:lnTo>
                      <a:pt x="9894" y="2796"/>
                    </a:lnTo>
                    <a:lnTo>
                      <a:pt x="10971" y="2747"/>
                    </a:lnTo>
                    <a:lnTo>
                      <a:pt x="12019" y="2789"/>
                    </a:lnTo>
                    <a:lnTo>
                      <a:pt x="12945" y="2913"/>
                    </a:lnTo>
                    <a:lnTo>
                      <a:pt x="13748" y="3121"/>
                    </a:lnTo>
                    <a:lnTo>
                      <a:pt x="14999" y="3786"/>
                    </a:lnTo>
                    <a:lnTo>
                      <a:pt x="15853" y="4784"/>
                    </a:lnTo>
                    <a:lnTo>
                      <a:pt x="16136" y="5407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77" name="Shape"/>
              <p:cNvSpPr/>
              <p:nvPr/>
            </p:nvSpPr>
            <p:spPr>
              <a:xfrm>
                <a:off x="214495" y="695643"/>
                <a:ext cx="552634" cy="5642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026" y="0"/>
                    </a:moveTo>
                    <a:lnTo>
                      <a:pt x="13010" y="120"/>
                    </a:lnTo>
                    <a:lnTo>
                      <a:pt x="14791" y="479"/>
                    </a:lnTo>
                    <a:lnTo>
                      <a:pt x="16369" y="1078"/>
                    </a:lnTo>
                    <a:lnTo>
                      <a:pt x="17745" y="1917"/>
                    </a:lnTo>
                    <a:lnTo>
                      <a:pt x="18919" y="2995"/>
                    </a:lnTo>
                    <a:lnTo>
                      <a:pt x="19884" y="4275"/>
                    </a:lnTo>
                    <a:lnTo>
                      <a:pt x="20634" y="5718"/>
                    </a:lnTo>
                    <a:lnTo>
                      <a:pt x="21171" y="7323"/>
                    </a:lnTo>
                    <a:lnTo>
                      <a:pt x="21493" y="9091"/>
                    </a:lnTo>
                    <a:lnTo>
                      <a:pt x="21600" y="11022"/>
                    </a:lnTo>
                    <a:lnTo>
                      <a:pt x="21428" y="13306"/>
                    </a:lnTo>
                    <a:lnTo>
                      <a:pt x="20911" y="15349"/>
                    </a:lnTo>
                    <a:lnTo>
                      <a:pt x="20049" y="17152"/>
                    </a:lnTo>
                    <a:lnTo>
                      <a:pt x="18844" y="18715"/>
                    </a:lnTo>
                    <a:lnTo>
                      <a:pt x="17340" y="19977"/>
                    </a:lnTo>
                    <a:lnTo>
                      <a:pt x="15586" y="20879"/>
                    </a:lnTo>
                    <a:lnTo>
                      <a:pt x="13582" y="21420"/>
                    </a:lnTo>
                    <a:lnTo>
                      <a:pt x="11328" y="21600"/>
                    </a:lnTo>
                    <a:lnTo>
                      <a:pt x="9278" y="21480"/>
                    </a:lnTo>
                    <a:lnTo>
                      <a:pt x="7419" y="21121"/>
                    </a:lnTo>
                    <a:lnTo>
                      <a:pt x="5750" y="20521"/>
                    </a:lnTo>
                    <a:lnTo>
                      <a:pt x="4271" y="19682"/>
                    </a:lnTo>
                    <a:lnTo>
                      <a:pt x="2983" y="18604"/>
                    </a:lnTo>
                    <a:lnTo>
                      <a:pt x="1909" y="17321"/>
                    </a:lnTo>
                    <a:lnTo>
                      <a:pt x="1073" y="15870"/>
                    </a:lnTo>
                    <a:lnTo>
                      <a:pt x="477" y="14250"/>
                    </a:lnTo>
                    <a:lnTo>
                      <a:pt x="119" y="12461"/>
                    </a:lnTo>
                    <a:lnTo>
                      <a:pt x="0" y="10504"/>
                    </a:lnTo>
                    <a:lnTo>
                      <a:pt x="128" y="8559"/>
                    </a:lnTo>
                    <a:lnTo>
                      <a:pt x="513" y="6806"/>
                    </a:lnTo>
                    <a:lnTo>
                      <a:pt x="1155" y="5245"/>
                    </a:lnTo>
                    <a:lnTo>
                      <a:pt x="2054" y="3876"/>
                    </a:lnTo>
                    <a:lnTo>
                      <a:pt x="3209" y="2700"/>
                    </a:lnTo>
                    <a:lnTo>
                      <a:pt x="4902" y="1519"/>
                    </a:lnTo>
                    <a:lnTo>
                      <a:pt x="6768" y="675"/>
                    </a:lnTo>
                    <a:lnTo>
                      <a:pt x="8810" y="169"/>
                    </a:lnTo>
                    <a:lnTo>
                      <a:pt x="11026" y="0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pic>
        <p:nvPicPr>
          <p:cNvPr id="280" name="object 10" descr="object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898" y="3813173"/>
            <a:ext cx="9386908" cy="655372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07EA075-2C72-6A24-537C-E7DA62D8A9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81" y="615009"/>
            <a:ext cx="4656838" cy="190963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object 2"/>
          <p:cNvGrpSpPr/>
          <p:nvPr/>
        </p:nvGrpSpPr>
        <p:grpSpPr>
          <a:xfrm>
            <a:off x="17528858" y="703062"/>
            <a:ext cx="2131338" cy="1433792"/>
            <a:chOff x="16974940" y="12148"/>
            <a:chExt cx="2131338" cy="1433790"/>
          </a:xfrm>
        </p:grpSpPr>
        <p:grpSp>
          <p:nvGrpSpPr>
            <p:cNvPr id="295" name="object 5"/>
            <p:cNvGrpSpPr/>
            <p:nvPr/>
          </p:nvGrpSpPr>
          <p:grpSpPr>
            <a:xfrm>
              <a:off x="16974940" y="12148"/>
              <a:ext cx="1004808" cy="1429915"/>
              <a:chOff x="0" y="0"/>
              <a:chExt cx="1004806" cy="1429913"/>
            </a:xfrm>
          </p:grpSpPr>
          <p:sp>
            <p:nvSpPr>
              <p:cNvPr id="293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94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296" name="object 6"/>
            <p:cNvSpPr/>
            <p:nvPr/>
          </p:nvSpPr>
          <p:spPr>
            <a:xfrm>
              <a:off x="18174903" y="43069"/>
              <a:ext cx="931375" cy="1402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886"/>
                  </a:lnTo>
                  <a:lnTo>
                    <a:pt x="16581" y="2886"/>
                  </a:lnTo>
                  <a:lnTo>
                    <a:pt x="3988" y="21600"/>
                  </a:lnTo>
                  <a:lnTo>
                    <a:pt x="9142" y="21600"/>
                  </a:lnTo>
                  <a:lnTo>
                    <a:pt x="21600" y="2529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047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98" name="object 7"/>
          <p:cNvSpPr/>
          <p:nvPr/>
        </p:nvSpPr>
        <p:spPr>
          <a:xfrm>
            <a:off x="4824281" y="4511556"/>
            <a:ext cx="62827" cy="1"/>
          </a:xfrm>
          <a:prstGeom prst="line">
            <a:avLst/>
          </a:prstGeom>
          <a:ln w="31412">
            <a:solidFill>
              <a:srgbClr val="1B2C5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9" name="object 8"/>
          <p:cNvSpPr/>
          <p:nvPr/>
        </p:nvSpPr>
        <p:spPr>
          <a:xfrm>
            <a:off x="5010815" y="4511556"/>
            <a:ext cx="232293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0" name="object 9"/>
          <p:cNvSpPr/>
          <p:nvPr/>
        </p:nvSpPr>
        <p:spPr>
          <a:xfrm>
            <a:off x="4824281" y="8243372"/>
            <a:ext cx="62827" cy="1"/>
          </a:xfrm>
          <a:prstGeom prst="line">
            <a:avLst/>
          </a:prstGeom>
          <a:ln w="31412">
            <a:solidFill>
              <a:srgbClr val="1B2C5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1" name="object 10"/>
          <p:cNvSpPr/>
          <p:nvPr/>
        </p:nvSpPr>
        <p:spPr>
          <a:xfrm>
            <a:off x="5010815" y="8243372"/>
            <a:ext cx="232293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2" name="object 11"/>
          <p:cNvSpPr/>
          <p:nvPr/>
        </p:nvSpPr>
        <p:spPr>
          <a:xfrm>
            <a:off x="12045005" y="8243372"/>
            <a:ext cx="552875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3" name="object 12"/>
          <p:cNvSpPr txBox="1"/>
          <p:nvPr/>
        </p:nvSpPr>
        <p:spPr>
          <a:xfrm>
            <a:off x="803293" y="4244897"/>
            <a:ext cx="3793492" cy="353943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594994">
              <a:spcBef>
                <a:spcPts val="900"/>
              </a:spcBef>
              <a:defRPr sz="2300" spc="-1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 algn="ctr"/>
            <a:r>
              <a:rPr lang="zh-CN" altLang="en-US" b="1" dirty="0"/>
              <a:t>报销</a:t>
            </a:r>
            <a:endParaRPr b="1" dirty="0"/>
          </a:p>
        </p:txBody>
      </p:sp>
      <p:sp>
        <p:nvSpPr>
          <p:cNvPr id="306" name="object 15"/>
          <p:cNvSpPr txBox="1"/>
          <p:nvPr/>
        </p:nvSpPr>
        <p:spPr>
          <a:xfrm>
            <a:off x="5486517" y="4254780"/>
            <a:ext cx="7124066" cy="6694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100"/>
              </a:spcBef>
              <a:tabLst>
                <a:tab pos="6540500" algn="l"/>
                <a:tab pos="7086600" algn="l"/>
              </a:tabLst>
              <a:defRPr sz="1600" spc="-266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§1.105.11</a:t>
            </a:r>
            <a:r>
              <a:rPr spc="-151" dirty="0"/>
              <a:t> </a:t>
            </a:r>
            <a:r>
              <a:rPr spc="-111" dirty="0"/>
              <a:t>SIMRP</a:t>
            </a:r>
            <a:r>
              <a:rPr spc="124" dirty="0"/>
              <a:t> </a:t>
            </a:r>
            <a:r>
              <a:rPr spc="-106" dirty="0"/>
              <a:t>A</a:t>
            </a:r>
            <a:r>
              <a:rPr spc="-151" dirty="0"/>
              <a:t> </a:t>
            </a:r>
            <a:r>
              <a:rPr spc="-106" dirty="0"/>
              <a:t>Self</a:t>
            </a:r>
            <a:r>
              <a:rPr spc="-151" dirty="0"/>
              <a:t> </a:t>
            </a:r>
            <a:r>
              <a:rPr spc="-62" dirty="0"/>
              <a:t>Insured</a:t>
            </a:r>
            <a:r>
              <a:rPr spc="-151" dirty="0"/>
              <a:t> </a:t>
            </a:r>
            <a:r>
              <a:rPr spc="-66" dirty="0"/>
              <a:t>Medical</a:t>
            </a:r>
            <a:r>
              <a:rPr spc="-151" dirty="0"/>
              <a:t> </a:t>
            </a:r>
            <a:r>
              <a:rPr spc="-8" dirty="0"/>
              <a:t>Reimbursement</a:t>
            </a:r>
            <a:r>
              <a:rPr spc="0" dirty="0"/>
              <a:t>	</a:t>
            </a:r>
            <a:r>
              <a:rPr u="sng" spc="0" dirty="0">
                <a:uFill>
                  <a:solidFill>
                    <a:srgbClr val="1B2C5F"/>
                  </a:solidFill>
                </a:uFill>
              </a:rPr>
              <a:t>	</a:t>
            </a:r>
          </a:p>
          <a:p>
            <a:pPr marR="992505" indent="163195" algn="ctr">
              <a:lnSpc>
                <a:spcPct val="100800"/>
              </a:lnSpc>
              <a:defRPr sz="1600" spc="84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Plan</a:t>
            </a:r>
            <a:r>
              <a:rPr spc="-79" dirty="0"/>
              <a:t> </a:t>
            </a:r>
            <a:r>
              <a:rPr spc="75" dirty="0"/>
              <a:t>is</a:t>
            </a:r>
            <a:r>
              <a:rPr spc="-75" dirty="0"/>
              <a:t> </a:t>
            </a:r>
            <a:r>
              <a:rPr spc="225" dirty="0"/>
              <a:t>a</a:t>
            </a:r>
            <a:r>
              <a:rPr spc="-75" dirty="0"/>
              <a:t> </a:t>
            </a:r>
            <a:r>
              <a:rPr spc="111" dirty="0"/>
              <a:t>separate</a:t>
            </a:r>
            <a:r>
              <a:rPr spc="-79" dirty="0"/>
              <a:t> </a:t>
            </a:r>
            <a:r>
              <a:rPr spc="0" dirty="0"/>
              <a:t>written</a:t>
            </a:r>
            <a:r>
              <a:rPr spc="-75" dirty="0"/>
              <a:t> </a:t>
            </a:r>
            <a:r>
              <a:rPr spc="120" dirty="0"/>
              <a:t>plan</a:t>
            </a:r>
            <a:r>
              <a:rPr spc="-75" dirty="0"/>
              <a:t> </a:t>
            </a:r>
            <a:r>
              <a:rPr spc="0" dirty="0"/>
              <a:t>for</a:t>
            </a:r>
            <a:r>
              <a:rPr spc="-75" dirty="0"/>
              <a:t> </a:t>
            </a:r>
            <a:r>
              <a:rPr spc="57" dirty="0"/>
              <a:t>the</a:t>
            </a:r>
            <a:r>
              <a:rPr spc="-79" dirty="0"/>
              <a:t> </a:t>
            </a:r>
            <a:r>
              <a:rPr spc="62" dirty="0"/>
              <a:t>beneﬁt</a:t>
            </a:r>
            <a:r>
              <a:rPr spc="-75" dirty="0"/>
              <a:t> </a:t>
            </a:r>
            <a:r>
              <a:rPr spc="44" dirty="0"/>
              <a:t>of</a:t>
            </a:r>
            <a:r>
              <a:rPr spc="-75" dirty="0"/>
              <a:t> </a:t>
            </a:r>
            <a:r>
              <a:rPr spc="35" dirty="0"/>
              <a:t>the </a:t>
            </a:r>
            <a:r>
              <a:rPr spc="-48" dirty="0"/>
              <a:t>employees</a:t>
            </a:r>
            <a:r>
              <a:rPr spc="-97" dirty="0"/>
              <a:t> </a:t>
            </a:r>
            <a:r>
              <a:rPr spc="-79" dirty="0"/>
              <a:t>which</a:t>
            </a:r>
            <a:r>
              <a:rPr spc="-97" dirty="0"/>
              <a:t> </a:t>
            </a:r>
            <a:r>
              <a:rPr spc="-53" dirty="0"/>
              <a:t>provides</a:t>
            </a:r>
            <a:r>
              <a:rPr spc="-97" dirty="0"/>
              <a:t> </a:t>
            </a:r>
            <a:r>
              <a:rPr spc="-62" dirty="0"/>
              <a:t>for</a:t>
            </a:r>
            <a:r>
              <a:rPr spc="-93" dirty="0"/>
              <a:t> </a:t>
            </a:r>
            <a:r>
              <a:rPr spc="-48" dirty="0"/>
              <a:t>reimbursement</a:t>
            </a:r>
            <a:r>
              <a:rPr spc="-97" dirty="0"/>
              <a:t> </a:t>
            </a:r>
            <a:r>
              <a:rPr spc="-22" dirty="0"/>
              <a:t>of </a:t>
            </a:r>
            <a:r>
              <a:rPr spc="-39" dirty="0"/>
              <a:t>employee</a:t>
            </a:r>
            <a:r>
              <a:rPr spc="-115" dirty="0"/>
              <a:t> </a:t>
            </a:r>
            <a:r>
              <a:rPr spc="-35" dirty="0"/>
              <a:t>medical</a:t>
            </a:r>
            <a:r>
              <a:rPr spc="-115" dirty="0"/>
              <a:t> </a:t>
            </a:r>
            <a:r>
              <a:rPr spc="-79" dirty="0"/>
              <a:t>expenses</a:t>
            </a:r>
            <a:r>
              <a:rPr spc="-115" dirty="0"/>
              <a:t> </a:t>
            </a:r>
            <a:r>
              <a:rPr spc="-66" dirty="0"/>
              <a:t>referred</a:t>
            </a:r>
            <a:r>
              <a:rPr spc="-115" dirty="0"/>
              <a:t> </a:t>
            </a:r>
            <a:r>
              <a:rPr spc="-62" dirty="0"/>
              <a:t>to</a:t>
            </a:r>
            <a:r>
              <a:rPr spc="-115" dirty="0"/>
              <a:t> </a:t>
            </a:r>
            <a:r>
              <a:rPr spc="-53" dirty="0"/>
              <a:t>in</a:t>
            </a:r>
            <a:r>
              <a:rPr spc="-115" dirty="0"/>
              <a:t> </a:t>
            </a:r>
            <a:r>
              <a:rPr spc="-8" dirty="0"/>
              <a:t>section 105(b).</a:t>
            </a:r>
          </a:p>
          <a:p>
            <a:pPr marR="829310" algn="ctr">
              <a:defRPr sz="1600" spc="-146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§ </a:t>
            </a:r>
            <a:r>
              <a:rPr spc="-8" dirty="0"/>
              <a:t>105(b)</a:t>
            </a:r>
          </a:p>
          <a:p>
            <a:pPr marR="829310" algn="ctr">
              <a:defRPr sz="1600" spc="-39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Amounts</a:t>
            </a:r>
            <a:r>
              <a:rPr spc="-115" dirty="0"/>
              <a:t> </a:t>
            </a:r>
            <a:r>
              <a:rPr spc="-62" dirty="0"/>
              <a:t>received</a:t>
            </a:r>
            <a:r>
              <a:rPr spc="-111" dirty="0"/>
              <a:t> </a:t>
            </a:r>
            <a:r>
              <a:rPr spc="-35" dirty="0"/>
              <a:t>under</a:t>
            </a:r>
            <a:r>
              <a:rPr spc="-111" dirty="0"/>
              <a:t> </a:t>
            </a:r>
            <a:r>
              <a:rPr spc="-62" dirty="0"/>
              <a:t>accident</a:t>
            </a:r>
            <a:r>
              <a:rPr spc="-111" dirty="0"/>
              <a:t> </a:t>
            </a:r>
            <a:r>
              <a:rPr spc="0" dirty="0"/>
              <a:t>and</a:t>
            </a:r>
            <a:r>
              <a:rPr spc="-111" dirty="0"/>
              <a:t> </a:t>
            </a:r>
            <a:r>
              <a:rPr spc="-44" dirty="0"/>
              <a:t>health</a:t>
            </a:r>
            <a:r>
              <a:rPr spc="-111" dirty="0"/>
              <a:t> </a:t>
            </a:r>
            <a:r>
              <a:rPr spc="-8" dirty="0"/>
              <a:t>plans</a:t>
            </a:r>
          </a:p>
          <a:p>
            <a:pPr marR="1002030" indent="788035">
              <a:lnSpc>
                <a:spcPct val="100800"/>
              </a:lnSpc>
              <a:defRPr sz="1600" spc="106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(b)</a:t>
            </a:r>
            <a:r>
              <a:rPr spc="-120" dirty="0"/>
              <a:t> </a:t>
            </a:r>
            <a:r>
              <a:rPr spc="-39" dirty="0"/>
              <a:t>Amounts</a:t>
            </a:r>
            <a:r>
              <a:rPr spc="-120" dirty="0"/>
              <a:t> </a:t>
            </a:r>
            <a:r>
              <a:rPr spc="-48" dirty="0"/>
              <a:t>expended</a:t>
            </a:r>
            <a:r>
              <a:rPr spc="-120" dirty="0"/>
              <a:t> </a:t>
            </a:r>
            <a:r>
              <a:rPr spc="-62" dirty="0"/>
              <a:t>for</a:t>
            </a:r>
            <a:r>
              <a:rPr spc="-120" dirty="0"/>
              <a:t> </a:t>
            </a:r>
            <a:r>
              <a:rPr spc="-35" dirty="0"/>
              <a:t>medical</a:t>
            </a:r>
            <a:r>
              <a:rPr spc="-115" dirty="0"/>
              <a:t> </a:t>
            </a:r>
            <a:r>
              <a:rPr spc="-17" dirty="0"/>
              <a:t>care </a:t>
            </a:r>
            <a:r>
              <a:rPr spc="-128" dirty="0"/>
              <a:t>Except</a:t>
            </a:r>
            <a:r>
              <a:rPr spc="-124" dirty="0"/>
              <a:t> </a:t>
            </a:r>
            <a:r>
              <a:rPr spc="-53" dirty="0"/>
              <a:t>in</a:t>
            </a:r>
            <a:r>
              <a:rPr spc="-124" dirty="0"/>
              <a:t> </a:t>
            </a:r>
            <a:r>
              <a:rPr spc="-62" dirty="0"/>
              <a:t>the</a:t>
            </a:r>
            <a:r>
              <a:rPr spc="-124" dirty="0"/>
              <a:t> </a:t>
            </a:r>
            <a:r>
              <a:rPr spc="-71" dirty="0"/>
              <a:t>case</a:t>
            </a:r>
            <a:r>
              <a:rPr spc="-124" dirty="0"/>
              <a:t> </a:t>
            </a:r>
            <a:r>
              <a:rPr spc="-66" dirty="0"/>
              <a:t>of</a:t>
            </a:r>
            <a:r>
              <a:rPr spc="-124" dirty="0"/>
              <a:t> </a:t>
            </a:r>
            <a:r>
              <a:rPr spc="-26" dirty="0"/>
              <a:t>amounts</a:t>
            </a:r>
            <a:r>
              <a:rPr spc="-120" dirty="0"/>
              <a:t> </a:t>
            </a:r>
            <a:r>
              <a:rPr spc="-48" dirty="0"/>
              <a:t>attributable</a:t>
            </a:r>
            <a:r>
              <a:rPr spc="-124" dirty="0"/>
              <a:t> </a:t>
            </a:r>
            <a:r>
              <a:rPr spc="-62" dirty="0"/>
              <a:t>to</a:t>
            </a:r>
            <a:r>
              <a:rPr spc="-124" dirty="0"/>
              <a:t> </a:t>
            </a:r>
            <a:r>
              <a:rPr spc="26" dirty="0"/>
              <a:t>(and </a:t>
            </a:r>
            <a:r>
              <a:rPr spc="-53" dirty="0"/>
              <a:t>not</a:t>
            </a:r>
            <a:r>
              <a:rPr spc="-120" dirty="0"/>
              <a:t> </a:t>
            </a:r>
            <a:r>
              <a:rPr spc="-53" dirty="0"/>
              <a:t>in</a:t>
            </a:r>
            <a:r>
              <a:rPr spc="-115" dirty="0"/>
              <a:t> </a:t>
            </a:r>
            <a:r>
              <a:rPr spc="-120" dirty="0"/>
              <a:t>excess</a:t>
            </a:r>
            <a:r>
              <a:rPr spc="-115" dirty="0"/>
              <a:t> </a:t>
            </a:r>
            <a:r>
              <a:rPr spc="0" dirty="0"/>
              <a:t>of)</a:t>
            </a:r>
            <a:r>
              <a:rPr spc="-115" dirty="0"/>
              <a:t> </a:t>
            </a:r>
            <a:r>
              <a:rPr spc="-53" dirty="0"/>
              <a:t>deductions</a:t>
            </a:r>
            <a:r>
              <a:rPr spc="-115" dirty="0"/>
              <a:t> </a:t>
            </a:r>
            <a:r>
              <a:rPr spc="-66" dirty="0"/>
              <a:t>allowed</a:t>
            </a:r>
            <a:r>
              <a:rPr spc="-120" dirty="0"/>
              <a:t> </a:t>
            </a:r>
            <a:r>
              <a:rPr spc="-35" dirty="0"/>
              <a:t>under</a:t>
            </a:r>
            <a:r>
              <a:rPr spc="-115" dirty="0"/>
              <a:t> </a:t>
            </a:r>
            <a:r>
              <a:rPr spc="-39" dirty="0"/>
              <a:t>section</a:t>
            </a:r>
          </a:p>
          <a:p>
            <a:pPr marL="634" marR="1083944" indent="253365" algn="ctr">
              <a:lnSpc>
                <a:spcPct val="100800"/>
              </a:lnSpc>
              <a:defRPr sz="1600" spc="-248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213</a:t>
            </a:r>
            <a:r>
              <a:rPr spc="-120" dirty="0"/>
              <a:t> </a:t>
            </a:r>
            <a:r>
              <a:rPr spc="-31" dirty="0"/>
              <a:t>(relating</a:t>
            </a:r>
            <a:r>
              <a:rPr spc="-115" dirty="0"/>
              <a:t> </a:t>
            </a:r>
            <a:r>
              <a:rPr spc="-62" dirty="0"/>
              <a:t>to</a:t>
            </a:r>
            <a:r>
              <a:rPr spc="-120" dirty="0"/>
              <a:t> </a:t>
            </a:r>
            <a:r>
              <a:rPr spc="-53" dirty="0"/>
              <a:t>medical,</a:t>
            </a:r>
            <a:r>
              <a:rPr spc="-115" dirty="0"/>
              <a:t> </a:t>
            </a:r>
            <a:r>
              <a:rPr spc="-106" dirty="0"/>
              <a:t>etc.,</a:t>
            </a:r>
            <a:r>
              <a:rPr spc="-115" dirty="0"/>
              <a:t> </a:t>
            </a:r>
            <a:r>
              <a:rPr spc="-57" dirty="0"/>
              <a:t>expenses)</a:t>
            </a:r>
            <a:r>
              <a:rPr spc="-120" dirty="0"/>
              <a:t> </a:t>
            </a:r>
            <a:r>
              <a:rPr spc="-62" dirty="0"/>
              <a:t>for</a:t>
            </a:r>
            <a:r>
              <a:rPr spc="-115" dirty="0"/>
              <a:t> </a:t>
            </a:r>
            <a:r>
              <a:rPr spc="-22" dirty="0"/>
              <a:t>any </a:t>
            </a:r>
            <a:r>
              <a:rPr spc="-57" dirty="0"/>
              <a:t>prior</a:t>
            </a:r>
            <a:r>
              <a:rPr spc="-124" dirty="0"/>
              <a:t> </a:t>
            </a:r>
            <a:r>
              <a:rPr spc="-62" dirty="0"/>
              <a:t>taxable</a:t>
            </a:r>
            <a:r>
              <a:rPr spc="-120" dirty="0"/>
              <a:t> </a:t>
            </a:r>
            <a:r>
              <a:rPr spc="-57" dirty="0"/>
              <a:t>year,</a:t>
            </a:r>
            <a:r>
              <a:rPr spc="-120" dirty="0"/>
              <a:t> </a:t>
            </a:r>
            <a:r>
              <a:rPr spc="-62" dirty="0"/>
              <a:t>gross</a:t>
            </a:r>
            <a:r>
              <a:rPr spc="-120" dirty="0"/>
              <a:t> </a:t>
            </a:r>
            <a:r>
              <a:rPr spc="-48" dirty="0"/>
              <a:t>income</a:t>
            </a:r>
            <a:r>
              <a:rPr spc="-120" dirty="0"/>
              <a:t> </a:t>
            </a:r>
            <a:r>
              <a:rPr spc="-57" dirty="0"/>
              <a:t>does</a:t>
            </a:r>
            <a:r>
              <a:rPr spc="-124" dirty="0"/>
              <a:t> </a:t>
            </a:r>
            <a:r>
              <a:rPr spc="-53" dirty="0"/>
              <a:t>not</a:t>
            </a:r>
            <a:r>
              <a:rPr spc="-120" dirty="0"/>
              <a:t> </a:t>
            </a:r>
            <a:r>
              <a:rPr spc="-22" dirty="0"/>
              <a:t>include </a:t>
            </a:r>
            <a:r>
              <a:rPr spc="-26" dirty="0"/>
              <a:t>amounts</a:t>
            </a:r>
            <a:r>
              <a:rPr spc="-133" dirty="0"/>
              <a:t> </a:t>
            </a:r>
            <a:r>
              <a:rPr spc="-66" dirty="0"/>
              <a:t>referred</a:t>
            </a:r>
            <a:r>
              <a:rPr spc="-128" dirty="0"/>
              <a:t> </a:t>
            </a:r>
            <a:r>
              <a:rPr spc="-62" dirty="0"/>
              <a:t>to</a:t>
            </a:r>
            <a:r>
              <a:rPr spc="-128" dirty="0"/>
              <a:t> </a:t>
            </a:r>
            <a:r>
              <a:rPr spc="-53" dirty="0"/>
              <a:t>in</a:t>
            </a:r>
            <a:r>
              <a:rPr spc="-128" dirty="0"/>
              <a:t> </a:t>
            </a:r>
            <a:r>
              <a:rPr spc="-8" dirty="0"/>
              <a:t>subsection.</a:t>
            </a:r>
          </a:p>
          <a:p>
            <a:pPr marR="829310" algn="ctr">
              <a:spcBef>
                <a:spcPts val="1800"/>
              </a:spcBef>
              <a:defRPr sz="1600" spc="-8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§104(a)(3)</a:t>
            </a:r>
          </a:p>
          <a:p>
            <a:pPr marR="1141730" indent="367029" algn="ctr">
              <a:lnSpc>
                <a:spcPct val="100800"/>
              </a:lnSpc>
              <a:defRPr sz="1600" spc="-39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Amounts</a:t>
            </a:r>
            <a:r>
              <a:rPr spc="-115" dirty="0"/>
              <a:t> </a:t>
            </a:r>
            <a:r>
              <a:rPr spc="-62" dirty="0"/>
              <a:t>received</a:t>
            </a:r>
            <a:r>
              <a:rPr spc="-115" dirty="0"/>
              <a:t> </a:t>
            </a:r>
            <a:r>
              <a:rPr spc="-35" dirty="0"/>
              <a:t>through</a:t>
            </a:r>
            <a:r>
              <a:rPr spc="-115" dirty="0"/>
              <a:t> </a:t>
            </a:r>
            <a:r>
              <a:rPr spc="-62" dirty="0"/>
              <a:t>accident</a:t>
            </a:r>
            <a:r>
              <a:rPr spc="-115" dirty="0"/>
              <a:t> </a:t>
            </a:r>
            <a:r>
              <a:rPr spc="-53" dirty="0"/>
              <a:t>or</a:t>
            </a:r>
            <a:r>
              <a:rPr spc="-115" dirty="0"/>
              <a:t> </a:t>
            </a:r>
            <a:r>
              <a:rPr spc="-8" dirty="0"/>
              <a:t>health </a:t>
            </a:r>
            <a:r>
              <a:rPr spc="-53" dirty="0"/>
              <a:t>insurance</a:t>
            </a:r>
            <a:r>
              <a:rPr spc="-106" dirty="0"/>
              <a:t> </a:t>
            </a:r>
            <a:r>
              <a:rPr spc="0" dirty="0"/>
              <a:t>(or</a:t>
            </a:r>
            <a:r>
              <a:rPr spc="-101" dirty="0"/>
              <a:t> </a:t>
            </a:r>
            <a:r>
              <a:rPr spc="-35" dirty="0"/>
              <a:t>through</a:t>
            </a:r>
            <a:r>
              <a:rPr spc="-106" dirty="0"/>
              <a:t> </a:t>
            </a:r>
            <a:r>
              <a:rPr spc="0" dirty="0"/>
              <a:t>an</a:t>
            </a:r>
            <a:r>
              <a:rPr spc="-101" dirty="0"/>
              <a:t> </a:t>
            </a:r>
            <a:r>
              <a:rPr spc="-26" dirty="0"/>
              <a:t>arrangement</a:t>
            </a:r>
            <a:r>
              <a:rPr spc="-106" dirty="0"/>
              <a:t> </a:t>
            </a:r>
            <a:r>
              <a:rPr spc="-8" dirty="0"/>
              <a:t>having </a:t>
            </a:r>
            <a:r>
              <a:rPr spc="-62" dirty="0"/>
              <a:t>the</a:t>
            </a:r>
            <a:r>
              <a:rPr spc="-120" dirty="0"/>
              <a:t> </a:t>
            </a:r>
            <a:r>
              <a:rPr spc="-84" dirty="0"/>
              <a:t>effect</a:t>
            </a:r>
            <a:r>
              <a:rPr spc="-115" dirty="0"/>
              <a:t> </a:t>
            </a:r>
            <a:r>
              <a:rPr spc="-66" dirty="0"/>
              <a:t>of</a:t>
            </a:r>
            <a:r>
              <a:rPr spc="-120" dirty="0"/>
              <a:t> </a:t>
            </a:r>
            <a:r>
              <a:rPr spc="-62" dirty="0"/>
              <a:t>accident</a:t>
            </a:r>
            <a:r>
              <a:rPr spc="-115" dirty="0"/>
              <a:t> </a:t>
            </a:r>
            <a:r>
              <a:rPr spc="-53" dirty="0"/>
              <a:t>or</a:t>
            </a:r>
            <a:r>
              <a:rPr spc="-115" dirty="0"/>
              <a:t> </a:t>
            </a:r>
            <a:r>
              <a:rPr spc="-44" dirty="0"/>
              <a:t>health</a:t>
            </a:r>
            <a:r>
              <a:rPr spc="-120" dirty="0"/>
              <a:t> </a:t>
            </a:r>
            <a:r>
              <a:rPr spc="-35" dirty="0"/>
              <a:t>insurance)</a:t>
            </a:r>
            <a:r>
              <a:rPr spc="-115" dirty="0"/>
              <a:t> </a:t>
            </a:r>
            <a:r>
              <a:rPr spc="-22" dirty="0"/>
              <a:t>for </a:t>
            </a:r>
            <a:r>
              <a:rPr spc="-44" dirty="0"/>
              <a:t>personal</a:t>
            </a:r>
            <a:r>
              <a:rPr spc="-115" dirty="0"/>
              <a:t> </a:t>
            </a:r>
            <a:r>
              <a:rPr spc="-71" dirty="0"/>
              <a:t>injuries</a:t>
            </a:r>
            <a:r>
              <a:rPr spc="-115" dirty="0"/>
              <a:t> </a:t>
            </a:r>
            <a:r>
              <a:rPr spc="-53" dirty="0"/>
              <a:t>or</a:t>
            </a:r>
            <a:r>
              <a:rPr spc="-115" dirty="0"/>
              <a:t> </a:t>
            </a:r>
            <a:r>
              <a:rPr spc="-93" dirty="0"/>
              <a:t>sickness</a:t>
            </a:r>
            <a:r>
              <a:rPr spc="-115" dirty="0"/>
              <a:t> </a:t>
            </a:r>
            <a:r>
              <a:rPr spc="-22" dirty="0"/>
              <a:t>(other</a:t>
            </a:r>
            <a:r>
              <a:rPr spc="-111" dirty="0"/>
              <a:t> </a:t>
            </a:r>
            <a:r>
              <a:rPr spc="-17" dirty="0"/>
              <a:t>than </a:t>
            </a:r>
            <a:r>
              <a:rPr spc="-26" dirty="0"/>
              <a:t>amounts</a:t>
            </a:r>
            <a:r>
              <a:rPr spc="-128" dirty="0"/>
              <a:t> </a:t>
            </a:r>
            <a:r>
              <a:rPr spc="-62" dirty="0"/>
              <a:t>received</a:t>
            </a:r>
            <a:r>
              <a:rPr spc="-124" dirty="0"/>
              <a:t> </a:t>
            </a:r>
            <a:r>
              <a:rPr spc="0" dirty="0"/>
              <a:t>by</a:t>
            </a:r>
            <a:r>
              <a:rPr spc="-124" dirty="0"/>
              <a:t> </a:t>
            </a:r>
            <a:r>
              <a:rPr spc="0" dirty="0"/>
              <a:t>an</a:t>
            </a:r>
            <a:r>
              <a:rPr spc="-128" dirty="0"/>
              <a:t> </a:t>
            </a:r>
            <a:r>
              <a:rPr spc="-44" dirty="0"/>
              <a:t>employee,</a:t>
            </a:r>
            <a:r>
              <a:rPr spc="-124" dirty="0"/>
              <a:t> </a:t>
            </a:r>
            <a:r>
              <a:rPr spc="-62" dirty="0"/>
              <a:t>to</a:t>
            </a:r>
            <a:r>
              <a:rPr spc="-124" dirty="0"/>
              <a:t> </a:t>
            </a:r>
            <a:r>
              <a:rPr spc="-62" dirty="0"/>
              <a:t>the</a:t>
            </a:r>
            <a:r>
              <a:rPr spc="-124" dirty="0"/>
              <a:t> </a:t>
            </a:r>
            <a:r>
              <a:rPr spc="-79" dirty="0"/>
              <a:t>extent </a:t>
            </a:r>
            <a:r>
              <a:rPr spc="-57" dirty="0"/>
              <a:t>such</a:t>
            </a:r>
            <a:r>
              <a:rPr spc="-120" dirty="0"/>
              <a:t> </a:t>
            </a:r>
            <a:r>
              <a:rPr spc="-26" dirty="0"/>
              <a:t>amounts</a:t>
            </a:r>
            <a:r>
              <a:rPr spc="-120" dirty="0"/>
              <a:t> </a:t>
            </a:r>
            <a:r>
              <a:rPr spc="71" dirty="0"/>
              <a:t>(A)</a:t>
            </a:r>
            <a:r>
              <a:rPr spc="-120" dirty="0"/>
              <a:t> </a:t>
            </a:r>
            <a:r>
              <a:rPr spc="-44" dirty="0"/>
              <a:t>are</a:t>
            </a:r>
            <a:r>
              <a:rPr spc="-120" dirty="0"/>
              <a:t> </a:t>
            </a:r>
            <a:r>
              <a:rPr spc="-48" dirty="0"/>
              <a:t>attributable</a:t>
            </a:r>
            <a:r>
              <a:rPr spc="-120" dirty="0"/>
              <a:t> </a:t>
            </a:r>
            <a:r>
              <a:rPr spc="-22" dirty="0"/>
              <a:t>to </a:t>
            </a:r>
            <a:r>
              <a:rPr spc="-62" dirty="0"/>
              <a:t>contributions</a:t>
            </a:r>
            <a:r>
              <a:rPr spc="-111" dirty="0"/>
              <a:t> </a:t>
            </a:r>
            <a:r>
              <a:rPr spc="0" dirty="0"/>
              <a:t>by</a:t>
            </a:r>
            <a:r>
              <a:rPr spc="-106" dirty="0"/>
              <a:t> </a:t>
            </a:r>
            <a:r>
              <a:rPr spc="-62" dirty="0"/>
              <a:t>the</a:t>
            </a:r>
            <a:r>
              <a:rPr spc="-111" dirty="0"/>
              <a:t> </a:t>
            </a:r>
            <a:r>
              <a:rPr spc="-35" dirty="0"/>
              <a:t>employer</a:t>
            </a:r>
            <a:r>
              <a:rPr spc="-106" dirty="0"/>
              <a:t> </a:t>
            </a:r>
            <a:r>
              <a:rPr spc="-79" dirty="0"/>
              <a:t>which</a:t>
            </a:r>
            <a:r>
              <a:rPr spc="-106" dirty="0"/>
              <a:t> were</a:t>
            </a:r>
            <a:r>
              <a:rPr spc="-111" dirty="0"/>
              <a:t> </a:t>
            </a:r>
            <a:r>
              <a:rPr spc="-22" dirty="0"/>
              <a:t>not </a:t>
            </a:r>
            <a:r>
              <a:rPr spc="-57" dirty="0"/>
              <a:t>includible</a:t>
            </a:r>
            <a:r>
              <a:rPr spc="-128" dirty="0"/>
              <a:t> </a:t>
            </a:r>
            <a:r>
              <a:rPr spc="-53" dirty="0"/>
              <a:t>in</a:t>
            </a:r>
            <a:r>
              <a:rPr spc="-124" dirty="0"/>
              <a:t> </a:t>
            </a:r>
            <a:r>
              <a:rPr spc="-62" dirty="0"/>
              <a:t>the</a:t>
            </a:r>
            <a:r>
              <a:rPr spc="-124" dirty="0"/>
              <a:t> </a:t>
            </a:r>
            <a:r>
              <a:rPr spc="-62" dirty="0"/>
              <a:t>gross</a:t>
            </a:r>
            <a:r>
              <a:rPr spc="-124" dirty="0"/>
              <a:t> </a:t>
            </a:r>
            <a:r>
              <a:rPr spc="-48" dirty="0"/>
              <a:t>income</a:t>
            </a:r>
            <a:r>
              <a:rPr spc="-124" dirty="0"/>
              <a:t> </a:t>
            </a:r>
            <a:r>
              <a:rPr spc="-66" dirty="0"/>
              <a:t>of</a:t>
            </a:r>
            <a:r>
              <a:rPr spc="-124" dirty="0"/>
              <a:t> </a:t>
            </a:r>
            <a:r>
              <a:rPr spc="-62" dirty="0"/>
              <a:t>the</a:t>
            </a:r>
            <a:r>
              <a:rPr spc="-124" dirty="0"/>
              <a:t> </a:t>
            </a:r>
            <a:r>
              <a:rPr spc="-8" dirty="0"/>
              <a:t>employee.</a:t>
            </a:r>
          </a:p>
        </p:txBody>
      </p:sp>
      <p:sp>
        <p:nvSpPr>
          <p:cNvPr id="307" name="object 16"/>
          <p:cNvSpPr txBox="1"/>
          <p:nvPr/>
        </p:nvSpPr>
        <p:spPr>
          <a:xfrm>
            <a:off x="12871808" y="3436637"/>
            <a:ext cx="6276976" cy="50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3300" spc="-70">
                <a:solidFill>
                  <a:srgbClr val="1B2C5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lang="zh-CN" altLang="en-US" b="1" dirty="0"/>
              <a:t>解释</a:t>
            </a:r>
            <a:endParaRPr lang="en-US" b="1" dirty="0"/>
          </a:p>
        </p:txBody>
      </p:sp>
      <p:sp>
        <p:nvSpPr>
          <p:cNvPr id="308" name="object 17"/>
          <p:cNvSpPr txBox="1"/>
          <p:nvPr/>
        </p:nvSpPr>
        <p:spPr>
          <a:xfrm>
            <a:off x="12941837" y="6997023"/>
            <a:ext cx="6136642" cy="258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634" marR="10795" indent="17145" algn="ctr">
              <a:lnSpc>
                <a:spcPct val="100800"/>
              </a:lnSpc>
              <a:defRPr sz="1600" spc="-115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The</a:t>
            </a:r>
            <a:r>
              <a:rPr spc="-124" dirty="0"/>
              <a:t> </a:t>
            </a:r>
            <a:r>
              <a:rPr spc="-53" dirty="0"/>
              <a:t>allotment</a:t>
            </a:r>
            <a:r>
              <a:rPr spc="-124" dirty="0"/>
              <a:t> </a:t>
            </a:r>
            <a:r>
              <a:rPr spc="-53" dirty="0"/>
              <a:t>stems</a:t>
            </a:r>
            <a:r>
              <a:rPr spc="-124" dirty="0"/>
              <a:t> </a:t>
            </a:r>
            <a:r>
              <a:rPr spc="-26" dirty="0"/>
              <a:t>from</a:t>
            </a:r>
            <a:r>
              <a:rPr spc="-124" dirty="0"/>
              <a:t> </a:t>
            </a:r>
            <a:r>
              <a:rPr spc="-62" dirty="0"/>
              <a:t>the</a:t>
            </a:r>
            <a:r>
              <a:rPr spc="-124" dirty="0"/>
              <a:t> </a:t>
            </a:r>
            <a:r>
              <a:rPr spc="-93" dirty="0"/>
              <a:t>tax</a:t>
            </a:r>
            <a:r>
              <a:rPr spc="-124" dirty="0"/>
              <a:t> </a:t>
            </a:r>
            <a:r>
              <a:rPr spc="-44" dirty="0"/>
              <a:t>savings</a:t>
            </a:r>
            <a:r>
              <a:rPr spc="-120" dirty="0"/>
              <a:t> </a:t>
            </a:r>
            <a:r>
              <a:rPr spc="-8" dirty="0"/>
              <a:t>created. </a:t>
            </a:r>
            <a:r>
              <a:rPr spc="-111" dirty="0"/>
              <a:t>This</a:t>
            </a:r>
            <a:r>
              <a:rPr spc="-120" dirty="0"/>
              <a:t> </a:t>
            </a:r>
            <a:r>
              <a:rPr spc="-39" dirty="0"/>
              <a:t>can</a:t>
            </a:r>
            <a:r>
              <a:rPr spc="-120" dirty="0"/>
              <a:t> </a:t>
            </a:r>
            <a:r>
              <a:rPr spc="-39" dirty="0"/>
              <a:t>be</a:t>
            </a:r>
            <a:r>
              <a:rPr spc="-120" dirty="0"/>
              <a:t> </a:t>
            </a:r>
            <a:r>
              <a:rPr spc="-48" dirty="0"/>
              <a:t>used</a:t>
            </a:r>
            <a:r>
              <a:rPr spc="-120" dirty="0"/>
              <a:t> </a:t>
            </a:r>
            <a:r>
              <a:rPr spc="-66" dirty="0"/>
              <a:t>towards</a:t>
            </a:r>
            <a:r>
              <a:rPr spc="-120" dirty="0"/>
              <a:t> </a:t>
            </a:r>
            <a:r>
              <a:rPr spc="-44" dirty="0"/>
              <a:t>health</a:t>
            </a:r>
            <a:r>
              <a:rPr spc="-120" dirty="0"/>
              <a:t> </a:t>
            </a:r>
            <a:r>
              <a:rPr spc="-26" dirty="0"/>
              <a:t>premiums</a:t>
            </a:r>
            <a:r>
              <a:rPr spc="-120" dirty="0"/>
              <a:t> </a:t>
            </a:r>
            <a:r>
              <a:rPr spc="-57" dirty="0"/>
              <a:t>such</a:t>
            </a:r>
            <a:r>
              <a:rPr spc="-120" dirty="0"/>
              <a:t> </a:t>
            </a:r>
            <a:r>
              <a:rPr spc="-22" dirty="0"/>
              <a:t>as </a:t>
            </a:r>
            <a:r>
              <a:rPr spc="-84" dirty="0"/>
              <a:t>critical</a:t>
            </a:r>
            <a:r>
              <a:rPr spc="-101" dirty="0"/>
              <a:t> </a:t>
            </a:r>
            <a:r>
              <a:rPr spc="-93" dirty="0"/>
              <a:t>illness,</a:t>
            </a:r>
            <a:r>
              <a:rPr spc="-101" dirty="0"/>
              <a:t> </a:t>
            </a:r>
            <a:r>
              <a:rPr spc="-66" dirty="0"/>
              <a:t>hospital,</a:t>
            </a:r>
            <a:r>
              <a:rPr spc="-101" dirty="0"/>
              <a:t> </a:t>
            </a:r>
            <a:r>
              <a:rPr spc="-57" dirty="0"/>
              <a:t>dental,</a:t>
            </a:r>
            <a:r>
              <a:rPr spc="-101" dirty="0"/>
              <a:t> </a:t>
            </a:r>
            <a:r>
              <a:rPr spc="-71" dirty="0"/>
              <a:t>vision,</a:t>
            </a:r>
            <a:r>
              <a:rPr spc="-101" dirty="0"/>
              <a:t> </a:t>
            </a:r>
            <a:r>
              <a:rPr spc="-88" dirty="0"/>
              <a:t>life</a:t>
            </a:r>
            <a:r>
              <a:rPr spc="-101" dirty="0"/>
              <a:t> </a:t>
            </a:r>
            <a:r>
              <a:rPr spc="-35" dirty="0"/>
              <a:t>insurance, </a:t>
            </a:r>
            <a:r>
              <a:rPr spc="-8" dirty="0"/>
              <a:t>accidental.</a:t>
            </a:r>
          </a:p>
          <a:p>
            <a:pPr algn="ctr">
              <a:lnSpc>
                <a:spcPts val="1800"/>
              </a:lnSpc>
              <a:defRPr sz="1600" spc="-79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Under</a:t>
            </a:r>
            <a:r>
              <a:rPr spc="-124" dirty="0"/>
              <a:t> </a:t>
            </a:r>
            <a:r>
              <a:rPr spc="0" dirty="0"/>
              <a:t>104(a)(3)</a:t>
            </a:r>
            <a:r>
              <a:rPr spc="-124" dirty="0"/>
              <a:t> </a:t>
            </a:r>
            <a:r>
              <a:rPr spc="-26" dirty="0"/>
              <a:t>amounts</a:t>
            </a:r>
            <a:r>
              <a:rPr spc="-120" dirty="0"/>
              <a:t> </a:t>
            </a:r>
            <a:r>
              <a:rPr spc="-62" dirty="0"/>
              <a:t>received</a:t>
            </a:r>
            <a:r>
              <a:rPr spc="-124" dirty="0"/>
              <a:t> </a:t>
            </a:r>
            <a:r>
              <a:rPr spc="-8" dirty="0"/>
              <a:t>through</a:t>
            </a:r>
          </a:p>
          <a:p>
            <a:pPr marR="5080" indent="12064" algn="ctr">
              <a:lnSpc>
                <a:spcPct val="100800"/>
              </a:lnSpc>
              <a:defRPr sz="1600" spc="-62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accident</a:t>
            </a:r>
            <a:r>
              <a:rPr spc="-115" dirty="0"/>
              <a:t> </a:t>
            </a:r>
            <a:r>
              <a:rPr spc="-53" dirty="0"/>
              <a:t>or</a:t>
            </a:r>
            <a:r>
              <a:rPr spc="-115" dirty="0"/>
              <a:t> </a:t>
            </a:r>
            <a:r>
              <a:rPr spc="-44" dirty="0"/>
              <a:t>health</a:t>
            </a:r>
            <a:r>
              <a:rPr spc="-115" dirty="0"/>
              <a:t> </a:t>
            </a:r>
            <a:r>
              <a:rPr spc="-53" dirty="0"/>
              <a:t>insurance</a:t>
            </a:r>
            <a:r>
              <a:rPr spc="-115" dirty="0"/>
              <a:t> </a:t>
            </a:r>
            <a:r>
              <a:rPr dirty="0"/>
              <a:t>for</a:t>
            </a:r>
            <a:r>
              <a:rPr spc="-111" dirty="0"/>
              <a:t> </a:t>
            </a:r>
            <a:r>
              <a:rPr spc="-44" dirty="0"/>
              <a:t>personal</a:t>
            </a:r>
            <a:r>
              <a:rPr spc="-115" dirty="0"/>
              <a:t> </a:t>
            </a:r>
            <a:r>
              <a:rPr spc="-71" dirty="0"/>
              <a:t>injuries</a:t>
            </a:r>
            <a:r>
              <a:rPr spc="-115" dirty="0"/>
              <a:t> </a:t>
            </a:r>
            <a:r>
              <a:rPr spc="-22" dirty="0"/>
              <a:t>or </a:t>
            </a:r>
            <a:r>
              <a:rPr spc="-93" dirty="0"/>
              <a:t>sickness</a:t>
            </a:r>
            <a:r>
              <a:rPr spc="-115" dirty="0"/>
              <a:t> </a:t>
            </a:r>
            <a:r>
              <a:rPr spc="-44" dirty="0"/>
              <a:t>are</a:t>
            </a:r>
            <a:r>
              <a:rPr spc="-115" dirty="0"/>
              <a:t> </a:t>
            </a:r>
            <a:r>
              <a:rPr spc="-53" dirty="0"/>
              <a:t>generally</a:t>
            </a:r>
            <a:r>
              <a:rPr spc="-115" dirty="0"/>
              <a:t> </a:t>
            </a:r>
            <a:r>
              <a:rPr spc="-53" dirty="0"/>
              <a:t>not</a:t>
            </a:r>
            <a:r>
              <a:rPr spc="-115" dirty="0"/>
              <a:t> </a:t>
            </a:r>
            <a:r>
              <a:rPr spc="-44" dirty="0"/>
              <a:t>included</a:t>
            </a:r>
            <a:r>
              <a:rPr spc="-115" dirty="0"/>
              <a:t> </a:t>
            </a:r>
            <a:r>
              <a:rPr spc="-53" dirty="0"/>
              <a:t>in</a:t>
            </a:r>
            <a:r>
              <a:rPr spc="-111" dirty="0"/>
              <a:t> </a:t>
            </a:r>
            <a:r>
              <a:rPr dirty="0"/>
              <a:t>gross</a:t>
            </a:r>
            <a:r>
              <a:rPr spc="-115" dirty="0"/>
              <a:t> </a:t>
            </a:r>
            <a:r>
              <a:rPr spc="-8" dirty="0"/>
              <a:t>income </a:t>
            </a:r>
            <a:r>
              <a:rPr spc="-79" dirty="0"/>
              <a:t>which</a:t>
            </a:r>
            <a:r>
              <a:rPr spc="-120" dirty="0"/>
              <a:t> </a:t>
            </a:r>
            <a:r>
              <a:rPr dirty="0"/>
              <a:t>also</a:t>
            </a:r>
            <a:r>
              <a:rPr spc="-115" dirty="0"/>
              <a:t> </a:t>
            </a:r>
            <a:r>
              <a:rPr spc="-53" dirty="0"/>
              <a:t>applies</a:t>
            </a:r>
            <a:r>
              <a:rPr spc="-115" dirty="0"/>
              <a:t> </a:t>
            </a:r>
            <a:r>
              <a:rPr spc="-88" dirty="0"/>
              <a:t>if</a:t>
            </a:r>
            <a:r>
              <a:rPr spc="-115" dirty="0"/>
              <a:t> </a:t>
            </a:r>
            <a:r>
              <a:rPr dirty="0"/>
              <a:t>the</a:t>
            </a:r>
            <a:r>
              <a:rPr spc="-115" dirty="0"/>
              <a:t> </a:t>
            </a:r>
            <a:r>
              <a:rPr spc="-53" dirty="0"/>
              <a:t>insurance</a:t>
            </a:r>
            <a:r>
              <a:rPr spc="-120" dirty="0"/>
              <a:t> </a:t>
            </a:r>
            <a:r>
              <a:rPr spc="-26" dirty="0"/>
              <a:t>premiums</a:t>
            </a:r>
            <a:r>
              <a:rPr spc="-115" dirty="0"/>
              <a:t> </a:t>
            </a:r>
            <a:r>
              <a:rPr spc="-17" dirty="0"/>
              <a:t>were paid</a:t>
            </a:r>
            <a:r>
              <a:rPr spc="-111" dirty="0"/>
              <a:t> </a:t>
            </a:r>
            <a:r>
              <a:rPr spc="-93" dirty="0"/>
              <a:t>with</a:t>
            </a:r>
            <a:r>
              <a:rPr spc="-111" dirty="0"/>
              <a:t> </a:t>
            </a:r>
            <a:r>
              <a:rPr spc="-22" dirty="0"/>
              <a:t>after-</a:t>
            </a:r>
            <a:r>
              <a:rPr spc="-26" dirty="0"/>
              <a:t>tax</a:t>
            </a:r>
            <a:r>
              <a:rPr spc="-111" dirty="0"/>
              <a:t> </a:t>
            </a:r>
            <a:r>
              <a:rPr dirty="0"/>
              <a:t>dollars.</a:t>
            </a:r>
            <a:r>
              <a:rPr spc="-111" dirty="0"/>
              <a:t> </a:t>
            </a:r>
            <a:r>
              <a:rPr spc="-84" dirty="0"/>
              <a:t>Therefore</a:t>
            </a:r>
            <a:r>
              <a:rPr spc="-106" dirty="0"/>
              <a:t> </a:t>
            </a:r>
            <a:r>
              <a:rPr spc="0" dirty="0"/>
              <a:t>any</a:t>
            </a:r>
            <a:r>
              <a:rPr spc="-111" dirty="0"/>
              <a:t> </a:t>
            </a:r>
            <a:r>
              <a:rPr spc="-8" dirty="0"/>
              <a:t>payment </a:t>
            </a:r>
            <a:r>
              <a:rPr dirty="0"/>
              <a:t>received</a:t>
            </a:r>
            <a:r>
              <a:rPr spc="-120" dirty="0"/>
              <a:t> </a:t>
            </a:r>
            <a:r>
              <a:rPr spc="-26" dirty="0"/>
              <a:t>on</a:t>
            </a:r>
            <a:r>
              <a:rPr spc="-120" dirty="0"/>
              <a:t> </a:t>
            </a:r>
            <a:r>
              <a:rPr spc="-75" dirty="0"/>
              <a:t>these</a:t>
            </a:r>
            <a:r>
              <a:rPr spc="-120" dirty="0"/>
              <a:t> </a:t>
            </a:r>
            <a:r>
              <a:rPr spc="-75" dirty="0"/>
              <a:t>policies</a:t>
            </a:r>
            <a:r>
              <a:rPr spc="-120" dirty="0"/>
              <a:t> </a:t>
            </a:r>
            <a:r>
              <a:rPr spc="-57" dirty="0"/>
              <a:t>would</a:t>
            </a:r>
            <a:r>
              <a:rPr spc="-120" dirty="0"/>
              <a:t> </a:t>
            </a:r>
            <a:r>
              <a:rPr spc="-53" dirty="0"/>
              <a:t>not</a:t>
            </a:r>
            <a:r>
              <a:rPr spc="-120" dirty="0"/>
              <a:t> </a:t>
            </a:r>
            <a:r>
              <a:rPr spc="-39" dirty="0"/>
              <a:t>be</a:t>
            </a:r>
            <a:r>
              <a:rPr spc="-120" dirty="0"/>
              <a:t> </a:t>
            </a:r>
            <a:r>
              <a:rPr dirty="0"/>
              <a:t>subjected</a:t>
            </a:r>
            <a:r>
              <a:rPr spc="-120" dirty="0"/>
              <a:t> </a:t>
            </a:r>
            <a:r>
              <a:rPr spc="-22" dirty="0"/>
              <a:t>to </a:t>
            </a:r>
            <a:r>
              <a:rPr spc="-8" dirty="0"/>
              <a:t>taxing.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68F393D-C942-5DCE-40A2-97332B6CEF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81" y="615009"/>
            <a:ext cx="4656838" cy="1909638"/>
          </a:xfrm>
          <a:prstGeom prst="rect">
            <a:avLst/>
          </a:prstGeom>
        </p:spPr>
      </p:pic>
      <p:sp>
        <p:nvSpPr>
          <p:cNvPr id="4" name="object 12">
            <a:extLst>
              <a:ext uri="{FF2B5EF4-FFF2-40B4-BE49-F238E27FC236}">
                <a16:creationId xmlns:a16="http://schemas.microsoft.com/office/drawing/2014/main" id="{6718BD7D-D299-9824-453B-06B9F470B69D}"/>
              </a:ext>
            </a:extLst>
          </p:cNvPr>
          <p:cNvSpPr txBox="1"/>
          <p:nvPr/>
        </p:nvSpPr>
        <p:spPr>
          <a:xfrm>
            <a:off x="803293" y="8110930"/>
            <a:ext cx="3793492" cy="353943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594994">
              <a:spcBef>
                <a:spcPts val="900"/>
              </a:spcBef>
              <a:defRPr sz="2300" spc="-1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 algn="ctr"/>
            <a:r>
              <a:rPr lang="zh-CN" altLang="en-US" b="1" dirty="0"/>
              <a:t>分配</a:t>
            </a:r>
            <a:endParaRPr b="1" dirty="0"/>
          </a:p>
        </p:txBody>
      </p:sp>
      <p:sp>
        <p:nvSpPr>
          <p:cNvPr id="5" name="object 16">
            <a:extLst>
              <a:ext uri="{FF2B5EF4-FFF2-40B4-BE49-F238E27FC236}">
                <a16:creationId xmlns:a16="http://schemas.microsoft.com/office/drawing/2014/main" id="{480CFA23-7C7C-3EF3-20F7-04DB336840CA}"/>
              </a:ext>
            </a:extLst>
          </p:cNvPr>
          <p:cNvSpPr txBox="1"/>
          <p:nvPr/>
        </p:nvSpPr>
        <p:spPr>
          <a:xfrm>
            <a:off x="12941837" y="4229893"/>
            <a:ext cx="6276976" cy="73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635" marR="5080" indent="10794" algn="ctr">
              <a:lnSpc>
                <a:spcPct val="100800"/>
              </a:lnSpc>
              <a:spcBef>
                <a:spcPts val="2500"/>
              </a:spcBef>
              <a:defRPr sz="1600" spc="-57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lang="en-US" dirty="0"/>
              <a:t>Pairing</a:t>
            </a:r>
            <a:r>
              <a:rPr lang="en-US" spc="-124" dirty="0"/>
              <a:t> </a:t>
            </a:r>
            <a:r>
              <a:rPr lang="en-US" spc="-177" dirty="0"/>
              <a:t>§105</a:t>
            </a:r>
            <a:r>
              <a:rPr lang="en-US" spc="-120" dirty="0"/>
              <a:t> </a:t>
            </a:r>
            <a:r>
              <a:rPr lang="en-US" spc="0" dirty="0"/>
              <a:t>and</a:t>
            </a:r>
            <a:r>
              <a:rPr lang="en-US" spc="-124" dirty="0"/>
              <a:t> </a:t>
            </a:r>
            <a:r>
              <a:rPr lang="en-US" spc="-155" dirty="0"/>
              <a:t>SIMRP,</a:t>
            </a:r>
            <a:r>
              <a:rPr lang="en-US" spc="-120" dirty="0"/>
              <a:t> </a:t>
            </a:r>
            <a:r>
              <a:rPr lang="en-US" spc="-79" dirty="0"/>
              <a:t>which</a:t>
            </a:r>
            <a:r>
              <a:rPr lang="en-US" spc="-120" dirty="0"/>
              <a:t> </a:t>
            </a:r>
            <a:r>
              <a:rPr lang="en-US" spc="-62" dirty="0"/>
              <a:t>functions</a:t>
            </a:r>
            <a:r>
              <a:rPr lang="en-US" spc="-124" dirty="0"/>
              <a:t> </a:t>
            </a:r>
            <a:r>
              <a:rPr lang="en-US" spc="-48" dirty="0"/>
              <a:t>as</a:t>
            </a:r>
            <a:r>
              <a:rPr lang="en-US" spc="-120" dirty="0"/>
              <a:t> </a:t>
            </a:r>
            <a:r>
              <a:rPr lang="en-US" spc="0" dirty="0"/>
              <a:t>a</a:t>
            </a:r>
            <a:r>
              <a:rPr lang="en-US" spc="-120" dirty="0"/>
              <a:t> </a:t>
            </a:r>
            <a:r>
              <a:rPr lang="en-US" spc="-17" dirty="0"/>
              <a:t>form </a:t>
            </a:r>
            <a:r>
              <a:rPr lang="en-US" spc="-75" dirty="0"/>
              <a:t>Health</a:t>
            </a:r>
            <a:r>
              <a:rPr lang="en-US" spc="-106" dirty="0"/>
              <a:t> </a:t>
            </a:r>
            <a:r>
              <a:rPr lang="en-US" dirty="0"/>
              <a:t>Reimbursement</a:t>
            </a:r>
            <a:r>
              <a:rPr lang="en-US" spc="-106" dirty="0"/>
              <a:t> </a:t>
            </a:r>
            <a:r>
              <a:rPr lang="en-US" spc="-35" dirty="0"/>
              <a:t>Arrangement</a:t>
            </a:r>
            <a:r>
              <a:rPr lang="en-US" spc="-101" dirty="0"/>
              <a:t> </a:t>
            </a:r>
            <a:r>
              <a:rPr lang="en-US" spc="-84" dirty="0"/>
              <a:t>allows</a:t>
            </a:r>
            <a:r>
              <a:rPr lang="en-US" spc="-106" dirty="0"/>
              <a:t> </a:t>
            </a:r>
            <a:r>
              <a:rPr lang="en-US" spc="-62" dirty="0"/>
              <a:t>for</a:t>
            </a:r>
            <a:r>
              <a:rPr lang="en-US" spc="-101" dirty="0"/>
              <a:t> </a:t>
            </a:r>
            <a:r>
              <a:rPr lang="en-US" spc="-44" dirty="0"/>
              <a:t>a </a:t>
            </a:r>
            <a:r>
              <a:rPr lang="en-US" spc="-48" dirty="0"/>
              <a:t>reimbursement</a:t>
            </a:r>
            <a:r>
              <a:rPr lang="en-US" spc="-115" dirty="0"/>
              <a:t> </a:t>
            </a:r>
            <a:r>
              <a:rPr lang="en-US" spc="-66" dirty="0"/>
              <a:t>of</a:t>
            </a:r>
            <a:r>
              <a:rPr lang="en-US" spc="-111" dirty="0"/>
              <a:t> </a:t>
            </a:r>
            <a:r>
              <a:rPr lang="en-US" spc="-62" dirty="0"/>
              <a:t>the</a:t>
            </a:r>
            <a:r>
              <a:rPr lang="en-US" spc="-111" dirty="0"/>
              <a:t> </a:t>
            </a:r>
            <a:r>
              <a:rPr lang="en-US" spc="-93" dirty="0"/>
              <a:t>costs</a:t>
            </a:r>
            <a:r>
              <a:rPr lang="en-US" spc="-115" dirty="0"/>
              <a:t> </a:t>
            </a:r>
            <a:r>
              <a:rPr lang="en-US" spc="-48" dirty="0"/>
              <a:t>used</a:t>
            </a:r>
            <a:r>
              <a:rPr lang="en-US" spc="-111" dirty="0"/>
              <a:t> </a:t>
            </a:r>
            <a:r>
              <a:rPr lang="en-US" spc="-66" dirty="0"/>
              <a:t>towards</a:t>
            </a:r>
            <a:r>
              <a:rPr lang="en-US" spc="-111" dirty="0"/>
              <a:t> </a:t>
            </a:r>
            <a:r>
              <a:rPr lang="en-US" spc="-44" dirty="0"/>
              <a:t>said</a:t>
            </a:r>
            <a:r>
              <a:rPr lang="en-US" spc="-111" dirty="0"/>
              <a:t> </a:t>
            </a:r>
            <a:r>
              <a:rPr lang="en-US" spc="-8" dirty="0"/>
              <a:t>health </a:t>
            </a:r>
            <a:r>
              <a:rPr lang="en-US" spc="-79" dirty="0"/>
              <a:t>expense</a:t>
            </a:r>
            <a:r>
              <a:rPr lang="en-US" spc="-133" dirty="0"/>
              <a:t> </a:t>
            </a:r>
            <a:r>
              <a:rPr lang="en-US" spc="-53" dirty="0"/>
              <a:t>or</a:t>
            </a:r>
            <a:r>
              <a:rPr lang="en-US" spc="-128" dirty="0"/>
              <a:t> </a:t>
            </a:r>
            <a:r>
              <a:rPr lang="en-US" spc="-8" dirty="0"/>
              <a:t>premium.</a:t>
            </a:r>
          </a:p>
        </p:txBody>
      </p:sp>
      <p:sp>
        <p:nvSpPr>
          <p:cNvPr id="10" name="object 16">
            <a:extLst>
              <a:ext uri="{FF2B5EF4-FFF2-40B4-BE49-F238E27FC236}">
                <a16:creationId xmlns:a16="http://schemas.microsoft.com/office/drawing/2014/main" id="{2B0B0979-03CD-04A2-BD14-730A67C55AE0}"/>
              </a:ext>
            </a:extLst>
          </p:cNvPr>
          <p:cNvSpPr txBox="1"/>
          <p:nvPr/>
        </p:nvSpPr>
        <p:spPr>
          <a:xfrm>
            <a:off x="5486517" y="3436637"/>
            <a:ext cx="6276976" cy="50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3300" spc="-70">
                <a:solidFill>
                  <a:srgbClr val="1B2C5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lang="zh-CN" altLang="en-US" b="1" dirty="0"/>
              <a:t>国内税收法典</a:t>
            </a:r>
            <a:endParaRPr lang="en-US" b="1"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object 2"/>
          <p:cNvGrpSpPr/>
          <p:nvPr/>
        </p:nvGrpSpPr>
        <p:grpSpPr>
          <a:xfrm>
            <a:off x="17453501" y="703062"/>
            <a:ext cx="2239548" cy="1468565"/>
            <a:chOff x="16899583" y="12260"/>
            <a:chExt cx="2239548" cy="1468563"/>
          </a:xfrm>
        </p:grpSpPr>
        <p:grpSp>
          <p:nvGrpSpPr>
            <p:cNvPr id="323" name="object 5"/>
            <p:cNvGrpSpPr/>
            <p:nvPr/>
          </p:nvGrpSpPr>
          <p:grpSpPr>
            <a:xfrm>
              <a:off x="16899583" y="12261"/>
              <a:ext cx="1004808" cy="1429914"/>
              <a:chOff x="0" y="0"/>
              <a:chExt cx="1004806" cy="1429913"/>
            </a:xfrm>
          </p:grpSpPr>
          <p:sp>
            <p:nvSpPr>
              <p:cNvPr id="321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2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26" name="object 6"/>
            <p:cNvGrpSpPr/>
            <p:nvPr/>
          </p:nvGrpSpPr>
          <p:grpSpPr>
            <a:xfrm>
              <a:off x="18140114" y="12260"/>
              <a:ext cx="999017" cy="1468563"/>
              <a:chOff x="0" y="0"/>
              <a:chExt cx="999016" cy="1468562"/>
            </a:xfrm>
          </p:grpSpPr>
          <p:sp>
            <p:nvSpPr>
              <p:cNvPr id="324" name="Shape"/>
              <p:cNvSpPr/>
              <p:nvPr/>
            </p:nvSpPr>
            <p:spPr>
              <a:xfrm>
                <a:off x="0" y="0"/>
                <a:ext cx="999017" cy="14685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097" y="10260"/>
                    </a:moveTo>
                    <a:lnTo>
                      <a:pt x="3987" y="10605"/>
                    </a:lnTo>
                    <a:lnTo>
                      <a:pt x="2998" y="11042"/>
                    </a:lnTo>
                    <a:lnTo>
                      <a:pt x="2128" y="11571"/>
                    </a:lnTo>
                    <a:lnTo>
                      <a:pt x="1379" y="12193"/>
                    </a:lnTo>
                    <a:lnTo>
                      <a:pt x="882" y="12748"/>
                    </a:lnTo>
                    <a:lnTo>
                      <a:pt x="496" y="13343"/>
                    </a:lnTo>
                    <a:lnTo>
                      <a:pt x="221" y="13980"/>
                    </a:lnTo>
                    <a:lnTo>
                      <a:pt x="55" y="14657"/>
                    </a:lnTo>
                    <a:lnTo>
                      <a:pt x="0" y="15376"/>
                    </a:lnTo>
                    <a:lnTo>
                      <a:pt x="55" y="16098"/>
                    </a:lnTo>
                    <a:lnTo>
                      <a:pt x="221" y="16786"/>
                    </a:lnTo>
                    <a:lnTo>
                      <a:pt x="496" y="17439"/>
                    </a:lnTo>
                    <a:lnTo>
                      <a:pt x="882" y="18059"/>
                    </a:lnTo>
                    <a:lnTo>
                      <a:pt x="1379" y="18644"/>
                    </a:lnTo>
                    <a:lnTo>
                      <a:pt x="1973" y="19187"/>
                    </a:lnTo>
                    <a:lnTo>
                      <a:pt x="2652" y="19677"/>
                    </a:lnTo>
                    <a:lnTo>
                      <a:pt x="3417" y="20114"/>
                    </a:lnTo>
                    <a:lnTo>
                      <a:pt x="4267" y="20500"/>
                    </a:lnTo>
                    <a:lnTo>
                      <a:pt x="5202" y="20833"/>
                    </a:lnTo>
                    <a:lnTo>
                      <a:pt x="6207" y="21109"/>
                    </a:lnTo>
                    <a:lnTo>
                      <a:pt x="7267" y="21324"/>
                    </a:lnTo>
                    <a:lnTo>
                      <a:pt x="8383" y="21477"/>
                    </a:lnTo>
                    <a:lnTo>
                      <a:pt x="9553" y="21569"/>
                    </a:lnTo>
                    <a:lnTo>
                      <a:pt x="10779" y="21600"/>
                    </a:lnTo>
                    <a:lnTo>
                      <a:pt x="12006" y="21569"/>
                    </a:lnTo>
                    <a:lnTo>
                      <a:pt x="13179" y="21477"/>
                    </a:lnTo>
                    <a:lnTo>
                      <a:pt x="14298" y="21324"/>
                    </a:lnTo>
                    <a:lnTo>
                      <a:pt x="15365" y="21109"/>
                    </a:lnTo>
                    <a:lnTo>
                      <a:pt x="16378" y="20833"/>
                    </a:lnTo>
                    <a:lnTo>
                      <a:pt x="17320" y="20500"/>
                    </a:lnTo>
                    <a:lnTo>
                      <a:pt x="18176" y="20114"/>
                    </a:lnTo>
                    <a:lnTo>
                      <a:pt x="18944" y="19677"/>
                    </a:lnTo>
                    <a:lnTo>
                      <a:pt x="19626" y="19187"/>
                    </a:lnTo>
                    <a:lnTo>
                      <a:pt x="20221" y="18644"/>
                    </a:lnTo>
                    <a:lnTo>
                      <a:pt x="20718" y="18059"/>
                    </a:lnTo>
                    <a:lnTo>
                      <a:pt x="21104" y="17439"/>
                    </a:lnTo>
                    <a:lnTo>
                      <a:pt x="21379" y="16786"/>
                    </a:lnTo>
                    <a:lnTo>
                      <a:pt x="21545" y="16098"/>
                    </a:lnTo>
                    <a:lnTo>
                      <a:pt x="21600" y="15376"/>
                    </a:lnTo>
                    <a:lnTo>
                      <a:pt x="21545" y="14667"/>
                    </a:lnTo>
                    <a:lnTo>
                      <a:pt x="21379" y="13996"/>
                    </a:lnTo>
                    <a:lnTo>
                      <a:pt x="21104" y="13362"/>
                    </a:lnTo>
                    <a:lnTo>
                      <a:pt x="20718" y="12766"/>
                    </a:lnTo>
                    <a:lnTo>
                      <a:pt x="20221" y="12207"/>
                    </a:lnTo>
                    <a:lnTo>
                      <a:pt x="19469" y="11579"/>
                    </a:lnTo>
                    <a:lnTo>
                      <a:pt x="18592" y="11045"/>
                    </a:lnTo>
                    <a:lnTo>
                      <a:pt x="17589" y="10606"/>
                    </a:lnTo>
                    <a:lnTo>
                      <a:pt x="16461" y="10260"/>
                    </a:lnTo>
                    <a:lnTo>
                      <a:pt x="17395" y="9899"/>
                    </a:lnTo>
                    <a:lnTo>
                      <a:pt x="18231" y="9468"/>
                    </a:lnTo>
                    <a:lnTo>
                      <a:pt x="18972" y="8968"/>
                    </a:lnTo>
                    <a:lnTo>
                      <a:pt x="19615" y="8398"/>
                    </a:lnTo>
                    <a:lnTo>
                      <a:pt x="20136" y="7771"/>
                    </a:lnTo>
                    <a:lnTo>
                      <a:pt x="20509" y="7095"/>
                    </a:lnTo>
                    <a:lnTo>
                      <a:pt x="20732" y="6371"/>
                    </a:lnTo>
                    <a:lnTo>
                      <a:pt x="20806" y="5599"/>
                    </a:lnTo>
                    <a:lnTo>
                      <a:pt x="20736" y="4848"/>
                    </a:lnTo>
                    <a:lnTo>
                      <a:pt x="20524" y="4128"/>
                    </a:lnTo>
                    <a:lnTo>
                      <a:pt x="20172" y="3441"/>
                    </a:lnTo>
                    <a:lnTo>
                      <a:pt x="19678" y="2785"/>
                    </a:lnTo>
                    <a:lnTo>
                      <a:pt x="19042" y="2179"/>
                    </a:lnTo>
                    <a:lnTo>
                      <a:pt x="18263" y="1638"/>
                    </a:lnTo>
                    <a:lnTo>
                      <a:pt x="17340" y="1163"/>
                    </a:lnTo>
                    <a:lnTo>
                      <a:pt x="16273" y="753"/>
                    </a:lnTo>
                    <a:lnTo>
                      <a:pt x="15325" y="482"/>
                    </a:lnTo>
                    <a:lnTo>
                      <a:pt x="14301" y="271"/>
                    </a:lnTo>
                    <a:lnTo>
                      <a:pt x="13202" y="121"/>
                    </a:lnTo>
                    <a:lnTo>
                      <a:pt x="12028" y="30"/>
                    </a:lnTo>
                    <a:lnTo>
                      <a:pt x="10779" y="0"/>
                    </a:lnTo>
                    <a:lnTo>
                      <a:pt x="9516" y="30"/>
                    </a:lnTo>
                    <a:lnTo>
                      <a:pt x="8333" y="121"/>
                    </a:lnTo>
                    <a:lnTo>
                      <a:pt x="7230" y="271"/>
                    </a:lnTo>
                    <a:lnTo>
                      <a:pt x="6207" y="482"/>
                    </a:lnTo>
                    <a:lnTo>
                      <a:pt x="5264" y="753"/>
                    </a:lnTo>
                    <a:lnTo>
                      <a:pt x="4207" y="1163"/>
                    </a:lnTo>
                    <a:lnTo>
                      <a:pt x="3290" y="1638"/>
                    </a:lnTo>
                    <a:lnTo>
                      <a:pt x="2515" y="2179"/>
                    </a:lnTo>
                    <a:lnTo>
                      <a:pt x="1880" y="2785"/>
                    </a:lnTo>
                    <a:lnTo>
                      <a:pt x="1387" y="3441"/>
                    </a:lnTo>
                    <a:lnTo>
                      <a:pt x="1034" y="4128"/>
                    </a:lnTo>
                    <a:lnTo>
                      <a:pt x="823" y="4848"/>
                    </a:lnTo>
                    <a:lnTo>
                      <a:pt x="752" y="5599"/>
                    </a:lnTo>
                    <a:lnTo>
                      <a:pt x="820" y="6368"/>
                    </a:lnTo>
                    <a:lnTo>
                      <a:pt x="1024" y="7084"/>
                    </a:lnTo>
                    <a:lnTo>
                      <a:pt x="1363" y="7747"/>
                    </a:lnTo>
                    <a:lnTo>
                      <a:pt x="1838" y="8356"/>
                    </a:lnTo>
                    <a:lnTo>
                      <a:pt x="2449" y="8912"/>
                    </a:lnTo>
                    <a:lnTo>
                      <a:pt x="3196" y="9415"/>
                    </a:lnTo>
                    <a:lnTo>
                      <a:pt x="4079" y="9864"/>
                    </a:lnTo>
                    <a:lnTo>
                      <a:pt x="5097" y="10260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5" name="Shape"/>
              <p:cNvSpPr/>
              <p:nvPr/>
            </p:nvSpPr>
            <p:spPr>
              <a:xfrm>
                <a:off x="210632" y="183574"/>
                <a:ext cx="571973" cy="11014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432" y="4396"/>
                    </a:moveTo>
                    <a:lnTo>
                      <a:pt x="20263" y="5301"/>
                    </a:lnTo>
                    <a:lnTo>
                      <a:pt x="19757" y="6120"/>
                    </a:lnTo>
                    <a:lnTo>
                      <a:pt x="18913" y="6854"/>
                    </a:lnTo>
                    <a:lnTo>
                      <a:pt x="17732" y="7503"/>
                    </a:lnTo>
                    <a:lnTo>
                      <a:pt x="16291" y="8034"/>
                    </a:lnTo>
                    <a:lnTo>
                      <a:pt x="14667" y="8413"/>
                    </a:lnTo>
                    <a:lnTo>
                      <a:pt x="12861" y="8640"/>
                    </a:lnTo>
                    <a:lnTo>
                      <a:pt x="10873" y="8716"/>
                    </a:lnTo>
                    <a:lnTo>
                      <a:pt x="8887" y="8641"/>
                    </a:lnTo>
                    <a:lnTo>
                      <a:pt x="7087" y="8417"/>
                    </a:lnTo>
                    <a:lnTo>
                      <a:pt x="5475" y="8044"/>
                    </a:lnTo>
                    <a:lnTo>
                      <a:pt x="4050" y="7522"/>
                    </a:lnTo>
                    <a:lnTo>
                      <a:pt x="2884" y="6881"/>
                    </a:lnTo>
                    <a:lnTo>
                      <a:pt x="2052" y="6153"/>
                    </a:lnTo>
                    <a:lnTo>
                      <a:pt x="1553" y="5337"/>
                    </a:lnTo>
                    <a:lnTo>
                      <a:pt x="1386" y="4434"/>
                    </a:lnTo>
                    <a:lnTo>
                      <a:pt x="1546" y="3418"/>
                    </a:lnTo>
                    <a:lnTo>
                      <a:pt x="2025" y="2529"/>
                    </a:lnTo>
                    <a:lnTo>
                      <a:pt x="2823" y="1769"/>
                    </a:lnTo>
                    <a:lnTo>
                      <a:pt x="3940" y="1137"/>
                    </a:lnTo>
                    <a:lnTo>
                      <a:pt x="5331" y="639"/>
                    </a:lnTo>
                    <a:lnTo>
                      <a:pt x="6950" y="284"/>
                    </a:lnTo>
                    <a:lnTo>
                      <a:pt x="8798" y="71"/>
                    </a:lnTo>
                    <a:lnTo>
                      <a:pt x="10873" y="0"/>
                    </a:lnTo>
                    <a:lnTo>
                      <a:pt x="12980" y="71"/>
                    </a:lnTo>
                    <a:lnTo>
                      <a:pt x="14849" y="284"/>
                    </a:lnTo>
                    <a:lnTo>
                      <a:pt x="16482" y="639"/>
                    </a:lnTo>
                    <a:lnTo>
                      <a:pt x="17878" y="1137"/>
                    </a:lnTo>
                    <a:lnTo>
                      <a:pt x="18995" y="1767"/>
                    </a:lnTo>
                    <a:lnTo>
                      <a:pt x="19793" y="2520"/>
                    </a:lnTo>
                    <a:lnTo>
                      <a:pt x="20272" y="3396"/>
                    </a:lnTo>
                    <a:lnTo>
                      <a:pt x="20432" y="4396"/>
                    </a:lnTo>
                    <a:close/>
                    <a:moveTo>
                      <a:pt x="10873" y="11975"/>
                    </a:moveTo>
                    <a:lnTo>
                      <a:pt x="13165" y="12053"/>
                    </a:lnTo>
                    <a:lnTo>
                      <a:pt x="15224" y="12287"/>
                    </a:lnTo>
                    <a:lnTo>
                      <a:pt x="17050" y="12678"/>
                    </a:lnTo>
                    <a:lnTo>
                      <a:pt x="18644" y="13225"/>
                    </a:lnTo>
                    <a:lnTo>
                      <a:pt x="19937" y="13914"/>
                    </a:lnTo>
                    <a:lnTo>
                      <a:pt x="20861" y="14732"/>
                    </a:lnTo>
                    <a:lnTo>
                      <a:pt x="21415" y="15677"/>
                    </a:lnTo>
                    <a:lnTo>
                      <a:pt x="21600" y="16749"/>
                    </a:lnTo>
                    <a:lnTo>
                      <a:pt x="21420" y="17763"/>
                    </a:lnTo>
                    <a:lnTo>
                      <a:pt x="20879" y="18682"/>
                    </a:lnTo>
                    <a:lnTo>
                      <a:pt x="19978" y="19506"/>
                    </a:lnTo>
                    <a:lnTo>
                      <a:pt x="18717" y="20236"/>
                    </a:lnTo>
                    <a:lnTo>
                      <a:pt x="17481" y="20727"/>
                    </a:lnTo>
                    <a:lnTo>
                      <a:pt x="16078" y="21109"/>
                    </a:lnTo>
                    <a:lnTo>
                      <a:pt x="14509" y="21382"/>
                    </a:lnTo>
                    <a:lnTo>
                      <a:pt x="12774" y="21545"/>
                    </a:lnTo>
                    <a:lnTo>
                      <a:pt x="10873" y="21600"/>
                    </a:lnTo>
                    <a:lnTo>
                      <a:pt x="8943" y="21546"/>
                    </a:lnTo>
                    <a:lnTo>
                      <a:pt x="7183" y="21385"/>
                    </a:lnTo>
                    <a:lnTo>
                      <a:pt x="5592" y="21116"/>
                    </a:lnTo>
                    <a:lnTo>
                      <a:pt x="4170" y="20739"/>
                    </a:lnTo>
                    <a:lnTo>
                      <a:pt x="2919" y="20255"/>
                    </a:lnTo>
                    <a:lnTo>
                      <a:pt x="1642" y="19531"/>
                    </a:lnTo>
                    <a:lnTo>
                      <a:pt x="730" y="18706"/>
                    </a:lnTo>
                    <a:lnTo>
                      <a:pt x="182" y="17779"/>
                    </a:lnTo>
                    <a:lnTo>
                      <a:pt x="0" y="16749"/>
                    </a:lnTo>
                    <a:lnTo>
                      <a:pt x="189" y="15661"/>
                    </a:lnTo>
                    <a:lnTo>
                      <a:pt x="757" y="14708"/>
                    </a:lnTo>
                    <a:lnTo>
                      <a:pt x="1703" y="13890"/>
                    </a:lnTo>
                    <a:lnTo>
                      <a:pt x="3028" y="13206"/>
                    </a:lnTo>
                    <a:lnTo>
                      <a:pt x="4654" y="12668"/>
                    </a:lnTo>
                    <a:lnTo>
                      <a:pt x="6503" y="12283"/>
                    </a:lnTo>
                    <a:lnTo>
                      <a:pt x="8576" y="12052"/>
                    </a:lnTo>
                    <a:lnTo>
                      <a:pt x="10873" y="11975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sp>
        <p:nvSpPr>
          <p:cNvPr id="328" name="object 7"/>
          <p:cNvSpPr txBox="1">
            <a:spLocks noGrp="1"/>
          </p:cNvSpPr>
          <p:nvPr>
            <p:ph type="title"/>
          </p:nvPr>
        </p:nvSpPr>
        <p:spPr>
          <a:xfrm>
            <a:off x="841261" y="3363938"/>
            <a:ext cx="18469612" cy="826770"/>
          </a:xfrm>
          <a:prstGeom prst="rect">
            <a:avLst/>
          </a:prstGeom>
          <a:solidFill>
            <a:srgbClr val="1B2C5F"/>
          </a:solidFill>
        </p:spPr>
        <p:txBody>
          <a:bodyPr/>
          <a:lstStyle/>
          <a:p>
            <a:pPr marR="39369" algn="ctr">
              <a:spcBef>
                <a:spcPts val="1100"/>
              </a:spcBef>
              <a:defRPr sz="3300" spc="-200">
                <a:solidFill>
                  <a:srgbClr val="FFFFFF"/>
                </a:solidFill>
              </a:defRPr>
            </a:pPr>
            <a:r>
              <a:rPr lang="zh-CN" altLang="en-US" dirty="0"/>
              <a:t>分配的补充福利</a:t>
            </a:r>
            <a:endParaRPr spc="-100" dirty="0"/>
          </a:p>
        </p:txBody>
      </p:sp>
      <p:sp>
        <p:nvSpPr>
          <p:cNvPr id="329" name="object 8"/>
          <p:cNvSpPr txBox="1"/>
          <p:nvPr/>
        </p:nvSpPr>
        <p:spPr>
          <a:xfrm>
            <a:off x="861743" y="4403990"/>
            <a:ext cx="2045971" cy="830997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indent="226695" algn="ctr">
              <a:defRPr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保险类型</a:t>
            </a:r>
            <a:endParaRPr lang="en-US" altLang="zh-CN" dirty="0"/>
          </a:p>
          <a:p>
            <a:pPr indent="226695" algn="ctr">
              <a:defRPr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spc="-10" dirty="0"/>
          </a:p>
        </p:txBody>
      </p:sp>
      <p:sp>
        <p:nvSpPr>
          <p:cNvPr id="330" name="object 9"/>
          <p:cNvSpPr txBox="1"/>
          <p:nvPr/>
        </p:nvSpPr>
        <p:spPr>
          <a:xfrm>
            <a:off x="3043110" y="4403990"/>
            <a:ext cx="3512186" cy="830997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indent="1136014"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b="1" dirty="0"/>
              <a:t>简            介</a:t>
            </a:r>
            <a:endParaRPr lang="en-US" altLang="zh-CN" b="1" dirty="0"/>
          </a:p>
          <a:p>
            <a:pPr indent="1136014"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dirty="0"/>
          </a:p>
        </p:txBody>
      </p:sp>
      <p:sp>
        <p:nvSpPr>
          <p:cNvPr id="331" name="object 10"/>
          <p:cNvSpPr txBox="1"/>
          <p:nvPr/>
        </p:nvSpPr>
        <p:spPr>
          <a:xfrm>
            <a:off x="6690424" y="4403990"/>
            <a:ext cx="2045971" cy="830997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R="485140" indent="558799"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b="1" spc="45" dirty="0"/>
              <a:t>月保费</a:t>
            </a:r>
            <a:endParaRPr lang="en-US" altLang="zh-CN" b="1" spc="45" dirty="0"/>
          </a:p>
          <a:p>
            <a:pPr marR="485140" indent="558799"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pc="45" dirty="0"/>
          </a:p>
        </p:txBody>
      </p:sp>
      <p:sp>
        <p:nvSpPr>
          <p:cNvPr id="332" name="object 11"/>
          <p:cNvSpPr txBox="1"/>
          <p:nvPr/>
        </p:nvSpPr>
        <p:spPr>
          <a:xfrm>
            <a:off x="861743" y="5749437"/>
            <a:ext cx="2045971" cy="984885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R="134620" indent="306069">
              <a:defRPr sz="16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危疾保障，</a:t>
            </a:r>
            <a:endParaRPr lang="en-US" altLang="zh-CN" dirty="0"/>
          </a:p>
          <a:p>
            <a:pPr marR="134620" indent="306069">
              <a:defRPr sz="16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包括癌症</a:t>
            </a:r>
            <a:endParaRPr lang="en-US" altLang="zh-CN" dirty="0"/>
          </a:p>
          <a:p>
            <a:pPr marR="134620" indent="306069">
              <a:defRPr sz="16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pc="75" dirty="0"/>
          </a:p>
        </p:txBody>
      </p:sp>
      <p:sp>
        <p:nvSpPr>
          <p:cNvPr id="333" name="object 12"/>
          <p:cNvSpPr txBox="1"/>
          <p:nvPr/>
        </p:nvSpPr>
        <p:spPr>
          <a:xfrm>
            <a:off x="861743" y="7094862"/>
            <a:ext cx="2045971" cy="738664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4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ctr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眼科</a:t>
            </a:r>
            <a:endParaRPr lang="en-US" altLang="zh-CN" dirty="0"/>
          </a:p>
          <a:p>
            <a:pPr algn="ctr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dirty="0"/>
          </a:p>
        </p:txBody>
      </p:sp>
      <p:sp>
        <p:nvSpPr>
          <p:cNvPr id="334" name="object 13"/>
          <p:cNvSpPr txBox="1"/>
          <p:nvPr/>
        </p:nvSpPr>
        <p:spPr>
          <a:xfrm>
            <a:off x="861743" y="8440287"/>
            <a:ext cx="2045971" cy="738664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4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ctr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牙科</a:t>
            </a:r>
            <a:endParaRPr lang="en-US" altLang="zh-CN" dirty="0"/>
          </a:p>
          <a:p>
            <a:pPr algn="ctr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dirty="0"/>
          </a:p>
        </p:txBody>
      </p:sp>
      <p:sp>
        <p:nvSpPr>
          <p:cNvPr id="335" name="object 14"/>
          <p:cNvSpPr txBox="1"/>
          <p:nvPr/>
        </p:nvSpPr>
        <p:spPr>
          <a:xfrm>
            <a:off x="3043110" y="5749437"/>
            <a:ext cx="3512186" cy="116410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97789" indent="105410" algn="ctr">
              <a:lnSpc>
                <a:spcPct val="101499"/>
              </a:lnSpc>
              <a:spcBef>
                <a:spcPts val="600"/>
              </a:spcBef>
              <a:defRPr sz="1300" spc="-2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altLang="zh-CN" dirty="0"/>
          </a:p>
          <a:p>
            <a:pPr marR="97789" indent="105410" algn="ctr">
              <a:lnSpc>
                <a:spcPct val="101499"/>
              </a:lnSpc>
              <a:spcBef>
                <a:spcPts val="600"/>
              </a:spcBef>
              <a:defRPr sz="1300" spc="-2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此重大疾病保单提供内科癌症、心脏病发作、中风、肾衰竭等的承保保证。诊断后获得 </a:t>
            </a:r>
            <a:r>
              <a:rPr lang="en-US" altLang="zh-CN" dirty="0"/>
              <a:t>10,000 </a:t>
            </a:r>
            <a:r>
              <a:rPr lang="zh-CN" altLang="en-US" dirty="0"/>
              <a:t>美元。</a:t>
            </a:r>
            <a:endParaRPr lang="en-US" altLang="zh-CN" dirty="0"/>
          </a:p>
          <a:p>
            <a:pPr marR="97789" indent="105410" algn="ctr">
              <a:lnSpc>
                <a:spcPct val="101499"/>
              </a:lnSpc>
              <a:spcBef>
                <a:spcPts val="600"/>
              </a:spcBef>
              <a:defRPr sz="1300" spc="-2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pc="-10" dirty="0"/>
          </a:p>
        </p:txBody>
      </p:sp>
      <p:sp>
        <p:nvSpPr>
          <p:cNvPr id="336" name="object 15"/>
          <p:cNvSpPr txBox="1"/>
          <p:nvPr/>
        </p:nvSpPr>
        <p:spPr>
          <a:xfrm>
            <a:off x="3043110" y="7094862"/>
            <a:ext cx="3512186" cy="954107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ts val="40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dirty="0">
                <a:solidFill>
                  <a:srgbClr val="002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   </a:t>
            </a:r>
            <a:r>
              <a:rPr lang="zh-CN" altLang="en-US" dirty="0">
                <a:solidFill>
                  <a:srgbClr val="002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此保单涵盖眼科检查、眼部屈光，</a:t>
            </a:r>
            <a:endParaRPr lang="en-US" altLang="zh-CN" dirty="0">
              <a:solidFill>
                <a:srgbClr val="00206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ts val="40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dirty="0">
                <a:solidFill>
                  <a:srgbClr val="00206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              包括眼镜或隐形眼镜的费用</a:t>
            </a:r>
            <a:endParaRPr lang="en-US" spc="-10" dirty="0">
              <a:solidFill>
                <a:srgbClr val="00206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spcBef>
                <a:spcPts val="40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0" dirty="0"/>
          </a:p>
        </p:txBody>
      </p:sp>
      <p:sp>
        <p:nvSpPr>
          <p:cNvPr id="337" name="object 16"/>
          <p:cNvSpPr txBox="1"/>
          <p:nvPr/>
        </p:nvSpPr>
        <p:spPr>
          <a:xfrm>
            <a:off x="3043110" y="8440287"/>
            <a:ext cx="3512186" cy="856645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dirty="0"/>
              <a:t>                </a:t>
            </a:r>
            <a:endParaRPr lang="en-US" altLang="zh-CN" dirty="0"/>
          </a:p>
          <a:p>
            <a:pPr>
              <a:spcBef>
                <a:spcPts val="100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dirty="0"/>
              <a:t>               </a:t>
            </a:r>
            <a:r>
              <a:rPr lang="zh-CN" altLang="en-US" dirty="0">
                <a:solidFill>
                  <a:srgbClr val="002060"/>
                </a:solidFill>
              </a:rPr>
              <a:t>该政策涵盖半年一次的检查、</a:t>
            </a:r>
            <a:endParaRPr lang="en-US" altLang="zh-CN" dirty="0">
              <a:solidFill>
                <a:srgbClr val="002060"/>
              </a:solidFill>
            </a:endParaRPr>
          </a:p>
          <a:p>
            <a:pPr>
              <a:spcBef>
                <a:spcPts val="100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dirty="0">
                <a:solidFill>
                  <a:srgbClr val="002060"/>
                </a:solidFill>
              </a:rPr>
              <a:t>                        清洁和 </a:t>
            </a:r>
            <a:r>
              <a:rPr lang="en-US" altLang="zh-CN" dirty="0">
                <a:solidFill>
                  <a:srgbClr val="002060"/>
                </a:solidFill>
              </a:rPr>
              <a:t>X </a:t>
            </a:r>
            <a:r>
              <a:rPr lang="zh-CN" altLang="en-US" dirty="0">
                <a:solidFill>
                  <a:srgbClr val="002060"/>
                </a:solidFill>
              </a:rPr>
              <a:t>光检查</a:t>
            </a:r>
            <a:endParaRPr lang="en-US" altLang="zh-CN" dirty="0">
              <a:solidFill>
                <a:srgbClr val="002060"/>
              </a:solidFill>
            </a:endParaRPr>
          </a:p>
        </p:txBody>
      </p:sp>
      <p:sp>
        <p:nvSpPr>
          <p:cNvPr id="338" name="object 17"/>
          <p:cNvSpPr txBox="1"/>
          <p:nvPr/>
        </p:nvSpPr>
        <p:spPr>
          <a:xfrm>
            <a:off x="3043110" y="9780561"/>
            <a:ext cx="3512186" cy="103105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60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dirty="0">
                <a:solidFill>
                  <a:srgbClr val="002060"/>
                </a:solidFill>
              </a:rPr>
              <a:t>                  </a:t>
            </a:r>
            <a:endParaRPr lang="en-US" altLang="zh-CN" dirty="0">
              <a:solidFill>
                <a:srgbClr val="002060"/>
              </a:solidFill>
            </a:endParaRPr>
          </a:p>
          <a:p>
            <a:pPr>
              <a:spcBef>
                <a:spcPts val="60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dirty="0">
                <a:solidFill>
                  <a:srgbClr val="002060"/>
                </a:solidFill>
              </a:rPr>
              <a:t>                    这是一份终身人寿保险单。</a:t>
            </a:r>
            <a:endParaRPr lang="en-US" altLang="zh-CN" dirty="0">
              <a:solidFill>
                <a:srgbClr val="002060"/>
              </a:solidFill>
            </a:endParaRPr>
          </a:p>
          <a:p>
            <a:pPr>
              <a:spcBef>
                <a:spcPts val="60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dirty="0">
                <a:solidFill>
                  <a:srgbClr val="002060"/>
                </a:solidFill>
              </a:rPr>
              <a:t>             您的家人最高可获得 </a:t>
            </a:r>
            <a:r>
              <a:rPr lang="en-US" altLang="zh-CN" dirty="0">
                <a:solidFill>
                  <a:srgbClr val="002060"/>
                </a:solidFill>
              </a:rPr>
              <a:t>100,000 </a:t>
            </a:r>
            <a:r>
              <a:rPr lang="zh-CN" altLang="en-US" dirty="0">
                <a:solidFill>
                  <a:srgbClr val="002060"/>
                </a:solidFill>
              </a:rPr>
              <a:t>美元</a:t>
            </a:r>
            <a:endParaRPr lang="en-US" altLang="zh-CN" dirty="0">
              <a:solidFill>
                <a:srgbClr val="002060"/>
              </a:solidFill>
            </a:endParaRPr>
          </a:p>
          <a:p>
            <a:pPr>
              <a:spcBef>
                <a:spcPts val="60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dirty="0"/>
              <a:t> </a:t>
            </a:r>
            <a:endParaRPr lang="en-US" spc="-10" dirty="0"/>
          </a:p>
        </p:txBody>
      </p:sp>
      <p:sp>
        <p:nvSpPr>
          <p:cNvPr id="339" name="object 18"/>
          <p:cNvSpPr txBox="1"/>
          <p:nvPr/>
        </p:nvSpPr>
        <p:spPr>
          <a:xfrm>
            <a:off x="6690424" y="5749437"/>
            <a:ext cx="2045971" cy="9087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36269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$20.00</a:t>
            </a:r>
          </a:p>
        </p:txBody>
      </p:sp>
      <p:sp>
        <p:nvSpPr>
          <p:cNvPr id="340" name="object 19"/>
          <p:cNvSpPr txBox="1"/>
          <p:nvPr/>
        </p:nvSpPr>
        <p:spPr>
          <a:xfrm>
            <a:off x="6690424" y="7094862"/>
            <a:ext cx="2045971" cy="908722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75640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$33.15</a:t>
            </a:r>
          </a:p>
        </p:txBody>
      </p:sp>
      <p:sp>
        <p:nvSpPr>
          <p:cNvPr id="341" name="object 20"/>
          <p:cNvSpPr txBox="1"/>
          <p:nvPr/>
        </p:nvSpPr>
        <p:spPr>
          <a:xfrm>
            <a:off x="6690424" y="8440287"/>
            <a:ext cx="2045971" cy="9087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75640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$33.15</a:t>
            </a:r>
          </a:p>
        </p:txBody>
      </p:sp>
      <p:sp>
        <p:nvSpPr>
          <p:cNvPr id="342" name="object 21"/>
          <p:cNvSpPr txBox="1"/>
          <p:nvPr/>
        </p:nvSpPr>
        <p:spPr>
          <a:xfrm>
            <a:off x="861743" y="9780561"/>
            <a:ext cx="2045971" cy="984885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04800">
              <a:defRPr sz="1600" spc="-6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altLang="zh-CN" dirty="0"/>
          </a:p>
          <a:p>
            <a:pPr indent="304800">
              <a:defRPr sz="1600" spc="-6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en-US" altLang="zh-CN" dirty="0"/>
              <a:t>    </a:t>
            </a:r>
            <a:r>
              <a:rPr lang="zh-CN" altLang="en-US" dirty="0"/>
              <a:t>人寿保险</a:t>
            </a:r>
            <a:endParaRPr lang="en-US" altLang="zh-CN" dirty="0"/>
          </a:p>
          <a:p>
            <a:pPr indent="304800">
              <a:defRPr sz="1600" spc="-6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altLang="zh-CN" dirty="0"/>
          </a:p>
          <a:p>
            <a:pPr indent="304800">
              <a:defRPr sz="1600" spc="-6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pc="-10" dirty="0"/>
          </a:p>
        </p:txBody>
      </p:sp>
      <p:sp>
        <p:nvSpPr>
          <p:cNvPr id="343" name="object 22"/>
          <p:cNvSpPr txBox="1"/>
          <p:nvPr/>
        </p:nvSpPr>
        <p:spPr>
          <a:xfrm>
            <a:off x="6690424" y="9780561"/>
            <a:ext cx="2045971" cy="9087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33730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$65.30</a:t>
            </a:r>
          </a:p>
        </p:txBody>
      </p:sp>
      <p:sp>
        <p:nvSpPr>
          <p:cNvPr id="344" name="object 23"/>
          <p:cNvSpPr txBox="1"/>
          <p:nvPr/>
        </p:nvSpPr>
        <p:spPr>
          <a:xfrm>
            <a:off x="11435945" y="4403990"/>
            <a:ext cx="2045971" cy="830997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indent="226695" algn="ctr">
              <a:defRPr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保险类型</a:t>
            </a:r>
            <a:endParaRPr lang="en-US" altLang="zh-CN" dirty="0"/>
          </a:p>
          <a:p>
            <a:pPr indent="226695" algn="ctr">
              <a:defRPr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altLang="zh-CN" dirty="0"/>
          </a:p>
        </p:txBody>
      </p:sp>
      <p:sp>
        <p:nvSpPr>
          <p:cNvPr id="345" name="object 24"/>
          <p:cNvSpPr txBox="1"/>
          <p:nvPr/>
        </p:nvSpPr>
        <p:spPr>
          <a:xfrm>
            <a:off x="13617322" y="4403990"/>
            <a:ext cx="3512185" cy="830997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indent="1136014"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b="1" dirty="0"/>
              <a:t>简            介</a:t>
            </a:r>
            <a:endParaRPr lang="en-US" altLang="zh-CN" b="1" dirty="0"/>
          </a:p>
          <a:p>
            <a:pPr indent="1136014"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dirty="0"/>
          </a:p>
        </p:txBody>
      </p:sp>
      <p:sp>
        <p:nvSpPr>
          <p:cNvPr id="346" name="object 25"/>
          <p:cNvSpPr txBox="1"/>
          <p:nvPr/>
        </p:nvSpPr>
        <p:spPr>
          <a:xfrm>
            <a:off x="17264625" y="4403990"/>
            <a:ext cx="2045971" cy="830997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dirty="0"/>
          </a:p>
          <a:p>
            <a:pPr marR="485140" indent="558799"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b="1" spc="45" dirty="0"/>
              <a:t>月保费</a:t>
            </a:r>
            <a:endParaRPr lang="en-US" altLang="zh-CN" b="1" spc="45" dirty="0"/>
          </a:p>
          <a:p>
            <a:pPr marR="485140" indent="558799"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altLang="zh-CN" b="1" spc="45" dirty="0"/>
          </a:p>
        </p:txBody>
      </p:sp>
      <p:sp>
        <p:nvSpPr>
          <p:cNvPr id="347" name="object 26"/>
          <p:cNvSpPr txBox="1"/>
          <p:nvPr/>
        </p:nvSpPr>
        <p:spPr>
          <a:xfrm>
            <a:off x="11435945" y="5749437"/>
            <a:ext cx="2045971" cy="1231106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indent="597534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住院保险</a:t>
            </a:r>
            <a:endParaRPr lang="en-US" altLang="zh-CN" dirty="0"/>
          </a:p>
          <a:p>
            <a:pPr indent="597534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dirty="0"/>
          </a:p>
          <a:p>
            <a:pPr indent="597534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dirty="0"/>
          </a:p>
          <a:p>
            <a:pPr indent="597534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dirty="0"/>
          </a:p>
        </p:txBody>
      </p:sp>
      <p:sp>
        <p:nvSpPr>
          <p:cNvPr id="348" name="object 27"/>
          <p:cNvSpPr txBox="1"/>
          <p:nvPr/>
        </p:nvSpPr>
        <p:spPr>
          <a:xfrm>
            <a:off x="11435945" y="7105332"/>
            <a:ext cx="2045971" cy="1995418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2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99059" marR="445769" indent="354330">
              <a:defRPr sz="16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短期残疾</a:t>
            </a:r>
            <a:endParaRPr lang="en-US" altLang="zh-CN" dirty="0"/>
          </a:p>
          <a:p>
            <a:pPr marL="99059" marR="445769" indent="354330">
              <a:defRPr sz="16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spc="-10" dirty="0"/>
          </a:p>
          <a:p>
            <a:pPr marL="99059" marR="445769" indent="354330">
              <a:defRPr sz="16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spc="-10" dirty="0"/>
          </a:p>
          <a:p>
            <a:pPr marL="99059" marR="445769" indent="354330">
              <a:defRPr sz="16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pc="-10" dirty="0"/>
          </a:p>
          <a:p>
            <a:pPr marL="99059" marR="445769" indent="354330">
              <a:defRPr sz="16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pc="-10" dirty="0"/>
          </a:p>
        </p:txBody>
      </p:sp>
      <p:sp>
        <p:nvSpPr>
          <p:cNvPr id="349" name="object 28"/>
          <p:cNvSpPr txBox="1"/>
          <p:nvPr/>
        </p:nvSpPr>
        <p:spPr>
          <a:xfrm>
            <a:off x="11435945" y="9393138"/>
            <a:ext cx="2045971" cy="1605568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10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indent="558800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     事故</a:t>
            </a:r>
            <a:endParaRPr lang="en-US" altLang="zh-CN" dirty="0"/>
          </a:p>
          <a:p>
            <a:pPr indent="558800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dirty="0"/>
          </a:p>
          <a:p>
            <a:pPr indent="558800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dirty="0"/>
          </a:p>
          <a:p>
            <a:pPr indent="558800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dirty="0"/>
          </a:p>
        </p:txBody>
      </p:sp>
      <p:sp>
        <p:nvSpPr>
          <p:cNvPr id="350" name="object 29"/>
          <p:cNvSpPr txBox="1"/>
          <p:nvPr/>
        </p:nvSpPr>
        <p:spPr>
          <a:xfrm>
            <a:off x="13617322" y="5749437"/>
            <a:ext cx="3512185" cy="1077218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600"/>
              </a:spcBef>
              <a:defRPr sz="13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-10" dirty="0"/>
              <a:t>            </a:t>
            </a:r>
            <a:endParaRPr lang="en-US" altLang="zh-CN" spc="-10" dirty="0"/>
          </a:p>
          <a:p>
            <a:pPr algn="ctr">
              <a:spcBef>
                <a:spcPts val="600"/>
              </a:spcBef>
              <a:defRPr sz="13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en-US" altLang="zh-CN" spc="-10" dirty="0"/>
              <a:t>   </a:t>
            </a:r>
            <a:r>
              <a:rPr lang="zh-CN" altLang="en-US" spc="-10" dirty="0"/>
              <a:t>该住院保险政策在首次住院</a:t>
            </a:r>
            <a:r>
              <a:rPr lang="en-US" altLang="zh-CN" spc="-10" dirty="0"/>
              <a:t>24</a:t>
            </a:r>
            <a:r>
              <a:rPr lang="zh-CN" altLang="en-US" spc="-10" dirty="0"/>
              <a:t>小时后提供</a:t>
            </a:r>
            <a:r>
              <a:rPr lang="en-US" altLang="zh-CN" spc="-10" dirty="0"/>
              <a:t>750</a:t>
            </a:r>
            <a:r>
              <a:rPr lang="zh-CN" altLang="en-US" spc="-10" dirty="0"/>
              <a:t>美元补偿，之后每额外住院一天补偿</a:t>
            </a:r>
            <a:r>
              <a:rPr lang="en-US" altLang="zh-CN" spc="-10" dirty="0"/>
              <a:t>100</a:t>
            </a:r>
            <a:r>
              <a:rPr lang="zh-CN" altLang="en-US" spc="-10" dirty="0"/>
              <a:t>美元。若涉及手术，住院手术补偿</a:t>
            </a:r>
            <a:r>
              <a:rPr lang="en-US" altLang="zh-CN" spc="-10" dirty="0"/>
              <a:t>500</a:t>
            </a:r>
            <a:r>
              <a:rPr lang="zh-CN" altLang="en-US" spc="-10" dirty="0"/>
              <a:t>美元，门诊手术补偿</a:t>
            </a:r>
            <a:r>
              <a:rPr lang="en-US" altLang="zh-CN" spc="-10" dirty="0"/>
              <a:t>250</a:t>
            </a:r>
            <a:r>
              <a:rPr lang="zh-CN" altLang="en-US" spc="-10" dirty="0"/>
              <a:t>美元。</a:t>
            </a:r>
            <a:endParaRPr lang="en-US" altLang="zh-CN" spc="-10" dirty="0"/>
          </a:p>
        </p:txBody>
      </p:sp>
      <p:sp>
        <p:nvSpPr>
          <p:cNvPr id="351" name="object 30"/>
          <p:cNvSpPr txBox="1"/>
          <p:nvPr/>
        </p:nvSpPr>
        <p:spPr>
          <a:xfrm>
            <a:off x="13617322" y="7105332"/>
            <a:ext cx="3512185" cy="200106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635" marR="168910" indent="175259" algn="ctr">
              <a:lnSpc>
                <a:spcPct val="101499"/>
              </a:lnSpc>
              <a:spcBef>
                <a:spcPts val="1000"/>
              </a:spcBef>
              <a:defRPr sz="1300" spc="6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altLang="zh-CN" dirty="0"/>
          </a:p>
          <a:p>
            <a:pPr marL="635" marR="168910" indent="175259" algn="ctr">
              <a:lnSpc>
                <a:spcPct val="101499"/>
              </a:lnSpc>
              <a:spcBef>
                <a:spcPts val="1000"/>
              </a:spcBef>
              <a:defRPr sz="1300" spc="6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州残疾保险仅提供您通常薪水的</a:t>
            </a:r>
            <a:r>
              <a:rPr lang="en-US" altLang="zh-CN" dirty="0"/>
              <a:t>55%</a:t>
            </a:r>
            <a:r>
              <a:rPr lang="zh-CN" altLang="en-US" dirty="0"/>
              <a:t>。该政策可以将您的收入提升至接近您总收入的</a:t>
            </a:r>
            <a:r>
              <a:rPr lang="en-US" altLang="zh-CN" dirty="0"/>
              <a:t>72%</a:t>
            </a:r>
            <a:r>
              <a:rPr lang="zh-CN" altLang="en-US" dirty="0"/>
              <a:t>，这是允许的最高比例。如果因工伤或非工作相关的疾病导致无法工作，每月最多可增加</a:t>
            </a:r>
            <a:r>
              <a:rPr lang="en-US" altLang="zh-CN" dirty="0"/>
              <a:t>600</a:t>
            </a:r>
            <a:r>
              <a:rPr lang="zh-CN" altLang="en-US" dirty="0"/>
              <a:t>美元的收入补偿。</a:t>
            </a:r>
            <a:endParaRPr lang="en-US" altLang="zh-CN" dirty="0"/>
          </a:p>
          <a:p>
            <a:pPr marL="635" marR="168910" indent="175259" algn="ctr">
              <a:lnSpc>
                <a:spcPct val="101499"/>
              </a:lnSpc>
              <a:spcBef>
                <a:spcPts val="1000"/>
              </a:spcBef>
              <a:defRPr sz="1300" spc="6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altLang="zh-CN" dirty="0"/>
          </a:p>
          <a:p>
            <a:pPr marL="635" marR="168910" indent="175259" algn="ctr">
              <a:lnSpc>
                <a:spcPct val="101499"/>
              </a:lnSpc>
              <a:spcBef>
                <a:spcPts val="1000"/>
              </a:spcBef>
              <a:defRPr sz="1300" spc="6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altLang="zh-CN" dirty="0"/>
          </a:p>
        </p:txBody>
      </p:sp>
      <p:sp>
        <p:nvSpPr>
          <p:cNvPr id="352" name="object 31"/>
          <p:cNvSpPr txBox="1"/>
          <p:nvPr/>
        </p:nvSpPr>
        <p:spPr>
          <a:xfrm>
            <a:off x="13617322" y="9393138"/>
            <a:ext cx="3512185" cy="1554272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sz="13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altLang="zh-CN" dirty="0"/>
          </a:p>
          <a:p>
            <a:pPr algn="ctr">
              <a:spcBef>
                <a:spcPts val="400"/>
              </a:spcBef>
              <a:defRPr sz="13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altLang="zh-CN" dirty="0"/>
          </a:p>
          <a:p>
            <a:pPr algn="ctr">
              <a:spcBef>
                <a:spcPts val="400"/>
              </a:spcBef>
              <a:defRPr sz="13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如果发生意外，您住院</a:t>
            </a:r>
            <a:r>
              <a:rPr lang="en-US" altLang="zh-CN" dirty="0"/>
              <a:t>24</a:t>
            </a:r>
            <a:r>
              <a:rPr lang="zh-CN" altLang="en-US" dirty="0"/>
              <a:t>小时可获得</a:t>
            </a:r>
            <a:r>
              <a:rPr lang="en-US" altLang="zh-CN" dirty="0"/>
              <a:t>2000</a:t>
            </a:r>
            <a:r>
              <a:rPr lang="zh-CN" altLang="en-US" dirty="0"/>
              <a:t>美元的补偿，随后每住院一天补偿</a:t>
            </a:r>
            <a:r>
              <a:rPr lang="en-US" altLang="zh-CN" dirty="0"/>
              <a:t>500</a:t>
            </a:r>
            <a:r>
              <a:rPr lang="zh-CN" altLang="en-US" dirty="0"/>
              <a:t>美元，若为重症监护则补偿金额翻倍。此外，该政策还涵盖手术、急诊室、救护车费用等。</a:t>
            </a:r>
            <a:endParaRPr lang="en-US" altLang="zh-CN" dirty="0"/>
          </a:p>
          <a:p>
            <a:pPr algn="ctr">
              <a:spcBef>
                <a:spcPts val="400"/>
              </a:spcBef>
              <a:defRPr sz="13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spc="-10" dirty="0"/>
          </a:p>
        </p:txBody>
      </p:sp>
      <p:sp>
        <p:nvSpPr>
          <p:cNvPr id="353" name="object 32"/>
          <p:cNvSpPr txBox="1"/>
          <p:nvPr/>
        </p:nvSpPr>
        <p:spPr>
          <a:xfrm>
            <a:off x="17264625" y="5749437"/>
            <a:ext cx="2045971" cy="9087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29919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$40.50</a:t>
            </a:r>
          </a:p>
        </p:txBody>
      </p:sp>
      <p:sp>
        <p:nvSpPr>
          <p:cNvPr id="354" name="object 33"/>
          <p:cNvSpPr txBox="1"/>
          <p:nvPr/>
        </p:nvSpPr>
        <p:spPr>
          <a:xfrm>
            <a:off x="17264625" y="7105332"/>
            <a:ext cx="2045971" cy="2089822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spcBef>
                <a:spcPts val="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36269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$25.00</a:t>
            </a:r>
          </a:p>
          <a:p>
            <a:pPr indent="636269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/>
          </a:p>
          <a:p>
            <a:pPr indent="636269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/>
          </a:p>
        </p:txBody>
      </p:sp>
      <p:sp>
        <p:nvSpPr>
          <p:cNvPr id="355" name="object 34"/>
          <p:cNvSpPr txBox="1"/>
          <p:nvPr/>
        </p:nvSpPr>
        <p:spPr>
          <a:xfrm>
            <a:off x="17264625" y="9393138"/>
            <a:ext cx="2045971" cy="1556422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spcBef>
                <a:spcPts val="5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34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$23.12</a:t>
            </a:r>
          </a:p>
          <a:p>
            <a:pPr algn="ctr">
              <a:defRPr spc="-34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/>
          </a:p>
        </p:txBody>
      </p:sp>
      <p:sp>
        <p:nvSpPr>
          <p:cNvPr id="356" name="object 35"/>
          <p:cNvSpPr txBox="1"/>
          <p:nvPr/>
        </p:nvSpPr>
        <p:spPr>
          <a:xfrm>
            <a:off x="8967720" y="4345129"/>
            <a:ext cx="2212341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 algn="ctr">
              <a:lnSpc>
                <a:spcPct val="100499"/>
              </a:lnSpc>
              <a:defRPr sz="2000" spc="-100">
                <a:solidFill>
                  <a:srgbClr val="1B2C5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lang="zh-CN" altLang="en-US" dirty="0"/>
              <a:t>根据您的需要个性化您自己的福利包，无需额外自付费用。</a:t>
            </a:r>
            <a:endParaRPr spc="-9" dirty="0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1600CD4E-D21F-F4A0-E2AB-606E9515F4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81" y="615009"/>
            <a:ext cx="4656838" cy="190963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object 2"/>
          <p:cNvGrpSpPr/>
          <p:nvPr/>
        </p:nvGrpSpPr>
        <p:grpSpPr>
          <a:xfrm>
            <a:off x="17456397" y="695329"/>
            <a:ext cx="2224090" cy="1439582"/>
            <a:chOff x="16902479" y="4416"/>
            <a:chExt cx="2224090" cy="1439580"/>
          </a:xfrm>
        </p:grpSpPr>
        <p:grpSp>
          <p:nvGrpSpPr>
            <p:cNvPr id="371" name="object 5"/>
            <p:cNvGrpSpPr/>
            <p:nvPr/>
          </p:nvGrpSpPr>
          <p:grpSpPr>
            <a:xfrm>
              <a:off x="16902479" y="12149"/>
              <a:ext cx="1004808" cy="1429915"/>
              <a:chOff x="0" y="0"/>
              <a:chExt cx="1004806" cy="1429913"/>
            </a:xfrm>
          </p:grpSpPr>
          <p:sp>
            <p:nvSpPr>
              <p:cNvPr id="369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0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74" name="object 6"/>
            <p:cNvGrpSpPr/>
            <p:nvPr/>
          </p:nvGrpSpPr>
          <p:grpSpPr>
            <a:xfrm>
              <a:off x="18173937" y="4416"/>
              <a:ext cx="952632" cy="1439580"/>
              <a:chOff x="0" y="0"/>
              <a:chExt cx="952630" cy="1439578"/>
            </a:xfrm>
          </p:grpSpPr>
          <p:sp>
            <p:nvSpPr>
              <p:cNvPr id="372" name="Shape"/>
              <p:cNvSpPr/>
              <p:nvPr/>
            </p:nvSpPr>
            <p:spPr>
              <a:xfrm>
                <a:off x="0" y="0"/>
                <a:ext cx="952631" cy="14395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76" y="15888"/>
                    </a:moveTo>
                    <a:lnTo>
                      <a:pt x="876" y="15888"/>
                    </a:lnTo>
                    <a:lnTo>
                      <a:pt x="1040" y="16687"/>
                    </a:lnTo>
                    <a:lnTo>
                      <a:pt x="1328" y="17438"/>
                    </a:lnTo>
                    <a:lnTo>
                      <a:pt x="1741" y="18143"/>
                    </a:lnTo>
                    <a:lnTo>
                      <a:pt x="2278" y="18801"/>
                    </a:lnTo>
                    <a:lnTo>
                      <a:pt x="2939" y="19412"/>
                    </a:lnTo>
                    <a:lnTo>
                      <a:pt x="3724" y="19977"/>
                    </a:lnTo>
                    <a:lnTo>
                      <a:pt x="4494" y="20407"/>
                    </a:lnTo>
                    <a:lnTo>
                      <a:pt x="5351" y="20772"/>
                    </a:lnTo>
                    <a:lnTo>
                      <a:pt x="6296" y="21070"/>
                    </a:lnTo>
                    <a:lnTo>
                      <a:pt x="7329" y="21302"/>
                    </a:lnTo>
                    <a:lnTo>
                      <a:pt x="8449" y="21468"/>
                    </a:lnTo>
                    <a:lnTo>
                      <a:pt x="9657" y="21567"/>
                    </a:lnTo>
                    <a:lnTo>
                      <a:pt x="10953" y="21600"/>
                    </a:lnTo>
                    <a:lnTo>
                      <a:pt x="12276" y="21566"/>
                    </a:lnTo>
                    <a:lnTo>
                      <a:pt x="13499" y="21465"/>
                    </a:lnTo>
                    <a:lnTo>
                      <a:pt x="14622" y="21296"/>
                    </a:lnTo>
                    <a:lnTo>
                      <a:pt x="15646" y="21059"/>
                    </a:lnTo>
                    <a:lnTo>
                      <a:pt x="16570" y="20754"/>
                    </a:lnTo>
                    <a:lnTo>
                      <a:pt x="17394" y="20382"/>
                    </a:lnTo>
                    <a:lnTo>
                      <a:pt x="18129" y="19944"/>
                    </a:lnTo>
                    <a:lnTo>
                      <a:pt x="18788" y="19442"/>
                    </a:lnTo>
                    <a:lnTo>
                      <a:pt x="19371" y="18875"/>
                    </a:lnTo>
                    <a:lnTo>
                      <a:pt x="19876" y="18243"/>
                    </a:lnTo>
                    <a:lnTo>
                      <a:pt x="20305" y="17548"/>
                    </a:lnTo>
                    <a:lnTo>
                      <a:pt x="20658" y="16787"/>
                    </a:lnTo>
                    <a:lnTo>
                      <a:pt x="20879" y="16172"/>
                    </a:lnTo>
                    <a:lnTo>
                      <a:pt x="21070" y="15513"/>
                    </a:lnTo>
                    <a:lnTo>
                      <a:pt x="21232" y="14813"/>
                    </a:lnTo>
                    <a:lnTo>
                      <a:pt x="21364" y="14069"/>
                    </a:lnTo>
                    <a:lnTo>
                      <a:pt x="21467" y="13283"/>
                    </a:lnTo>
                    <a:lnTo>
                      <a:pt x="21541" y="12454"/>
                    </a:lnTo>
                    <a:lnTo>
                      <a:pt x="21585" y="11583"/>
                    </a:lnTo>
                    <a:lnTo>
                      <a:pt x="21600" y="10670"/>
                    </a:lnTo>
                    <a:lnTo>
                      <a:pt x="21579" y="9707"/>
                    </a:lnTo>
                    <a:lnTo>
                      <a:pt x="21517" y="8791"/>
                    </a:lnTo>
                    <a:lnTo>
                      <a:pt x="21413" y="7921"/>
                    </a:lnTo>
                    <a:lnTo>
                      <a:pt x="21267" y="7097"/>
                    </a:lnTo>
                    <a:lnTo>
                      <a:pt x="21079" y="6319"/>
                    </a:lnTo>
                    <a:lnTo>
                      <a:pt x="20850" y="5588"/>
                    </a:lnTo>
                    <a:lnTo>
                      <a:pt x="20580" y="4902"/>
                    </a:lnTo>
                    <a:lnTo>
                      <a:pt x="20267" y="4263"/>
                    </a:lnTo>
                    <a:lnTo>
                      <a:pt x="19913" y="3671"/>
                    </a:lnTo>
                    <a:lnTo>
                      <a:pt x="19518" y="3124"/>
                    </a:lnTo>
                    <a:lnTo>
                      <a:pt x="19081" y="2624"/>
                    </a:lnTo>
                    <a:lnTo>
                      <a:pt x="18478" y="2073"/>
                    </a:lnTo>
                    <a:lnTo>
                      <a:pt x="17791" y="1587"/>
                    </a:lnTo>
                    <a:lnTo>
                      <a:pt x="17019" y="1166"/>
                    </a:lnTo>
                    <a:lnTo>
                      <a:pt x="16162" y="810"/>
                    </a:lnTo>
                    <a:lnTo>
                      <a:pt x="15220" y="518"/>
                    </a:lnTo>
                    <a:lnTo>
                      <a:pt x="14193" y="292"/>
                    </a:lnTo>
                    <a:lnTo>
                      <a:pt x="13081" y="130"/>
                    </a:lnTo>
                    <a:lnTo>
                      <a:pt x="11884" y="32"/>
                    </a:lnTo>
                    <a:lnTo>
                      <a:pt x="10603" y="0"/>
                    </a:lnTo>
                    <a:lnTo>
                      <a:pt x="9398" y="30"/>
                    </a:lnTo>
                    <a:lnTo>
                      <a:pt x="8260" y="119"/>
                    </a:lnTo>
                    <a:lnTo>
                      <a:pt x="7188" y="267"/>
                    </a:lnTo>
                    <a:lnTo>
                      <a:pt x="6183" y="475"/>
                    </a:lnTo>
                    <a:lnTo>
                      <a:pt x="5244" y="742"/>
                    </a:lnTo>
                    <a:lnTo>
                      <a:pt x="4372" y="1068"/>
                    </a:lnTo>
                    <a:lnTo>
                      <a:pt x="3565" y="1454"/>
                    </a:lnTo>
                    <a:lnTo>
                      <a:pt x="2826" y="1899"/>
                    </a:lnTo>
                    <a:lnTo>
                      <a:pt x="2076" y="2468"/>
                    </a:lnTo>
                    <a:lnTo>
                      <a:pt x="1442" y="3090"/>
                    </a:lnTo>
                    <a:lnTo>
                      <a:pt x="923" y="3764"/>
                    </a:lnTo>
                    <a:lnTo>
                      <a:pt x="519" y="4491"/>
                    </a:lnTo>
                    <a:lnTo>
                      <a:pt x="231" y="5270"/>
                    </a:lnTo>
                    <a:lnTo>
                      <a:pt x="58" y="6103"/>
                    </a:lnTo>
                    <a:lnTo>
                      <a:pt x="0" y="6987"/>
                    </a:lnTo>
                    <a:lnTo>
                      <a:pt x="53" y="7831"/>
                    </a:lnTo>
                    <a:lnTo>
                      <a:pt x="214" y="8623"/>
                    </a:lnTo>
                    <a:lnTo>
                      <a:pt x="481" y="9362"/>
                    </a:lnTo>
                    <a:lnTo>
                      <a:pt x="855" y="10049"/>
                    </a:lnTo>
                    <a:lnTo>
                      <a:pt x="1336" y="10684"/>
                    </a:lnTo>
                    <a:lnTo>
                      <a:pt x="1910" y="11263"/>
                    </a:lnTo>
                    <a:lnTo>
                      <a:pt x="2563" y="11781"/>
                    </a:lnTo>
                    <a:lnTo>
                      <a:pt x="3294" y="12239"/>
                    </a:lnTo>
                    <a:lnTo>
                      <a:pt x="4105" y="12637"/>
                    </a:lnTo>
                    <a:lnTo>
                      <a:pt x="4995" y="12975"/>
                    </a:lnTo>
                    <a:lnTo>
                      <a:pt x="5944" y="13251"/>
                    </a:lnTo>
                    <a:lnTo>
                      <a:pt x="6936" y="13466"/>
                    </a:lnTo>
                    <a:lnTo>
                      <a:pt x="7970" y="13620"/>
                    </a:lnTo>
                    <a:lnTo>
                      <a:pt x="9046" y="13712"/>
                    </a:lnTo>
                    <a:lnTo>
                      <a:pt x="10165" y="13743"/>
                    </a:lnTo>
                    <a:lnTo>
                      <a:pt x="11261" y="13709"/>
                    </a:lnTo>
                    <a:lnTo>
                      <a:pt x="12317" y="13609"/>
                    </a:lnTo>
                    <a:lnTo>
                      <a:pt x="13332" y="13441"/>
                    </a:lnTo>
                    <a:lnTo>
                      <a:pt x="14305" y="13207"/>
                    </a:lnTo>
                    <a:lnTo>
                      <a:pt x="15205" y="12910"/>
                    </a:lnTo>
                    <a:lnTo>
                      <a:pt x="15997" y="12558"/>
                    </a:lnTo>
                    <a:lnTo>
                      <a:pt x="16683" y="12149"/>
                    </a:lnTo>
                    <a:lnTo>
                      <a:pt x="17262" y="11684"/>
                    </a:lnTo>
                    <a:lnTo>
                      <a:pt x="17240" y="12627"/>
                    </a:lnTo>
                    <a:lnTo>
                      <a:pt x="17172" y="13498"/>
                    </a:lnTo>
                    <a:lnTo>
                      <a:pt x="17059" y="14298"/>
                    </a:lnTo>
                    <a:lnTo>
                      <a:pt x="16901" y="15026"/>
                    </a:lnTo>
                    <a:lnTo>
                      <a:pt x="16698" y="15682"/>
                    </a:lnTo>
                    <a:lnTo>
                      <a:pt x="16449" y="16267"/>
                    </a:lnTo>
                    <a:lnTo>
                      <a:pt x="15817" y="17222"/>
                    </a:lnTo>
                    <a:lnTo>
                      <a:pt x="15172" y="17807"/>
                    </a:lnTo>
                    <a:lnTo>
                      <a:pt x="14393" y="18261"/>
                    </a:lnTo>
                    <a:lnTo>
                      <a:pt x="13482" y="18586"/>
                    </a:lnTo>
                    <a:lnTo>
                      <a:pt x="12437" y="18781"/>
                    </a:lnTo>
                    <a:lnTo>
                      <a:pt x="11260" y="18846"/>
                    </a:lnTo>
                    <a:lnTo>
                      <a:pt x="10096" y="18799"/>
                    </a:lnTo>
                    <a:lnTo>
                      <a:pt x="9058" y="18657"/>
                    </a:lnTo>
                    <a:lnTo>
                      <a:pt x="8146" y="18422"/>
                    </a:lnTo>
                    <a:lnTo>
                      <a:pt x="7361" y="18092"/>
                    </a:lnTo>
                    <a:lnTo>
                      <a:pt x="6701" y="17672"/>
                    </a:lnTo>
                    <a:lnTo>
                      <a:pt x="6167" y="17164"/>
                    </a:lnTo>
                    <a:lnTo>
                      <a:pt x="5758" y="16570"/>
                    </a:lnTo>
                    <a:lnTo>
                      <a:pt x="5476" y="15888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3" name="Shape"/>
              <p:cNvSpPr/>
              <p:nvPr/>
            </p:nvSpPr>
            <p:spPr>
              <a:xfrm>
                <a:off x="210621" y="183574"/>
                <a:ext cx="525587" cy="5468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356" y="21600"/>
                    </a:moveTo>
                    <a:lnTo>
                      <a:pt x="9185" y="21479"/>
                    </a:lnTo>
                    <a:lnTo>
                      <a:pt x="7245" y="21118"/>
                    </a:lnTo>
                    <a:lnTo>
                      <a:pt x="5538" y="20515"/>
                    </a:lnTo>
                    <a:lnTo>
                      <a:pt x="4062" y="19671"/>
                    </a:lnTo>
                    <a:lnTo>
                      <a:pt x="2819" y="18585"/>
                    </a:lnTo>
                    <a:lnTo>
                      <a:pt x="1585" y="16975"/>
                    </a:lnTo>
                    <a:lnTo>
                      <a:pt x="705" y="15160"/>
                    </a:lnTo>
                    <a:lnTo>
                      <a:pt x="176" y="13140"/>
                    </a:lnTo>
                    <a:lnTo>
                      <a:pt x="0" y="10915"/>
                    </a:lnTo>
                    <a:lnTo>
                      <a:pt x="181" y="8589"/>
                    </a:lnTo>
                    <a:lnTo>
                      <a:pt x="724" y="6498"/>
                    </a:lnTo>
                    <a:lnTo>
                      <a:pt x="1630" y="4639"/>
                    </a:lnTo>
                    <a:lnTo>
                      <a:pt x="2898" y="3015"/>
                    </a:lnTo>
                    <a:lnTo>
                      <a:pt x="4479" y="1696"/>
                    </a:lnTo>
                    <a:lnTo>
                      <a:pt x="6323" y="754"/>
                    </a:lnTo>
                    <a:lnTo>
                      <a:pt x="8430" y="188"/>
                    </a:lnTo>
                    <a:lnTo>
                      <a:pt x="10800" y="0"/>
                    </a:lnTo>
                    <a:lnTo>
                      <a:pt x="13170" y="184"/>
                    </a:lnTo>
                    <a:lnTo>
                      <a:pt x="15277" y="735"/>
                    </a:lnTo>
                    <a:lnTo>
                      <a:pt x="17120" y="1653"/>
                    </a:lnTo>
                    <a:lnTo>
                      <a:pt x="18701" y="2939"/>
                    </a:lnTo>
                    <a:lnTo>
                      <a:pt x="19745" y="4207"/>
                    </a:lnTo>
                    <a:lnTo>
                      <a:pt x="20556" y="5662"/>
                    </a:lnTo>
                    <a:lnTo>
                      <a:pt x="21136" y="7303"/>
                    </a:lnTo>
                    <a:lnTo>
                      <a:pt x="21484" y="9130"/>
                    </a:lnTo>
                    <a:lnTo>
                      <a:pt x="21600" y="11143"/>
                    </a:lnTo>
                    <a:lnTo>
                      <a:pt x="21429" y="13393"/>
                    </a:lnTo>
                    <a:lnTo>
                      <a:pt x="20915" y="15408"/>
                    </a:lnTo>
                    <a:lnTo>
                      <a:pt x="20059" y="17190"/>
                    </a:lnTo>
                    <a:lnTo>
                      <a:pt x="18860" y="18738"/>
                    </a:lnTo>
                    <a:lnTo>
                      <a:pt x="17364" y="19990"/>
                    </a:lnTo>
                    <a:lnTo>
                      <a:pt x="15614" y="20884"/>
                    </a:lnTo>
                    <a:lnTo>
                      <a:pt x="13611" y="21421"/>
                    </a:lnTo>
                    <a:lnTo>
                      <a:pt x="11356" y="21600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sp>
        <p:nvSpPr>
          <p:cNvPr id="376" name="object 7"/>
          <p:cNvSpPr txBox="1"/>
          <p:nvPr/>
        </p:nvSpPr>
        <p:spPr>
          <a:xfrm>
            <a:off x="1478991" y="4838529"/>
            <a:ext cx="9982835" cy="5298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600"/>
              </a:spcBef>
              <a:defRPr sz="2600" b="1" spc="7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资格审核流程</a:t>
            </a:r>
            <a:endParaRPr lang="en-US" altLang="zh-CN" dirty="0"/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客户提交员工最近两个月的工资单对应的</a:t>
            </a:r>
            <a:r>
              <a:rPr lang="en-US" altLang="zh-CN" dirty="0"/>
              <a:t>W2</a:t>
            </a:r>
            <a:r>
              <a:rPr lang="zh-CN" altLang="en-US" dirty="0"/>
              <a:t>表格和</a:t>
            </a:r>
            <a:r>
              <a:rPr lang="en-US" altLang="zh-CN" dirty="0"/>
              <a:t>W4</a:t>
            </a:r>
            <a:r>
              <a:rPr lang="zh-CN" altLang="en-US" dirty="0"/>
              <a:t>表格</a:t>
            </a:r>
            <a:endParaRPr lang="en-US" dirty="0"/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我们的核保团队对员工数据进行资格审核并检查相关文件</a:t>
            </a:r>
            <a:endParaRPr lang="en-US" altLang="zh-CN" dirty="0"/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会计部门进行计算以确定节省金额</a:t>
            </a:r>
            <a:endParaRPr lang="en-US" altLang="zh-CN" dirty="0"/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我们的保险专员将审核并选择最适合实施的保险计划</a:t>
            </a:r>
            <a:endParaRPr lang="en-US" spc="55" dirty="0"/>
          </a:p>
          <a:p>
            <a:pPr indent="12700">
              <a:spcBef>
                <a:spcPts val="2100"/>
              </a:spcBef>
              <a:defRPr sz="2600" b="1" spc="12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85" dirty="0"/>
              <a:t>计划设置</a:t>
            </a:r>
            <a:r>
              <a:rPr lang="en-US" spc="85" dirty="0"/>
              <a:t>/</a:t>
            </a:r>
            <a:r>
              <a:rPr lang="zh-CN" altLang="en-US" spc="85" dirty="0"/>
              <a:t>签订合约</a:t>
            </a:r>
            <a:endParaRPr lang="en-US" spc="85" dirty="0"/>
          </a:p>
          <a:p>
            <a:pPr marL="217170" indent="-204470">
              <a:spcBef>
                <a:spcPts val="400"/>
              </a:spcBef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-10" dirty="0"/>
              <a:t>提供如何与薪资系统配合的具体指导</a:t>
            </a:r>
            <a:endParaRPr lang="en-US" spc="-10" dirty="0"/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 spc="5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65" dirty="0"/>
              <a:t>提供雇主潜在税收节省金额的提案</a:t>
            </a:r>
            <a:endParaRPr spc="65" dirty="0"/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 spc="5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dirty="0"/>
              <a:t>提供员工个人分配金额的提案</a:t>
            </a:r>
            <a:endParaRPr dirty="0"/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80" dirty="0"/>
              <a:t>雇主签署客户文件</a:t>
            </a:r>
            <a:endParaRPr spc="80" dirty="0"/>
          </a:p>
          <a:p>
            <a:pPr indent="22859">
              <a:spcBef>
                <a:spcPts val="1700"/>
              </a:spcBef>
              <a:defRPr sz="2600" b="1" spc="12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94" dirty="0"/>
              <a:t>项目启动</a:t>
            </a:r>
            <a:endParaRPr spc="94" dirty="0"/>
          </a:p>
          <a:p>
            <a:pPr marL="227329" indent="-204470">
              <a:spcBef>
                <a:spcPts val="400"/>
              </a:spcBef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-10" dirty="0"/>
              <a:t>雇主向员工提供赞助信</a:t>
            </a:r>
            <a:endParaRPr spc="-10" dirty="0"/>
          </a:p>
          <a:p>
            <a:pPr marL="227329" indent="-204470"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80" dirty="0"/>
              <a:t>雇主通过电子邮件提供解释项目的视频</a:t>
            </a:r>
            <a:endParaRPr spc="80" dirty="0"/>
          </a:p>
          <a:p>
            <a:pPr marL="227329" indent="-204470"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-25" dirty="0"/>
              <a:t>确定加入时间</a:t>
            </a:r>
            <a:endParaRPr spc="-25" dirty="0"/>
          </a:p>
          <a:p>
            <a:pPr marL="227329" indent="-204470">
              <a:buSzPct val="100000"/>
              <a:buChar char="-"/>
              <a:tabLst>
                <a:tab pos="215900" algn="l"/>
              </a:tabLst>
              <a:defRPr sz="1900" spc="-6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59" dirty="0"/>
              <a:t>所有员工签署确认是否参加</a:t>
            </a:r>
            <a:endParaRPr spc="59" dirty="0"/>
          </a:p>
        </p:txBody>
      </p:sp>
      <p:sp>
        <p:nvSpPr>
          <p:cNvPr id="377" name="object 8"/>
          <p:cNvSpPr txBox="1"/>
          <p:nvPr/>
        </p:nvSpPr>
        <p:spPr>
          <a:xfrm>
            <a:off x="11732695" y="5899995"/>
            <a:ext cx="6995160" cy="2862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600"/>
              </a:spcBef>
              <a:defRPr sz="2600" b="1" spc="7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125" dirty="0"/>
              <a:t>薪资节省</a:t>
            </a:r>
            <a:endParaRPr spc="125" dirty="0"/>
          </a:p>
          <a:p>
            <a:pPr marL="217170" indent="-204470">
              <a:spcBef>
                <a:spcPts val="400"/>
              </a:spcBef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-25" dirty="0"/>
              <a:t>每次工资发放时，即可实现薪资税降低</a:t>
            </a:r>
            <a:endParaRPr spc="-25" dirty="0"/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65" dirty="0"/>
              <a:t>雇主享受</a:t>
            </a:r>
            <a:r>
              <a:rPr lang="en-US" altLang="zh-CN" spc="65" dirty="0"/>
              <a:t>FICA</a:t>
            </a:r>
            <a:r>
              <a:rPr lang="zh-CN" altLang="en-US" spc="65" dirty="0"/>
              <a:t>税减免</a:t>
            </a:r>
            <a:endParaRPr spc="65" dirty="0"/>
          </a:p>
          <a:p>
            <a:pPr>
              <a:spcBef>
                <a:spcPts val="1600"/>
              </a:spcBef>
              <a:buClr>
                <a:srgbClr val="1B2C5F"/>
              </a:buClr>
              <a:buSzPct val="100000"/>
              <a:buFont typeface="Euphemia UCAS"/>
              <a:buChar char="-"/>
              <a:defRPr sz="19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pc="65" dirty="0"/>
          </a:p>
          <a:p>
            <a:pPr indent="12700">
              <a:defRPr sz="2600" b="1" spc="13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85" dirty="0"/>
              <a:t>计划管理</a:t>
            </a:r>
            <a:endParaRPr spc="85" dirty="0"/>
          </a:p>
          <a:p>
            <a:pPr marL="217170" indent="-204470">
              <a:spcBef>
                <a:spcPts val="400"/>
              </a:spcBef>
              <a:buSzPct val="100000"/>
              <a:buChar char="-"/>
              <a:tabLst>
                <a:tab pos="215900" algn="l"/>
              </a:tabLst>
              <a:defRPr sz="1900" spc="59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55" dirty="0"/>
              <a:t>员工福利计划费用按月支付，账单采用后付方式</a:t>
            </a:r>
            <a:endParaRPr spc="55" dirty="0"/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 spc="8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59" dirty="0"/>
              <a:t>补充保险费用在月末支付给保险公司</a:t>
            </a:r>
            <a:endParaRPr spc="59" dirty="0"/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 spc="-6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zh-CN" altLang="en-US" spc="-10" dirty="0"/>
              <a:t>所有费用均由税收节省金额支付</a:t>
            </a:r>
            <a:endParaRPr spc="-10" dirty="0"/>
          </a:p>
        </p:txBody>
      </p:sp>
      <p:sp>
        <p:nvSpPr>
          <p:cNvPr id="378" name="object 9"/>
          <p:cNvSpPr/>
          <p:nvPr/>
        </p:nvSpPr>
        <p:spPr>
          <a:xfrm>
            <a:off x="0" y="10032110"/>
            <a:ext cx="20104100" cy="1270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3962" y="0"/>
                </a:lnTo>
                <a:lnTo>
                  <a:pt x="13962" y="5400"/>
                </a:lnTo>
                <a:lnTo>
                  <a:pt x="13542" y="5400"/>
                </a:lnTo>
                <a:lnTo>
                  <a:pt x="13542" y="10800"/>
                </a:lnTo>
                <a:lnTo>
                  <a:pt x="13122" y="10800"/>
                </a:lnTo>
                <a:lnTo>
                  <a:pt x="13122" y="16200"/>
                </a:lnTo>
                <a:lnTo>
                  <a:pt x="0" y="162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B2C5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9" name="object 10"/>
          <p:cNvSpPr/>
          <p:nvPr/>
        </p:nvSpPr>
        <p:spPr>
          <a:xfrm>
            <a:off x="-1" y="3796743"/>
            <a:ext cx="7941121" cy="508602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0" name="object 11"/>
          <p:cNvSpPr txBox="1">
            <a:spLocks noGrp="1"/>
          </p:cNvSpPr>
          <p:nvPr>
            <p:ph type="title"/>
          </p:nvPr>
        </p:nvSpPr>
        <p:spPr>
          <a:xfrm>
            <a:off x="793228" y="3363938"/>
            <a:ext cx="18517642" cy="1307031"/>
          </a:xfrm>
          <a:prstGeom prst="rect">
            <a:avLst/>
          </a:prstGeom>
        </p:spPr>
        <p:txBody>
          <a:bodyPr/>
          <a:lstStyle/>
          <a:p>
            <a:pPr indent="7456169">
              <a:spcBef>
                <a:spcPts val="100"/>
              </a:spcBef>
              <a:defRPr spc="-400"/>
            </a:pPr>
            <a:r>
              <a:rPr lang="zh-CN" altLang="en-US" dirty="0"/>
              <a:t>如何加入“员工福利计划”？</a:t>
            </a:r>
            <a:endParaRPr spc="-300" dirty="0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30FE604-B829-3649-FBDF-1603942CC2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81" y="615009"/>
            <a:ext cx="4656838" cy="190963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1427</Words>
  <Application>Microsoft Office PowerPoint</Application>
  <PresentationFormat>Custom</PresentationFormat>
  <Paragraphs>206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Euphemia UCAS</vt:lpstr>
      <vt:lpstr>Helvetica Neue</vt:lpstr>
      <vt:lpstr>Arial</vt:lpstr>
      <vt:lpstr>Calibri</vt:lpstr>
      <vt:lpstr>Helvetica</vt:lpstr>
      <vt:lpstr>Lucida Sans Unicode</vt:lpstr>
      <vt:lpstr>Office Theme</vt:lpstr>
      <vt:lpstr>员工福利计划</vt:lpstr>
      <vt:lpstr>PowerPoint Presentation</vt:lpstr>
      <vt:lpstr>PowerPoint Presentation</vt:lpstr>
      <vt:lpstr>这对每个人来说都是双赢！</vt:lpstr>
      <vt:lpstr>分配估算</vt:lpstr>
      <vt:lpstr>这是如何运作的？</vt:lpstr>
      <vt:lpstr>PowerPoint Presentation</vt:lpstr>
      <vt:lpstr>PowerPoint Presentation</vt:lpstr>
      <vt:lpstr>分配的补充福利</vt:lpstr>
      <vt:lpstr>如何加入“员工福利计划”？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Ted</dc:creator>
  <cp:lastModifiedBy>Ganhe  Zhang</cp:lastModifiedBy>
  <cp:revision>8</cp:revision>
  <dcterms:modified xsi:type="dcterms:W3CDTF">2025-01-16T01:11:30Z</dcterms:modified>
</cp:coreProperties>
</file>