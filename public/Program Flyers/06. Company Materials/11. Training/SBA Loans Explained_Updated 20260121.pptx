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Montserrat Bold" charset="1" panose="00000800000000000000"/>
      <p:regular r:id="rId23"/>
    </p:embeddedFont>
    <p:embeddedFont>
      <p:font typeface="Arial" charset="1" panose="020B0604020202020204"/>
      <p:regular r:id="rId24"/>
    </p:embeddedFont>
    <p:embeddedFont>
      <p:font typeface="Arial Bold" charset="1" panose="020B0704020202020204"/>
      <p:regular r:id="rId25"/>
    </p:embeddedFont>
    <p:embeddedFont>
      <p:font typeface="Arial Italics" charset="1" panose="020B0604020202090204"/>
      <p:regular r:id="rId27"/>
    </p:embeddedFont>
    <p:embeddedFont>
      <p:font typeface="Montserrat" charset="1" panose="0000050000000000000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notesMasters/notesMaster1.xml" Type="http://schemas.openxmlformats.org/officeDocument/2006/relationships/notesMaster"/><Relationship Id="rId21" Target="theme/theme2.xml" Type="http://schemas.openxmlformats.org/officeDocument/2006/relationships/theme"/><Relationship Id="rId22" Target="notesSlides/notesSlide1.xml" Type="http://schemas.openxmlformats.org/officeDocument/2006/relationships/notes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Slides/notesSlide2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notesSlides/notesSlide7.xml" Type="http://schemas.openxmlformats.org/officeDocument/2006/relationships/notesSlide"/><Relationship Id="rId33" Target="notesSlides/notesSlide8.xml" Type="http://schemas.openxmlformats.org/officeDocument/2006/relationships/notesSlide"/><Relationship Id="rId34" Target="notesSlides/notesSlide9.xml" Type="http://schemas.openxmlformats.org/officeDocument/2006/relationships/notesSlide"/><Relationship Id="rId35" Target="notesSlides/notesSlide10.xml" Type="http://schemas.openxmlformats.org/officeDocument/2006/relationships/notesSlide"/><Relationship Id="rId36" Target="notesSlides/notesSlide11.xml" Type="http://schemas.openxmlformats.org/officeDocument/2006/relationships/notesSlide"/><Relationship Id="rId37" Target="fonts/font37.fntdata" Type="http://schemas.openxmlformats.org/officeDocument/2006/relationships/font"/><Relationship Id="rId38" Target="notesSlides/notesSlide12.xml" Type="http://schemas.openxmlformats.org/officeDocument/2006/relationships/notesSlide"/><Relationship Id="rId39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4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1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3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1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3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3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1.png" Type="http://schemas.openxmlformats.org/officeDocument/2006/relationships/image"/><Relationship Id="rId7" Target="../media/image2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3.png" Type="http://schemas.openxmlformats.org/officeDocument/2006/relationships/image"/><Relationship Id="rId4" Target="../media/image28.png" Type="http://schemas.openxmlformats.org/officeDocument/2006/relationships/image"/><Relationship Id="rId5" Target="../media/image1.pn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3.pn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857250" y="9558338"/>
            <a:ext cx="16573500" cy="371475"/>
          </a:xfrm>
          <a:custGeom>
            <a:avLst/>
            <a:gdLst/>
            <a:ahLst/>
            <a:cxnLst/>
            <a:rect r="r" b="b" t="t" l="l"/>
            <a:pathLst>
              <a:path h="371475" w="16573500">
                <a:moveTo>
                  <a:pt x="0" y="0"/>
                </a:moveTo>
                <a:lnTo>
                  <a:pt x="16573500" y="0"/>
                </a:lnTo>
                <a:lnTo>
                  <a:pt x="16573500" y="371474"/>
                </a:lnTo>
                <a:lnTo>
                  <a:pt x="0" y="3714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14300"/>
            <a:chOff x="0" y="0"/>
            <a:chExt cx="24384000" cy="152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52400"/>
            </a:xfrm>
            <a:custGeom>
              <a:avLst/>
              <a:gdLst/>
              <a:ahLst/>
              <a:cxnLst/>
              <a:rect r="r" b="b" t="t" l="l"/>
              <a:pathLst>
                <a:path h="152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F2A4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143000" y="6366424"/>
            <a:ext cx="1714500" cy="57150"/>
            <a:chOff x="0" y="0"/>
            <a:chExt cx="2286000" cy="76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86000" cy="76200"/>
            </a:xfrm>
            <a:custGeom>
              <a:avLst/>
              <a:gdLst/>
              <a:ahLst/>
              <a:cxnLst/>
              <a:rect r="r" b="b" t="t" l="l"/>
              <a:pathLst>
                <a:path h="762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F2A4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4359591" y="1028700"/>
            <a:ext cx="2871134" cy="940254"/>
          </a:xfrm>
          <a:custGeom>
            <a:avLst/>
            <a:gdLst/>
            <a:ahLst/>
            <a:cxnLst/>
            <a:rect r="r" b="b" t="t" l="l"/>
            <a:pathLst>
              <a:path h="940254" w="2871134">
                <a:moveTo>
                  <a:pt x="0" y="0"/>
                </a:moveTo>
                <a:lnTo>
                  <a:pt x="2871134" y="0"/>
                </a:lnTo>
                <a:lnTo>
                  <a:pt x="2871134" y="940254"/>
                </a:lnTo>
                <a:lnTo>
                  <a:pt x="0" y="940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2600773"/>
            <a:ext cx="17145000" cy="2348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92"/>
              </a:lnSpc>
            </a:pPr>
            <a:r>
              <a:rPr lang="en-US" b="true" sz="8100">
                <a:solidFill>
                  <a:srgbClr val="0F2A4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SBA Loans</a:t>
            </a:r>
          </a:p>
          <a:p>
            <a:pPr algn="l">
              <a:lnSpc>
                <a:spcPts val="10692"/>
              </a:lnSpc>
            </a:pPr>
            <a:r>
              <a:rPr lang="en-US" b="true" sz="8100">
                <a:solidFill>
                  <a:srgbClr val="C9A2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Explained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000" y="5358851"/>
            <a:ext cx="17145000" cy="721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1"/>
              </a:lnSpc>
            </a:pPr>
            <a:r>
              <a:rPr lang="en-US" sz="315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Understanding SBA 7(a) and 504 Loans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000" y="6976024"/>
            <a:ext cx="17145000" cy="738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202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Presented by: </a:t>
            </a:r>
            <a:r>
              <a:rPr lang="en-US" b="true" sz="2025">
                <a:solidFill>
                  <a:srgbClr val="64748B"/>
                </a:solidFill>
                <a:latin typeface="Arial Bold"/>
                <a:ea typeface="Arial Bold"/>
                <a:cs typeface="Arial Bold"/>
                <a:sym typeface="Arial Bold"/>
              </a:rPr>
              <a:t>Stephanie Thomas</a:t>
            </a:r>
            <a:r>
              <a:rPr lang="en-US" sz="202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, SBA BDO</a:t>
            </a:r>
          </a:p>
          <a:p>
            <a:pPr algn="l">
              <a:lnSpc>
                <a:spcPts val="2550"/>
              </a:lnSpc>
            </a:pPr>
            <a:r>
              <a:rPr lang="en-US" sz="202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 Hanover Bank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7250" y="9696450"/>
            <a:ext cx="2614612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HANOVER BANK | SBA DIVISION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30725" y="9696450"/>
            <a:ext cx="200025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 descr="image.png"/>
          <p:cNvSpPr/>
          <p:nvPr/>
        </p:nvSpPr>
        <p:spPr>
          <a:xfrm flipH="false" flipV="false" rot="0">
            <a:off x="9429750" y="2314575"/>
            <a:ext cx="8001000" cy="4106094"/>
          </a:xfrm>
          <a:custGeom>
            <a:avLst/>
            <a:gdLst/>
            <a:ahLst/>
            <a:cxnLst/>
            <a:rect r="r" b="b" t="t" l="l"/>
            <a:pathLst>
              <a:path h="4106094" w="8001000">
                <a:moveTo>
                  <a:pt x="0" y="0"/>
                </a:moveTo>
                <a:lnTo>
                  <a:pt x="8001000" y="0"/>
                </a:lnTo>
                <a:lnTo>
                  <a:pt x="8001000" y="4106094"/>
                </a:lnTo>
                <a:lnTo>
                  <a:pt x="0" y="41060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212"/>
            </a:stretch>
          </a:blipFill>
        </p:spPr>
      </p:sp>
      <p:sp>
        <p:nvSpPr>
          <p:cNvPr name="Freeform 4" id="4" descr="image.png"/>
          <p:cNvSpPr/>
          <p:nvPr/>
        </p:nvSpPr>
        <p:spPr>
          <a:xfrm flipH="false" flipV="false" rot="0">
            <a:off x="857250" y="6578113"/>
            <a:ext cx="8001000" cy="891407"/>
          </a:xfrm>
          <a:custGeom>
            <a:avLst/>
            <a:gdLst/>
            <a:ahLst/>
            <a:cxnLst/>
            <a:rect r="r" b="b" t="t" l="l"/>
            <a:pathLst>
              <a:path h="891407" w="8001000">
                <a:moveTo>
                  <a:pt x="0" y="0"/>
                </a:moveTo>
                <a:lnTo>
                  <a:pt x="8001000" y="0"/>
                </a:lnTo>
                <a:lnTo>
                  <a:pt x="8001000" y="891406"/>
                </a:lnTo>
                <a:lnTo>
                  <a:pt x="0" y="8914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976"/>
            </a:stretch>
          </a:blipFill>
        </p:spPr>
      </p:sp>
      <p:sp>
        <p:nvSpPr>
          <p:cNvPr name="Freeform 5" id="5" descr="image.png"/>
          <p:cNvSpPr/>
          <p:nvPr/>
        </p:nvSpPr>
        <p:spPr>
          <a:xfrm flipH="false" flipV="false" rot="0">
            <a:off x="857250" y="9558338"/>
            <a:ext cx="16573500" cy="371475"/>
          </a:xfrm>
          <a:custGeom>
            <a:avLst/>
            <a:gdLst/>
            <a:ahLst/>
            <a:cxnLst/>
            <a:rect r="r" b="b" t="t" l="l"/>
            <a:pathLst>
              <a:path h="371475" w="16573500">
                <a:moveTo>
                  <a:pt x="0" y="0"/>
                </a:moveTo>
                <a:lnTo>
                  <a:pt x="16573500" y="0"/>
                </a:lnTo>
                <a:lnTo>
                  <a:pt x="16573500" y="371474"/>
                </a:lnTo>
                <a:lnTo>
                  <a:pt x="0" y="3714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0"/>
            <a:ext cx="18288000" cy="114300"/>
            <a:chOff x="0" y="0"/>
            <a:chExt cx="24384000" cy="152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52400"/>
            </a:xfrm>
            <a:custGeom>
              <a:avLst/>
              <a:gdLst/>
              <a:ahLst/>
              <a:cxnLst/>
              <a:rect r="r" b="b" t="t" l="l"/>
              <a:pathLst>
                <a:path h="152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F2A4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857250" y="9696450"/>
            <a:ext cx="2614612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HANOVER BANK | SBA DIVISION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30725" y="9696450"/>
            <a:ext cx="200025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sp>
        <p:nvSpPr>
          <p:cNvPr name="Freeform 10" id="10" descr="image.png"/>
          <p:cNvSpPr/>
          <p:nvPr/>
        </p:nvSpPr>
        <p:spPr>
          <a:xfrm flipH="false" flipV="false" rot="0">
            <a:off x="9429750" y="3339203"/>
            <a:ext cx="8001000" cy="4106094"/>
          </a:xfrm>
          <a:custGeom>
            <a:avLst/>
            <a:gdLst/>
            <a:ahLst/>
            <a:cxnLst/>
            <a:rect r="r" b="b" t="t" l="l"/>
            <a:pathLst>
              <a:path h="4106094" w="8001000">
                <a:moveTo>
                  <a:pt x="0" y="0"/>
                </a:moveTo>
                <a:lnTo>
                  <a:pt x="8001000" y="0"/>
                </a:lnTo>
                <a:lnTo>
                  <a:pt x="8001000" y="4106094"/>
                </a:lnTo>
                <a:lnTo>
                  <a:pt x="0" y="41060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212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85875" y="3249125"/>
            <a:ext cx="7572375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SBA loans are partially guaranteed by the U.S. Small Business Administration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5875" y="4263538"/>
            <a:ext cx="757237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Issued by banks and CDCs, not directly by the SBA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5875" y="4877900"/>
            <a:ext cx="757237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Designed to help small businesses access affordable financing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5875" y="5892313"/>
            <a:ext cx="757237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Two most common programs: </a:t>
            </a:r>
            <a:r>
              <a:rPr lang="en-US" b="true" sz="2250">
                <a:solidFill>
                  <a:srgbClr val="334155"/>
                </a:solidFill>
                <a:latin typeface="Arial Bold"/>
                <a:ea typeface="Arial Bold"/>
                <a:cs typeface="Arial Bold"/>
                <a:sym typeface="Arial Bold"/>
              </a:rPr>
              <a:t>SBA 7(a)</a:t>
            </a:r>
            <a:r>
              <a:rPr lang="en-US" sz="2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b="true" sz="2250">
                <a:solidFill>
                  <a:srgbClr val="334155"/>
                </a:solidFill>
                <a:latin typeface="Arial Bold"/>
                <a:ea typeface="Arial Bold"/>
                <a:cs typeface="Arial Bold"/>
                <a:sym typeface="Arial Bold"/>
              </a:rPr>
              <a:t>SBA 504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0150" y="6759088"/>
            <a:ext cx="7372350" cy="424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1800" i="true">
                <a:solidFill>
                  <a:srgbClr val="334155"/>
                </a:solidFill>
                <a:latin typeface="Arial Italics"/>
                <a:ea typeface="Arial Italics"/>
                <a:cs typeface="Arial Italics"/>
                <a:sym typeface="Arial Italics"/>
              </a:rPr>
              <a:t>"Helping small businesses grow through strategic federal guarantees."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7250" y="3249125"/>
            <a:ext cx="2286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250">
                <a:solidFill>
                  <a:srgbClr val="C9A24D"/>
                </a:solidFill>
                <a:latin typeface="Arial Bold"/>
                <a:ea typeface="Arial Bold"/>
                <a:cs typeface="Arial Bold"/>
                <a:sym typeface="Arial Bold"/>
              </a:rPr>
              <a:t>—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7250" y="4263538"/>
            <a:ext cx="2286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250">
                <a:solidFill>
                  <a:srgbClr val="C9A24D"/>
                </a:solidFill>
                <a:latin typeface="Arial Bold"/>
                <a:ea typeface="Arial Bold"/>
                <a:cs typeface="Arial Bold"/>
                <a:sym typeface="Arial Bold"/>
              </a:rPr>
              <a:t>—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57250" y="4877900"/>
            <a:ext cx="2286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250">
                <a:solidFill>
                  <a:srgbClr val="C9A24D"/>
                </a:solidFill>
                <a:latin typeface="Arial Bold"/>
                <a:ea typeface="Arial Bold"/>
                <a:cs typeface="Arial Bold"/>
                <a:sym typeface="Arial Bold"/>
              </a:rPr>
              <a:t>—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57250" y="5878025"/>
            <a:ext cx="2286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250">
                <a:solidFill>
                  <a:srgbClr val="C9A24D"/>
                </a:solidFill>
                <a:latin typeface="Arial Bold"/>
                <a:ea typeface="Arial Bold"/>
                <a:cs typeface="Arial Bold"/>
                <a:sym typeface="Arial Bold"/>
              </a:rPr>
              <a:t>—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57250" y="971550"/>
            <a:ext cx="17402175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b="true" sz="4725">
                <a:solidFill>
                  <a:srgbClr val="0F2A4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IS AN SBA LOAN?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57250" y="2000250"/>
            <a:ext cx="1143000" cy="28575"/>
            <a:chOff x="0" y="0"/>
            <a:chExt cx="1524000" cy="38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24000" cy="38100"/>
            </a:xfrm>
            <a:custGeom>
              <a:avLst/>
              <a:gdLst/>
              <a:ahLst/>
              <a:cxnLst/>
              <a:rect r="r" b="b" t="t" l="l"/>
              <a:pathLst>
                <a:path h="381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9A24D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14300"/>
            <a:chOff x="0" y="0"/>
            <a:chExt cx="24384000" cy="152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52400"/>
            </a:xfrm>
            <a:custGeom>
              <a:avLst/>
              <a:gdLst/>
              <a:ahLst/>
              <a:cxnLst/>
              <a:rect r="r" b="b" t="t" l="l"/>
              <a:pathLst>
                <a:path h="152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F2A4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3345771" y="4232005"/>
            <a:ext cx="11596449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b="true" sz="72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SBA 7(a) Loan Program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621881" y="5489305"/>
            <a:ext cx="11044238" cy="622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6"/>
              </a:lnSpc>
            </a:pPr>
            <a:r>
              <a:rPr lang="en-US" sz="27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THE MOST FLEXIBLE SOLUTION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429625" y="6112145"/>
            <a:ext cx="1428750" cy="57150"/>
            <a:chOff x="0" y="0"/>
            <a:chExt cx="1905000" cy="76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05000" cy="76200"/>
            </a:xfrm>
            <a:custGeom>
              <a:avLst/>
              <a:gdLst/>
              <a:ahLst/>
              <a:cxnLst/>
              <a:rect r="r" b="b" t="t" l="l"/>
              <a:pathLst>
                <a:path h="762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9A24D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 descr="image.png"/>
          <p:cNvSpPr/>
          <p:nvPr/>
        </p:nvSpPr>
        <p:spPr>
          <a:xfrm flipH="false" flipV="false" rot="0">
            <a:off x="857250" y="7158038"/>
            <a:ext cx="16573500" cy="1662932"/>
          </a:xfrm>
          <a:custGeom>
            <a:avLst/>
            <a:gdLst/>
            <a:ahLst/>
            <a:cxnLst/>
            <a:rect r="r" b="b" t="t" l="l"/>
            <a:pathLst>
              <a:path h="1662932" w="16573500">
                <a:moveTo>
                  <a:pt x="0" y="0"/>
                </a:moveTo>
                <a:lnTo>
                  <a:pt x="16573500" y="0"/>
                </a:lnTo>
                <a:lnTo>
                  <a:pt x="16573500" y="1662931"/>
                </a:lnTo>
                <a:lnTo>
                  <a:pt x="0" y="16629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523"/>
            </a:stretch>
          </a:blipFill>
        </p:spPr>
      </p:sp>
      <p:sp>
        <p:nvSpPr>
          <p:cNvPr name="Freeform 4" id="4" descr="image.png"/>
          <p:cNvSpPr/>
          <p:nvPr/>
        </p:nvSpPr>
        <p:spPr>
          <a:xfrm flipH="false" flipV="false" rot="0">
            <a:off x="857250" y="2314575"/>
            <a:ext cx="8001000" cy="4414838"/>
          </a:xfrm>
          <a:custGeom>
            <a:avLst/>
            <a:gdLst/>
            <a:ahLst/>
            <a:cxnLst/>
            <a:rect r="r" b="b" t="t" l="l"/>
            <a:pathLst>
              <a:path h="4414838" w="8001000">
                <a:moveTo>
                  <a:pt x="0" y="0"/>
                </a:moveTo>
                <a:lnTo>
                  <a:pt x="8001000" y="0"/>
                </a:lnTo>
                <a:lnTo>
                  <a:pt x="8001000" y="4414837"/>
                </a:lnTo>
                <a:lnTo>
                  <a:pt x="0" y="44148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 descr="image.png"/>
          <p:cNvSpPr/>
          <p:nvPr/>
        </p:nvSpPr>
        <p:spPr>
          <a:xfrm flipH="false" flipV="false" rot="0">
            <a:off x="9429750" y="2314575"/>
            <a:ext cx="8001000" cy="4414838"/>
          </a:xfrm>
          <a:custGeom>
            <a:avLst/>
            <a:gdLst/>
            <a:ahLst/>
            <a:cxnLst/>
            <a:rect r="r" b="b" t="t" l="l"/>
            <a:pathLst>
              <a:path h="4414838" w="8001000">
                <a:moveTo>
                  <a:pt x="0" y="0"/>
                </a:moveTo>
                <a:lnTo>
                  <a:pt x="8001000" y="0"/>
                </a:lnTo>
                <a:lnTo>
                  <a:pt x="8001000" y="4414837"/>
                </a:lnTo>
                <a:lnTo>
                  <a:pt x="0" y="44148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 descr="image.png"/>
          <p:cNvSpPr/>
          <p:nvPr/>
        </p:nvSpPr>
        <p:spPr>
          <a:xfrm flipH="false" flipV="false" rot="0">
            <a:off x="857250" y="9558338"/>
            <a:ext cx="16573500" cy="371475"/>
          </a:xfrm>
          <a:custGeom>
            <a:avLst/>
            <a:gdLst/>
            <a:ahLst/>
            <a:cxnLst/>
            <a:rect r="r" b="b" t="t" l="l"/>
            <a:pathLst>
              <a:path h="371475" w="16573500">
                <a:moveTo>
                  <a:pt x="0" y="0"/>
                </a:moveTo>
                <a:lnTo>
                  <a:pt x="16573500" y="0"/>
                </a:lnTo>
                <a:lnTo>
                  <a:pt x="16573500" y="371474"/>
                </a:lnTo>
                <a:lnTo>
                  <a:pt x="0" y="3714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0" y="0"/>
            <a:ext cx="18288000" cy="114300"/>
            <a:chOff x="0" y="0"/>
            <a:chExt cx="24384000" cy="152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152400"/>
            </a:xfrm>
            <a:custGeom>
              <a:avLst/>
              <a:gdLst/>
              <a:ahLst/>
              <a:cxnLst/>
              <a:rect r="r" b="b" t="t" l="l"/>
              <a:pathLst>
                <a:path h="152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F2A4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857250" y="9696450"/>
            <a:ext cx="2614612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HANOVER BANK | SBA DIVISION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30725" y="9696450"/>
            <a:ext cx="200025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5875" y="7515225"/>
            <a:ext cx="16577072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B9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Prohibited Uses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5875" y="8039100"/>
            <a:ext cx="15787688" cy="424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1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Investment or speculative purposes, Passive real estate, Paying delinquent taxes (unapproved), Personal expenses, Lending to others.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5875" y="2671762"/>
            <a:ext cx="7575947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1F4E7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Allowed Uses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58375" y="2671762"/>
            <a:ext cx="7575947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1F4E7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Program Specs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58375" y="3186112"/>
            <a:ext cx="721518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250">
                <a:solidFill>
                  <a:srgbClr val="334155"/>
                </a:solidFill>
                <a:latin typeface="Arial Bold"/>
                <a:ea typeface="Arial Bold"/>
                <a:cs typeface="Arial Bold"/>
                <a:sym typeface="Arial Bold"/>
              </a:rPr>
              <a:t>Max Amount:</a:t>
            </a:r>
            <a:r>
              <a:rPr lang="en-US" sz="2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$5 Million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58375" y="3586162"/>
            <a:ext cx="721518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250">
                <a:solidFill>
                  <a:srgbClr val="334155"/>
                </a:solidFill>
                <a:latin typeface="Arial Bold"/>
                <a:ea typeface="Arial Bold"/>
                <a:cs typeface="Arial Bold"/>
                <a:sym typeface="Arial Bold"/>
              </a:rPr>
              <a:t>Guarantee:</a:t>
            </a:r>
            <a:r>
              <a:rPr lang="en-US" sz="2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75-85%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58375" y="3986212"/>
            <a:ext cx="721518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250">
                <a:solidFill>
                  <a:srgbClr val="334155"/>
                </a:solidFill>
                <a:latin typeface="Arial Bold"/>
                <a:ea typeface="Arial Bold"/>
                <a:cs typeface="Arial Bold"/>
                <a:sym typeface="Arial Bold"/>
              </a:rPr>
              <a:t>Rates:</a:t>
            </a:r>
            <a:r>
              <a:rPr lang="en-US" sz="2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Fixed or Variable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58375" y="4386262"/>
            <a:ext cx="7215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250">
                <a:solidFill>
                  <a:srgbClr val="334155"/>
                </a:solidFill>
                <a:latin typeface="Arial Bold"/>
                <a:ea typeface="Arial Bold"/>
                <a:cs typeface="Arial Bold"/>
                <a:sym typeface="Arial Bold"/>
              </a:rPr>
              <a:t>Terms:</a:t>
            </a:r>
            <a:r>
              <a:rPr lang="en-US" sz="2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10 years (Working Cap/Equip) or 25 years (Real Estate)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14500" y="3186112"/>
            <a:ext cx="678656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Purchase or refinance commercial real estate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14500" y="3800475"/>
            <a:ext cx="678656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Working capital and operating expenses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14500" y="4414838"/>
            <a:ext cx="678656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Business acquisition or partner buyout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14500" y="5029200"/>
            <a:ext cx="678656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Equipment and machinery purchases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14500" y="5643562"/>
            <a:ext cx="678656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Refinance existing business debt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85875" y="3186112"/>
            <a:ext cx="2286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250">
                <a:solidFill>
                  <a:srgbClr val="C9A24D"/>
                </a:solidFill>
                <a:latin typeface="Arial Bold"/>
                <a:ea typeface="Arial Bold"/>
                <a:cs typeface="Arial Bold"/>
                <a:sym typeface="Arial Bold"/>
              </a:rPr>
              <a:t>—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85875" y="3800475"/>
            <a:ext cx="2286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250">
                <a:solidFill>
                  <a:srgbClr val="C9A24D"/>
                </a:solidFill>
                <a:latin typeface="Arial Bold"/>
                <a:ea typeface="Arial Bold"/>
                <a:cs typeface="Arial Bold"/>
                <a:sym typeface="Arial Bold"/>
              </a:rPr>
              <a:t>—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85875" y="4414838"/>
            <a:ext cx="2286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250">
                <a:solidFill>
                  <a:srgbClr val="C9A24D"/>
                </a:solidFill>
                <a:latin typeface="Arial Bold"/>
                <a:ea typeface="Arial Bold"/>
                <a:cs typeface="Arial Bold"/>
                <a:sym typeface="Arial Bold"/>
              </a:rPr>
              <a:t>—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85875" y="5029200"/>
            <a:ext cx="2286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250">
                <a:solidFill>
                  <a:srgbClr val="C9A24D"/>
                </a:solidFill>
                <a:latin typeface="Arial Bold"/>
                <a:ea typeface="Arial Bold"/>
                <a:cs typeface="Arial Bold"/>
                <a:sym typeface="Arial Bold"/>
              </a:rPr>
              <a:t>—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5875" y="5643562"/>
            <a:ext cx="2286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250">
                <a:solidFill>
                  <a:srgbClr val="C9A24D"/>
                </a:solidFill>
                <a:latin typeface="Arial Bold"/>
                <a:ea typeface="Arial Bold"/>
                <a:cs typeface="Arial Bold"/>
                <a:sym typeface="Arial Bold"/>
              </a:rPr>
              <a:t>—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57250" y="971550"/>
            <a:ext cx="17402175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b="true" sz="4725">
                <a:solidFill>
                  <a:srgbClr val="0F2A4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7(A) USAGE AND PARAMETERS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57250" y="2000250"/>
            <a:ext cx="1143000" cy="28575"/>
            <a:chOff x="0" y="0"/>
            <a:chExt cx="1524000" cy="381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24000" cy="38100"/>
            </a:xfrm>
            <a:custGeom>
              <a:avLst/>
              <a:gdLst/>
              <a:ahLst/>
              <a:cxnLst/>
              <a:rect r="r" b="b" t="t" l="l"/>
              <a:pathLst>
                <a:path h="381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9A24D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14300"/>
            <a:chOff x="0" y="0"/>
            <a:chExt cx="24384000" cy="152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52400"/>
            </a:xfrm>
            <a:custGeom>
              <a:avLst/>
              <a:gdLst/>
              <a:ahLst/>
              <a:cxnLst/>
              <a:rect r="r" b="b" t="t" l="l"/>
              <a:pathLst>
                <a:path h="152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F2A4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3345771" y="4232005"/>
            <a:ext cx="11596449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b="true" sz="72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SBA 504 Loan Program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621881" y="5489305"/>
            <a:ext cx="11044238" cy="622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6"/>
              </a:lnSpc>
            </a:pPr>
            <a:r>
              <a:rPr lang="en-US" sz="27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FIXED ASSET FINANCING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429625" y="6112145"/>
            <a:ext cx="1428750" cy="57150"/>
            <a:chOff x="0" y="0"/>
            <a:chExt cx="1905000" cy="76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05000" cy="76200"/>
            </a:xfrm>
            <a:custGeom>
              <a:avLst/>
              <a:gdLst/>
              <a:ahLst/>
              <a:cxnLst/>
              <a:rect r="r" b="b" t="t" l="l"/>
              <a:pathLst>
                <a:path h="762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9A24D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 descr="image.png"/>
          <p:cNvSpPr/>
          <p:nvPr/>
        </p:nvSpPr>
        <p:spPr>
          <a:xfrm flipH="false" flipV="false" rot="0">
            <a:off x="860822" y="2456341"/>
            <a:ext cx="8001000" cy="6134242"/>
          </a:xfrm>
          <a:custGeom>
            <a:avLst/>
            <a:gdLst/>
            <a:ahLst/>
            <a:cxnLst/>
            <a:rect r="r" b="b" t="t" l="l"/>
            <a:pathLst>
              <a:path h="6134242" w="8001000">
                <a:moveTo>
                  <a:pt x="0" y="0"/>
                </a:moveTo>
                <a:lnTo>
                  <a:pt x="8001000" y="0"/>
                </a:lnTo>
                <a:lnTo>
                  <a:pt x="8001000" y="6134242"/>
                </a:lnTo>
                <a:lnTo>
                  <a:pt x="0" y="61342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160" t="0" r="-11160" b="0"/>
            </a:stretch>
          </a:blipFill>
        </p:spPr>
      </p:sp>
      <p:sp>
        <p:nvSpPr>
          <p:cNvPr name="Freeform 4" id="4" descr="image.png"/>
          <p:cNvSpPr/>
          <p:nvPr/>
        </p:nvSpPr>
        <p:spPr>
          <a:xfrm flipH="false" flipV="false" rot="0">
            <a:off x="9429750" y="2314575"/>
            <a:ext cx="8001000" cy="6276008"/>
          </a:xfrm>
          <a:custGeom>
            <a:avLst/>
            <a:gdLst/>
            <a:ahLst/>
            <a:cxnLst/>
            <a:rect r="r" b="b" t="t" l="l"/>
            <a:pathLst>
              <a:path h="6276008" w="8001000">
                <a:moveTo>
                  <a:pt x="0" y="0"/>
                </a:moveTo>
                <a:lnTo>
                  <a:pt x="8001000" y="0"/>
                </a:lnTo>
                <a:lnTo>
                  <a:pt x="8001000" y="6276008"/>
                </a:lnTo>
                <a:lnTo>
                  <a:pt x="0" y="62760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573" t="0" r="-12573" b="0"/>
            </a:stretch>
          </a:blipFill>
        </p:spPr>
      </p:sp>
      <p:sp>
        <p:nvSpPr>
          <p:cNvPr name="Freeform 5" id="5" descr="image.png"/>
          <p:cNvSpPr/>
          <p:nvPr/>
        </p:nvSpPr>
        <p:spPr>
          <a:xfrm flipH="false" flipV="false" rot="0">
            <a:off x="857250" y="9558338"/>
            <a:ext cx="16573500" cy="371475"/>
          </a:xfrm>
          <a:custGeom>
            <a:avLst/>
            <a:gdLst/>
            <a:ahLst/>
            <a:cxnLst/>
            <a:rect r="r" b="b" t="t" l="l"/>
            <a:pathLst>
              <a:path h="371475" w="16573500">
                <a:moveTo>
                  <a:pt x="0" y="0"/>
                </a:moveTo>
                <a:lnTo>
                  <a:pt x="16573500" y="0"/>
                </a:lnTo>
                <a:lnTo>
                  <a:pt x="16573500" y="371474"/>
                </a:lnTo>
                <a:lnTo>
                  <a:pt x="0" y="3714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0"/>
            <a:ext cx="18288000" cy="114300"/>
            <a:chOff x="0" y="0"/>
            <a:chExt cx="24384000" cy="152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52400"/>
            </a:xfrm>
            <a:custGeom>
              <a:avLst/>
              <a:gdLst/>
              <a:ahLst/>
              <a:cxnLst/>
              <a:rect r="r" b="b" t="t" l="l"/>
              <a:pathLst>
                <a:path h="152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F2A4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857250" y="9696450"/>
            <a:ext cx="2614612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HANOVER BANK | SBA DIVISION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30725" y="9696450"/>
            <a:ext cx="200025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5875" y="2671762"/>
            <a:ext cx="7575947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1F4E7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Typical Structure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5875" y="3929063"/>
            <a:ext cx="7215188" cy="36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5"/>
              </a:lnSpc>
            </a:pPr>
            <a:r>
              <a:rPr lang="en-US" sz="1575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Max SBA Portion: $5.5 Million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58375" y="2671762"/>
            <a:ext cx="7575947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1F4E7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Prohibited Uses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85875" y="3300412"/>
            <a:ext cx="3321844" cy="571500"/>
            <a:chOff x="0" y="0"/>
            <a:chExt cx="4429125" cy="762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29125" cy="762000"/>
            </a:xfrm>
            <a:custGeom>
              <a:avLst/>
              <a:gdLst/>
              <a:ahLst/>
              <a:cxnLst/>
              <a:rect r="r" b="b" t="t" l="l"/>
              <a:pathLst>
                <a:path h="762000" w="4429125">
                  <a:moveTo>
                    <a:pt x="0" y="0"/>
                  </a:moveTo>
                  <a:lnTo>
                    <a:pt x="4429125" y="0"/>
                  </a:lnTo>
                  <a:lnTo>
                    <a:pt x="4429125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0F2A4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428750" y="3424238"/>
            <a:ext cx="303609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50% Bank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750594" y="3300412"/>
            <a:ext cx="2714625" cy="571500"/>
            <a:chOff x="0" y="0"/>
            <a:chExt cx="3619500" cy="762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19500" cy="762000"/>
            </a:xfrm>
            <a:custGeom>
              <a:avLst/>
              <a:gdLst/>
              <a:ahLst/>
              <a:cxnLst/>
              <a:rect r="r" b="b" t="t" l="l"/>
              <a:pathLst>
                <a:path h="7620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C9A24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4893469" y="3424238"/>
            <a:ext cx="242887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40% SBA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608094" y="3300412"/>
            <a:ext cx="892969" cy="571500"/>
            <a:chOff x="0" y="0"/>
            <a:chExt cx="1190625" cy="762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90625" cy="762000"/>
            </a:xfrm>
            <a:custGeom>
              <a:avLst/>
              <a:gdLst/>
              <a:ahLst/>
              <a:cxnLst/>
              <a:rect r="r" b="b" t="t" l="l"/>
              <a:pathLst>
                <a:path h="762000" w="1190625">
                  <a:moveTo>
                    <a:pt x="0" y="0"/>
                  </a:moveTo>
                  <a:lnTo>
                    <a:pt x="1190625" y="0"/>
                  </a:lnTo>
                  <a:lnTo>
                    <a:pt x="1190625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CBD5E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7781396" y="3424238"/>
            <a:ext cx="546365" cy="285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0F2A44"/>
                </a:solidFill>
                <a:latin typeface="Arial"/>
                <a:ea typeface="Arial"/>
                <a:cs typeface="Arial"/>
                <a:sym typeface="Arial"/>
              </a:rPr>
              <a:t>10%*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14500" y="4394749"/>
            <a:ext cx="6786562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Owner-occupied commercial real estate purchases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14500" y="5009112"/>
            <a:ext cx="678656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Ground-up construction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14500" y="5623474"/>
            <a:ext cx="678656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Heavy machinery (long useful life)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14500" y="6237837"/>
            <a:ext cx="678656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Refinance eligible fixed assets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0" y="3186112"/>
            <a:ext cx="678656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Working capital or inventory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0" y="3800475"/>
            <a:ext cx="678656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Business acquisition (no RE/Equip)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0" y="4414838"/>
            <a:ext cx="678656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Investment properties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0" y="5029200"/>
            <a:ext cx="678656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Soft costs not tied to fixed assets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7000" y="5643562"/>
            <a:ext cx="678656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Short-term or revolving needs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85875" y="4394749"/>
            <a:ext cx="2286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250">
                <a:solidFill>
                  <a:srgbClr val="C9A24D"/>
                </a:solidFill>
                <a:latin typeface="Arial Bold"/>
                <a:ea typeface="Arial Bold"/>
                <a:cs typeface="Arial Bold"/>
                <a:sym typeface="Arial Bold"/>
              </a:rPr>
              <a:t>—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85875" y="5009112"/>
            <a:ext cx="2286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250">
                <a:solidFill>
                  <a:srgbClr val="C9A24D"/>
                </a:solidFill>
                <a:latin typeface="Arial Bold"/>
                <a:ea typeface="Arial Bold"/>
                <a:cs typeface="Arial Bold"/>
                <a:sym typeface="Arial Bold"/>
              </a:rPr>
              <a:t>—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85875" y="5623474"/>
            <a:ext cx="2286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250">
                <a:solidFill>
                  <a:srgbClr val="C9A24D"/>
                </a:solidFill>
                <a:latin typeface="Arial Bold"/>
                <a:ea typeface="Arial Bold"/>
                <a:cs typeface="Arial Bold"/>
                <a:sym typeface="Arial Bold"/>
              </a:rPr>
              <a:t>—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85875" y="6237837"/>
            <a:ext cx="2286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250">
                <a:solidFill>
                  <a:srgbClr val="C9A24D"/>
                </a:solidFill>
                <a:latin typeface="Arial Bold"/>
                <a:ea typeface="Arial Bold"/>
                <a:cs typeface="Arial Bold"/>
                <a:sym typeface="Arial Bold"/>
              </a:rPr>
              <a:t>—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858375" y="3186112"/>
            <a:ext cx="2286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250">
                <a:solidFill>
                  <a:srgbClr val="C9A24D"/>
                </a:solidFill>
                <a:latin typeface="Arial Bold"/>
                <a:ea typeface="Arial Bold"/>
                <a:cs typeface="Arial Bold"/>
                <a:sym typeface="Arial Bold"/>
              </a:rPr>
              <a:t>—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858375" y="3800475"/>
            <a:ext cx="2286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250">
                <a:solidFill>
                  <a:srgbClr val="C9A24D"/>
                </a:solidFill>
                <a:latin typeface="Arial Bold"/>
                <a:ea typeface="Arial Bold"/>
                <a:cs typeface="Arial Bold"/>
                <a:sym typeface="Arial Bold"/>
              </a:rPr>
              <a:t>—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858375" y="4414838"/>
            <a:ext cx="2286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250">
                <a:solidFill>
                  <a:srgbClr val="C9A24D"/>
                </a:solidFill>
                <a:latin typeface="Arial Bold"/>
                <a:ea typeface="Arial Bold"/>
                <a:cs typeface="Arial Bold"/>
                <a:sym typeface="Arial Bold"/>
              </a:rPr>
              <a:t>—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858375" y="5029200"/>
            <a:ext cx="2286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250">
                <a:solidFill>
                  <a:srgbClr val="C9A24D"/>
                </a:solidFill>
                <a:latin typeface="Arial Bold"/>
                <a:ea typeface="Arial Bold"/>
                <a:cs typeface="Arial Bold"/>
                <a:sym typeface="Arial Bold"/>
              </a:rPr>
              <a:t>—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858375" y="5643562"/>
            <a:ext cx="2286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250">
                <a:solidFill>
                  <a:srgbClr val="C9A24D"/>
                </a:solidFill>
                <a:latin typeface="Arial Bold"/>
                <a:ea typeface="Arial Bold"/>
                <a:cs typeface="Arial Bold"/>
                <a:sym typeface="Arial Bold"/>
              </a:rPr>
              <a:t>—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57250" y="971550"/>
            <a:ext cx="17402175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b="true" sz="4725">
                <a:solidFill>
                  <a:srgbClr val="0F2A4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504 USAGE AND STRUCTURE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857250" y="2000250"/>
            <a:ext cx="1143000" cy="28575"/>
            <a:chOff x="0" y="0"/>
            <a:chExt cx="1524000" cy="381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524000" cy="38100"/>
            </a:xfrm>
            <a:custGeom>
              <a:avLst/>
              <a:gdLst/>
              <a:ahLst/>
              <a:cxnLst/>
              <a:rect r="r" b="b" t="t" l="l"/>
              <a:pathLst>
                <a:path h="381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9A24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3" id="43"/>
          <p:cNvSpPr txBox="true"/>
          <p:nvPr/>
        </p:nvSpPr>
        <p:spPr>
          <a:xfrm rot="0">
            <a:off x="1285875" y="8062827"/>
            <a:ext cx="8858250" cy="285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F2A44"/>
                </a:solidFill>
                <a:latin typeface="Arial"/>
                <a:ea typeface="Arial"/>
                <a:cs typeface="Arial"/>
                <a:sym typeface="Arial"/>
              </a:rPr>
              <a:t>*10% Borrower Equity (15–20% for special-purpose/startups)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85875" y="6856962"/>
            <a:ext cx="2286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250">
                <a:solidFill>
                  <a:srgbClr val="C9A24D"/>
                </a:solidFill>
                <a:latin typeface="Arial Bold"/>
                <a:ea typeface="Arial Bold"/>
                <a:cs typeface="Arial Bold"/>
                <a:sym typeface="Arial Bold"/>
              </a:rPr>
              <a:t>—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714500" y="6856962"/>
            <a:ext cx="6786562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Must occupy at l</a:t>
            </a:r>
            <a:r>
              <a:rPr lang="en-US" sz="2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east 51% of existing property (60% for new construction)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857250" y="3302356"/>
            <a:ext cx="7700962" cy="2357438"/>
          </a:xfrm>
          <a:custGeom>
            <a:avLst/>
            <a:gdLst/>
            <a:ahLst/>
            <a:cxnLst/>
            <a:rect r="r" b="b" t="t" l="l"/>
            <a:pathLst>
              <a:path h="2357438" w="7700962">
                <a:moveTo>
                  <a:pt x="0" y="0"/>
                </a:moveTo>
                <a:lnTo>
                  <a:pt x="7700962" y="0"/>
                </a:lnTo>
                <a:lnTo>
                  <a:pt x="7700962" y="2357437"/>
                </a:lnTo>
                <a:lnTo>
                  <a:pt x="0" y="23574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85" b="0"/>
            </a:stretch>
          </a:blipFill>
        </p:spPr>
      </p:sp>
      <p:sp>
        <p:nvSpPr>
          <p:cNvPr name="Freeform 3" id="3" descr="image.png"/>
          <p:cNvSpPr/>
          <p:nvPr/>
        </p:nvSpPr>
        <p:spPr>
          <a:xfrm flipH="false" flipV="false" rot="0">
            <a:off x="9429750" y="4103637"/>
            <a:ext cx="8001000" cy="2412644"/>
          </a:xfrm>
          <a:custGeom>
            <a:avLst/>
            <a:gdLst/>
            <a:ahLst/>
            <a:cxnLst/>
            <a:rect r="r" b="b" t="t" l="l"/>
            <a:pathLst>
              <a:path h="2412644" w="8001000">
                <a:moveTo>
                  <a:pt x="0" y="0"/>
                </a:moveTo>
                <a:lnTo>
                  <a:pt x="8001000" y="0"/>
                </a:lnTo>
                <a:lnTo>
                  <a:pt x="8001000" y="2412644"/>
                </a:lnTo>
                <a:lnTo>
                  <a:pt x="0" y="24126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4718" t="0" r="-24718" b="0"/>
            </a:stretch>
          </a:blipFill>
        </p:spPr>
      </p:sp>
      <p:sp>
        <p:nvSpPr>
          <p:cNvPr name="Freeform 4" id="4" descr="image.png"/>
          <p:cNvSpPr/>
          <p:nvPr/>
        </p:nvSpPr>
        <p:spPr>
          <a:xfrm flipH="false" flipV="false" rot="0">
            <a:off x="857250" y="9558338"/>
            <a:ext cx="16573500" cy="371475"/>
          </a:xfrm>
          <a:custGeom>
            <a:avLst/>
            <a:gdLst/>
            <a:ahLst/>
            <a:cxnLst/>
            <a:rect r="r" b="b" t="t" l="l"/>
            <a:pathLst>
              <a:path h="371475" w="16573500">
                <a:moveTo>
                  <a:pt x="0" y="0"/>
                </a:moveTo>
                <a:lnTo>
                  <a:pt x="16573500" y="0"/>
                </a:lnTo>
                <a:lnTo>
                  <a:pt x="16573500" y="371474"/>
                </a:lnTo>
                <a:lnTo>
                  <a:pt x="0" y="3714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18288000" cy="114300"/>
            <a:chOff x="0" y="0"/>
            <a:chExt cx="24384000" cy="152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52400"/>
            </a:xfrm>
            <a:custGeom>
              <a:avLst/>
              <a:gdLst/>
              <a:ahLst/>
              <a:cxnLst/>
              <a:rect r="r" b="b" t="t" l="l"/>
              <a:pathLst>
                <a:path h="152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F2A4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857250" y="9696450"/>
            <a:ext cx="2614612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HANOVER BANK | SBA DIVISION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30725" y="9696450"/>
            <a:ext cx="200025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4721" y="2314575"/>
            <a:ext cx="8086011" cy="328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</a:pPr>
            <a:r>
              <a:rPr lang="en-US" b="true" sz="2106">
                <a:solidFill>
                  <a:srgbClr val="0F2A4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7(a) Calculation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7250" y="5859818"/>
            <a:ext cx="7700962" cy="656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5"/>
              </a:lnSpc>
            </a:pPr>
            <a:r>
              <a:rPr lang="en-US" sz="1575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*Spread capped by SBA based on size/term</a:t>
            </a:r>
          </a:p>
          <a:p>
            <a:pPr algn="ctr">
              <a:lnSpc>
                <a:spcPts val="2645"/>
              </a:lnSpc>
            </a:pPr>
            <a:r>
              <a:rPr lang="en-US" sz="1575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*Can be variable (most common) or fixed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29750" y="2275827"/>
            <a:ext cx="7900987" cy="314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</a:pPr>
            <a:r>
              <a:rPr lang="en-US" b="true" sz="2106">
                <a:solidFill>
                  <a:srgbClr val="0F2A4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504 Calculation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29750" y="2651417"/>
            <a:ext cx="80010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250">
                <a:solidFill>
                  <a:srgbClr val="334155"/>
                </a:solidFill>
                <a:latin typeface="Arial Bold"/>
                <a:ea typeface="Arial Bold"/>
                <a:cs typeface="Arial Bold"/>
                <a:sym typeface="Arial Bold"/>
              </a:rPr>
              <a:t>Bank Portion:</a:t>
            </a:r>
            <a:r>
              <a:rPr lang="en-US" sz="2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Negotiated (Fixed/Variable)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29750" y="3051467"/>
            <a:ext cx="8515890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250">
                <a:solidFill>
                  <a:srgbClr val="334155"/>
                </a:solidFill>
                <a:latin typeface="Arial Bold"/>
                <a:ea typeface="Arial Bold"/>
                <a:cs typeface="Arial Bold"/>
                <a:sym typeface="Arial Bold"/>
              </a:rPr>
              <a:t>SBA (</a:t>
            </a:r>
            <a:r>
              <a:rPr lang="en-US" b="true" sz="2250">
                <a:solidFill>
                  <a:srgbClr val="334155"/>
                </a:solidFill>
                <a:latin typeface="Arial Bold"/>
                <a:ea typeface="Arial Bold"/>
                <a:cs typeface="Arial Bold"/>
                <a:sym typeface="Arial Bold"/>
              </a:rPr>
              <a:t>CDC) Portion:</a:t>
            </a:r>
            <a:r>
              <a:rPr lang="en-US" sz="2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Fixed rate based on U.S. Treasury bonds.Rate set at time of debenture sale</a:t>
            </a:r>
          </a:p>
        </p:txBody>
      </p:sp>
      <p:sp>
        <p:nvSpPr>
          <p:cNvPr name="Freeform 14" id="14" descr="image.png"/>
          <p:cNvSpPr/>
          <p:nvPr/>
        </p:nvSpPr>
        <p:spPr>
          <a:xfrm flipH="false" flipV="false" rot="0">
            <a:off x="1428750" y="3873856"/>
            <a:ext cx="6557962" cy="357188"/>
          </a:xfrm>
          <a:custGeom>
            <a:avLst/>
            <a:gdLst/>
            <a:ahLst/>
            <a:cxnLst/>
            <a:rect r="r" b="b" t="t" l="l"/>
            <a:pathLst>
              <a:path h="357188" w="6557962">
                <a:moveTo>
                  <a:pt x="0" y="0"/>
                </a:moveTo>
                <a:lnTo>
                  <a:pt x="6557962" y="0"/>
                </a:lnTo>
                <a:lnTo>
                  <a:pt x="6557962" y="357187"/>
                </a:lnTo>
                <a:lnTo>
                  <a:pt x="0" y="3571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217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428750" y="4516793"/>
            <a:ext cx="6557962" cy="28575"/>
            <a:chOff x="0" y="0"/>
            <a:chExt cx="8743950" cy="381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743950" cy="38100"/>
            </a:xfrm>
            <a:custGeom>
              <a:avLst/>
              <a:gdLst/>
              <a:ahLst/>
              <a:cxnLst/>
              <a:rect r="r" b="b" t="t" l="l"/>
              <a:pathLst>
                <a:path h="38100" w="8743950">
                  <a:moveTo>
                    <a:pt x="0" y="0"/>
                  </a:moveTo>
                  <a:lnTo>
                    <a:pt x="8743950" y="0"/>
                  </a:lnTo>
                  <a:lnTo>
                    <a:pt x="87439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BD5E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7" id="17" descr="image.png"/>
          <p:cNvSpPr/>
          <p:nvPr/>
        </p:nvSpPr>
        <p:spPr>
          <a:xfrm flipH="false" flipV="false" rot="0">
            <a:off x="1428750" y="4831118"/>
            <a:ext cx="6557962" cy="257175"/>
          </a:xfrm>
          <a:custGeom>
            <a:avLst/>
            <a:gdLst/>
            <a:ahLst/>
            <a:cxnLst/>
            <a:rect r="r" b="b" t="t" l="l"/>
            <a:pathLst>
              <a:path h="257175" w="6557962">
                <a:moveTo>
                  <a:pt x="0" y="0"/>
                </a:moveTo>
                <a:lnTo>
                  <a:pt x="6557962" y="0"/>
                </a:lnTo>
                <a:lnTo>
                  <a:pt x="6557962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217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715500" y="4275087"/>
            <a:ext cx="74295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15500" y="4787845"/>
            <a:ext cx="7429500" cy="929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7"/>
              </a:lnSpc>
            </a:pPr>
            <a:r>
              <a:rPr lang="en-US" sz="225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Blended interest rate that is often lower and more stable for long-term real estate holding.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57250" y="971550"/>
            <a:ext cx="17402175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b="true" sz="4725">
                <a:solidFill>
                  <a:srgbClr val="0F2A4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INTEREST RATE MECHANICS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57250" y="2000250"/>
            <a:ext cx="1143000" cy="28575"/>
            <a:chOff x="0" y="0"/>
            <a:chExt cx="1524000" cy="38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24000" cy="38100"/>
            </a:xfrm>
            <a:custGeom>
              <a:avLst/>
              <a:gdLst/>
              <a:ahLst/>
              <a:cxnLst/>
              <a:rect r="r" b="b" t="t" l="l"/>
              <a:pathLst>
                <a:path h="381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9A24D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 descr="image.png"/>
          <p:cNvSpPr/>
          <p:nvPr/>
        </p:nvSpPr>
        <p:spPr>
          <a:xfrm flipH="false" flipV="false" rot="0">
            <a:off x="857250" y="9558338"/>
            <a:ext cx="16573500" cy="371475"/>
          </a:xfrm>
          <a:custGeom>
            <a:avLst/>
            <a:gdLst/>
            <a:ahLst/>
            <a:cxnLst/>
            <a:rect r="r" b="b" t="t" l="l"/>
            <a:pathLst>
              <a:path h="371475" w="16573500">
                <a:moveTo>
                  <a:pt x="0" y="0"/>
                </a:moveTo>
                <a:lnTo>
                  <a:pt x="16573500" y="0"/>
                </a:lnTo>
                <a:lnTo>
                  <a:pt x="16573500" y="371474"/>
                </a:lnTo>
                <a:lnTo>
                  <a:pt x="0" y="3714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114300"/>
            <a:chOff x="0" y="0"/>
            <a:chExt cx="24384000" cy="152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52400"/>
            </a:xfrm>
            <a:custGeom>
              <a:avLst/>
              <a:gdLst/>
              <a:ahLst/>
              <a:cxnLst/>
              <a:rect r="r" b="b" t="t" l="l"/>
              <a:pathLst>
                <a:path h="152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F2A44"/>
            </a:solidFill>
            <a:ln w="12700">
              <a:solidFill>
                <a:srgbClr val="000000"/>
              </a:solidFill>
            </a:ln>
          </p:spPr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857250" y="2600325"/>
          <a:ext cx="16535400" cy="4800600"/>
        </p:xfrm>
        <a:graphic>
          <a:graphicData uri="http://schemas.openxmlformats.org/drawingml/2006/table">
            <a:tbl>
              <a:tblPr/>
              <a:tblGrid>
                <a:gridCol w="3771119"/>
                <a:gridCol w="6460473"/>
                <a:gridCol w="6303808"/>
              </a:tblGrid>
              <a:tr h="800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b="true" sz="2025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Feature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b="true" sz="2025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SBA 7(a)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b="true" sz="2025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SBA 504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</a:tr>
              <a:tr h="800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b="true" sz="2025">
                          <a:solidFill>
                            <a:srgbClr val="334155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Primary Use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Flexible / Working Cap / Buyouts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Fixed Assets / Real Estate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</a:tr>
              <a:tr h="800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b="true" sz="2025">
                          <a:solidFill>
                            <a:srgbClr val="334155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Max Loan Amount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$5,000,000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$5,500,000 (SBA portion)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800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b="true" sz="2025">
                          <a:solidFill>
                            <a:srgbClr val="334155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Interest Rates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Variable (Prime + Spread)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Fixed (Below Market)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</a:tr>
              <a:tr h="800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b="true" sz="2025">
                          <a:solidFill>
                            <a:srgbClr val="334155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Max Term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 to 25 Years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 to 25 Years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800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b="true" sz="2025">
                          <a:solidFill>
                            <a:srgbClr val="334155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Best For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Cash flow, acquisitions, refinances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 estate and heavy equipment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857250" y="9696450"/>
            <a:ext cx="2614612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HANOVER BANK | SBA DIVISION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30725" y="9696450"/>
            <a:ext cx="200025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57250" y="4170159"/>
            <a:ext cx="3770786" cy="14288"/>
            <a:chOff x="0" y="0"/>
            <a:chExt cx="5027714" cy="190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27676" cy="19050"/>
            </a:xfrm>
            <a:custGeom>
              <a:avLst/>
              <a:gdLst/>
              <a:ahLst/>
              <a:cxnLst/>
              <a:rect r="r" b="b" t="t" l="l"/>
              <a:pathLst>
                <a:path h="19050" w="5027676">
                  <a:moveTo>
                    <a:pt x="0" y="0"/>
                  </a:moveTo>
                  <a:lnTo>
                    <a:pt x="5027676" y="0"/>
                  </a:lnTo>
                  <a:lnTo>
                    <a:pt x="502767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4628036" y="4170159"/>
            <a:ext cx="6480277" cy="14288"/>
            <a:chOff x="0" y="0"/>
            <a:chExt cx="8640369" cy="190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640318" cy="19050"/>
            </a:xfrm>
            <a:custGeom>
              <a:avLst/>
              <a:gdLst/>
              <a:ahLst/>
              <a:cxnLst/>
              <a:rect r="r" b="b" t="t" l="l"/>
              <a:pathLst>
                <a:path h="19050" w="8640318">
                  <a:moveTo>
                    <a:pt x="0" y="0"/>
                  </a:moveTo>
                  <a:lnTo>
                    <a:pt x="8640318" y="0"/>
                  </a:lnTo>
                  <a:lnTo>
                    <a:pt x="864031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108303" y="4170159"/>
            <a:ext cx="6322438" cy="14288"/>
            <a:chOff x="0" y="0"/>
            <a:chExt cx="8429917" cy="19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429879" cy="19050"/>
            </a:xfrm>
            <a:custGeom>
              <a:avLst/>
              <a:gdLst/>
              <a:ahLst/>
              <a:cxnLst/>
              <a:rect r="r" b="b" t="t" l="l"/>
              <a:pathLst>
                <a:path h="19050" w="8429879">
                  <a:moveTo>
                    <a:pt x="0" y="0"/>
                  </a:moveTo>
                  <a:lnTo>
                    <a:pt x="8429879" y="0"/>
                  </a:lnTo>
                  <a:lnTo>
                    <a:pt x="842987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57250" y="4972945"/>
            <a:ext cx="3770786" cy="14288"/>
            <a:chOff x="0" y="0"/>
            <a:chExt cx="5027714" cy="190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27676" cy="19050"/>
            </a:xfrm>
            <a:custGeom>
              <a:avLst/>
              <a:gdLst/>
              <a:ahLst/>
              <a:cxnLst/>
              <a:rect r="r" b="b" t="t" l="l"/>
              <a:pathLst>
                <a:path h="19050" w="5027676">
                  <a:moveTo>
                    <a:pt x="0" y="0"/>
                  </a:moveTo>
                  <a:lnTo>
                    <a:pt x="5027676" y="0"/>
                  </a:lnTo>
                  <a:lnTo>
                    <a:pt x="502767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4628036" y="4972945"/>
            <a:ext cx="6480277" cy="14288"/>
            <a:chOff x="0" y="0"/>
            <a:chExt cx="8640369" cy="190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640318" cy="19050"/>
            </a:xfrm>
            <a:custGeom>
              <a:avLst/>
              <a:gdLst/>
              <a:ahLst/>
              <a:cxnLst/>
              <a:rect r="r" b="b" t="t" l="l"/>
              <a:pathLst>
                <a:path h="19050" w="8640318">
                  <a:moveTo>
                    <a:pt x="0" y="0"/>
                  </a:moveTo>
                  <a:lnTo>
                    <a:pt x="8640318" y="0"/>
                  </a:lnTo>
                  <a:lnTo>
                    <a:pt x="864031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1108303" y="4972945"/>
            <a:ext cx="6322438" cy="14288"/>
            <a:chOff x="0" y="0"/>
            <a:chExt cx="8429917" cy="190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429879" cy="19050"/>
            </a:xfrm>
            <a:custGeom>
              <a:avLst/>
              <a:gdLst/>
              <a:ahLst/>
              <a:cxnLst/>
              <a:rect r="r" b="b" t="t" l="l"/>
              <a:pathLst>
                <a:path h="19050" w="8429879">
                  <a:moveTo>
                    <a:pt x="0" y="0"/>
                  </a:moveTo>
                  <a:lnTo>
                    <a:pt x="8429879" y="0"/>
                  </a:lnTo>
                  <a:lnTo>
                    <a:pt x="842987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857250" y="5775722"/>
            <a:ext cx="3770786" cy="14288"/>
            <a:chOff x="0" y="0"/>
            <a:chExt cx="5027714" cy="190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27676" cy="19050"/>
            </a:xfrm>
            <a:custGeom>
              <a:avLst/>
              <a:gdLst/>
              <a:ahLst/>
              <a:cxnLst/>
              <a:rect r="r" b="b" t="t" l="l"/>
              <a:pathLst>
                <a:path h="19050" w="5027676">
                  <a:moveTo>
                    <a:pt x="0" y="0"/>
                  </a:moveTo>
                  <a:lnTo>
                    <a:pt x="5027676" y="0"/>
                  </a:lnTo>
                  <a:lnTo>
                    <a:pt x="502767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4628036" y="5775722"/>
            <a:ext cx="6480277" cy="14288"/>
            <a:chOff x="0" y="0"/>
            <a:chExt cx="8640369" cy="19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640318" cy="19050"/>
            </a:xfrm>
            <a:custGeom>
              <a:avLst/>
              <a:gdLst/>
              <a:ahLst/>
              <a:cxnLst/>
              <a:rect r="r" b="b" t="t" l="l"/>
              <a:pathLst>
                <a:path h="19050" w="8640318">
                  <a:moveTo>
                    <a:pt x="0" y="0"/>
                  </a:moveTo>
                  <a:lnTo>
                    <a:pt x="8640318" y="0"/>
                  </a:lnTo>
                  <a:lnTo>
                    <a:pt x="864031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1108303" y="5775722"/>
            <a:ext cx="6322438" cy="14288"/>
            <a:chOff x="0" y="0"/>
            <a:chExt cx="8429917" cy="190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429879" cy="19050"/>
            </a:xfrm>
            <a:custGeom>
              <a:avLst/>
              <a:gdLst/>
              <a:ahLst/>
              <a:cxnLst/>
              <a:rect r="r" b="b" t="t" l="l"/>
              <a:pathLst>
                <a:path h="19050" w="8429879">
                  <a:moveTo>
                    <a:pt x="0" y="0"/>
                  </a:moveTo>
                  <a:lnTo>
                    <a:pt x="8429879" y="0"/>
                  </a:lnTo>
                  <a:lnTo>
                    <a:pt x="842987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857250" y="6578498"/>
            <a:ext cx="3770786" cy="14288"/>
            <a:chOff x="0" y="0"/>
            <a:chExt cx="5027714" cy="190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027676" cy="19050"/>
            </a:xfrm>
            <a:custGeom>
              <a:avLst/>
              <a:gdLst/>
              <a:ahLst/>
              <a:cxnLst/>
              <a:rect r="r" b="b" t="t" l="l"/>
              <a:pathLst>
                <a:path h="19050" w="5027676">
                  <a:moveTo>
                    <a:pt x="0" y="0"/>
                  </a:moveTo>
                  <a:lnTo>
                    <a:pt x="5027676" y="0"/>
                  </a:lnTo>
                  <a:lnTo>
                    <a:pt x="502767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4628036" y="6578498"/>
            <a:ext cx="6480277" cy="14288"/>
            <a:chOff x="0" y="0"/>
            <a:chExt cx="8640369" cy="190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640318" cy="19050"/>
            </a:xfrm>
            <a:custGeom>
              <a:avLst/>
              <a:gdLst/>
              <a:ahLst/>
              <a:cxnLst/>
              <a:rect r="r" b="b" t="t" l="l"/>
              <a:pathLst>
                <a:path h="19050" w="8640318">
                  <a:moveTo>
                    <a:pt x="0" y="0"/>
                  </a:moveTo>
                  <a:lnTo>
                    <a:pt x="8640318" y="0"/>
                  </a:lnTo>
                  <a:lnTo>
                    <a:pt x="864031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1108303" y="6578498"/>
            <a:ext cx="6322438" cy="14288"/>
            <a:chOff x="0" y="0"/>
            <a:chExt cx="8429917" cy="190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429879" cy="19050"/>
            </a:xfrm>
            <a:custGeom>
              <a:avLst/>
              <a:gdLst/>
              <a:ahLst/>
              <a:cxnLst/>
              <a:rect r="r" b="b" t="t" l="l"/>
              <a:pathLst>
                <a:path h="19050" w="8429879">
                  <a:moveTo>
                    <a:pt x="0" y="0"/>
                  </a:moveTo>
                  <a:lnTo>
                    <a:pt x="8429879" y="0"/>
                  </a:lnTo>
                  <a:lnTo>
                    <a:pt x="842987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857250" y="7381275"/>
            <a:ext cx="3770786" cy="14288"/>
            <a:chOff x="0" y="0"/>
            <a:chExt cx="5027714" cy="190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027676" cy="19050"/>
            </a:xfrm>
            <a:custGeom>
              <a:avLst/>
              <a:gdLst/>
              <a:ahLst/>
              <a:cxnLst/>
              <a:rect r="r" b="b" t="t" l="l"/>
              <a:pathLst>
                <a:path h="19050" w="5027676">
                  <a:moveTo>
                    <a:pt x="0" y="0"/>
                  </a:moveTo>
                  <a:lnTo>
                    <a:pt x="5027676" y="0"/>
                  </a:lnTo>
                  <a:lnTo>
                    <a:pt x="502767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4628036" y="7381275"/>
            <a:ext cx="6480277" cy="14288"/>
            <a:chOff x="0" y="0"/>
            <a:chExt cx="8640369" cy="190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640318" cy="19050"/>
            </a:xfrm>
            <a:custGeom>
              <a:avLst/>
              <a:gdLst/>
              <a:ahLst/>
              <a:cxnLst/>
              <a:rect r="r" b="b" t="t" l="l"/>
              <a:pathLst>
                <a:path h="19050" w="8640318">
                  <a:moveTo>
                    <a:pt x="0" y="0"/>
                  </a:moveTo>
                  <a:lnTo>
                    <a:pt x="8640318" y="0"/>
                  </a:lnTo>
                  <a:lnTo>
                    <a:pt x="864031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1108303" y="7381275"/>
            <a:ext cx="6322438" cy="14288"/>
            <a:chOff x="0" y="0"/>
            <a:chExt cx="8429917" cy="190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429879" cy="19050"/>
            </a:xfrm>
            <a:custGeom>
              <a:avLst/>
              <a:gdLst/>
              <a:ahLst/>
              <a:cxnLst/>
              <a:rect r="r" b="b" t="t" l="l"/>
              <a:pathLst>
                <a:path h="19050" w="8429879">
                  <a:moveTo>
                    <a:pt x="0" y="0"/>
                  </a:moveTo>
                  <a:lnTo>
                    <a:pt x="8429879" y="0"/>
                  </a:lnTo>
                  <a:lnTo>
                    <a:pt x="842987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857250" y="971550"/>
            <a:ext cx="17402175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b="true" sz="4725">
                <a:solidFill>
                  <a:srgbClr val="0F2A4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PROGRAM COMPARISON MATRIX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57250" y="2000250"/>
            <a:ext cx="1143000" cy="28575"/>
            <a:chOff x="0" y="0"/>
            <a:chExt cx="1524000" cy="381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524000" cy="38100"/>
            </a:xfrm>
            <a:custGeom>
              <a:avLst/>
              <a:gdLst/>
              <a:ahLst/>
              <a:cxnLst/>
              <a:rect r="r" b="b" t="t" l="l"/>
              <a:pathLst>
                <a:path h="381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9A24D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857250" y="2886075"/>
            <a:ext cx="5333924" cy="5343525"/>
          </a:xfrm>
          <a:custGeom>
            <a:avLst/>
            <a:gdLst/>
            <a:ahLst/>
            <a:cxnLst/>
            <a:rect r="r" b="b" t="t" l="l"/>
            <a:pathLst>
              <a:path h="5343525" w="5333924">
                <a:moveTo>
                  <a:pt x="0" y="0"/>
                </a:moveTo>
                <a:lnTo>
                  <a:pt x="5333924" y="0"/>
                </a:lnTo>
                <a:lnTo>
                  <a:pt x="5333924" y="5343525"/>
                </a:lnTo>
                <a:lnTo>
                  <a:pt x="0" y="53435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069" t="0" r="-46069" b="0"/>
            </a:stretch>
          </a:blipFill>
        </p:spPr>
      </p:sp>
      <p:sp>
        <p:nvSpPr>
          <p:cNvPr name="Freeform 3" id="3" descr="image.png"/>
          <p:cNvSpPr/>
          <p:nvPr/>
        </p:nvSpPr>
        <p:spPr>
          <a:xfrm flipH="false" flipV="false" rot="0">
            <a:off x="6476924" y="2886075"/>
            <a:ext cx="5333924" cy="3460972"/>
          </a:xfrm>
          <a:custGeom>
            <a:avLst/>
            <a:gdLst/>
            <a:ahLst/>
            <a:cxnLst/>
            <a:rect r="r" b="b" t="t" l="l"/>
            <a:pathLst>
              <a:path h="3460972" w="5333924">
                <a:moveTo>
                  <a:pt x="0" y="0"/>
                </a:moveTo>
                <a:lnTo>
                  <a:pt x="5333924" y="0"/>
                </a:lnTo>
                <a:lnTo>
                  <a:pt x="5333924" y="3460972"/>
                </a:lnTo>
                <a:lnTo>
                  <a:pt x="0" y="34609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223" t="0" r="-12223" b="0"/>
            </a:stretch>
          </a:blipFill>
        </p:spPr>
      </p:sp>
      <p:sp>
        <p:nvSpPr>
          <p:cNvPr name="Freeform 4" id="4" descr="image.png"/>
          <p:cNvSpPr/>
          <p:nvPr/>
        </p:nvSpPr>
        <p:spPr>
          <a:xfrm flipH="false" flipV="false" rot="0">
            <a:off x="12096598" y="2886075"/>
            <a:ext cx="5334152" cy="3460972"/>
          </a:xfrm>
          <a:custGeom>
            <a:avLst/>
            <a:gdLst/>
            <a:ahLst/>
            <a:cxnLst/>
            <a:rect r="r" b="b" t="t" l="l"/>
            <a:pathLst>
              <a:path h="3460972" w="5334152">
                <a:moveTo>
                  <a:pt x="0" y="0"/>
                </a:moveTo>
                <a:lnTo>
                  <a:pt x="5334152" y="0"/>
                </a:lnTo>
                <a:lnTo>
                  <a:pt x="5334152" y="3460972"/>
                </a:lnTo>
                <a:lnTo>
                  <a:pt x="0" y="34609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221" t="0" r="-12221" b="0"/>
            </a:stretch>
          </a:blipFill>
        </p:spPr>
      </p:sp>
      <p:sp>
        <p:nvSpPr>
          <p:cNvPr name="Freeform 5" id="5" descr="image.png"/>
          <p:cNvSpPr/>
          <p:nvPr/>
        </p:nvSpPr>
        <p:spPr>
          <a:xfrm flipH="false" flipV="false" rot="0">
            <a:off x="857250" y="9558338"/>
            <a:ext cx="16573500" cy="371475"/>
          </a:xfrm>
          <a:custGeom>
            <a:avLst/>
            <a:gdLst/>
            <a:ahLst/>
            <a:cxnLst/>
            <a:rect r="r" b="b" t="t" l="l"/>
            <a:pathLst>
              <a:path h="371475" w="16573500">
                <a:moveTo>
                  <a:pt x="0" y="0"/>
                </a:moveTo>
                <a:lnTo>
                  <a:pt x="16573500" y="0"/>
                </a:lnTo>
                <a:lnTo>
                  <a:pt x="16573500" y="371474"/>
                </a:lnTo>
                <a:lnTo>
                  <a:pt x="0" y="3714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0"/>
            <a:ext cx="18288000" cy="114300"/>
            <a:chOff x="0" y="0"/>
            <a:chExt cx="24384000" cy="152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52400"/>
            </a:xfrm>
            <a:custGeom>
              <a:avLst/>
              <a:gdLst/>
              <a:ahLst/>
              <a:cxnLst/>
              <a:rect r="r" b="b" t="t" l="l"/>
              <a:pathLst>
                <a:path h="152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F2A4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857250" y="9696450"/>
            <a:ext cx="2614612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HANOVER BANK | SBA DIVISION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30725" y="9696450"/>
            <a:ext cx="200025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</a:p>
        </p:txBody>
      </p:sp>
      <p:sp>
        <p:nvSpPr>
          <p:cNvPr name="Freeform 10" id="10" descr="image.png"/>
          <p:cNvSpPr/>
          <p:nvPr/>
        </p:nvSpPr>
        <p:spPr>
          <a:xfrm flipH="false" flipV="false" rot="0">
            <a:off x="3202629" y="3328988"/>
            <a:ext cx="642938" cy="571500"/>
          </a:xfrm>
          <a:custGeom>
            <a:avLst/>
            <a:gdLst/>
            <a:ahLst/>
            <a:cxnLst/>
            <a:rect r="r" b="b" t="t" l="l"/>
            <a:pathLst>
              <a:path h="571500" w="642938">
                <a:moveTo>
                  <a:pt x="0" y="0"/>
                </a:moveTo>
                <a:lnTo>
                  <a:pt x="642937" y="0"/>
                </a:lnTo>
                <a:lnTo>
                  <a:pt x="642937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2222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88958" y="4186238"/>
            <a:ext cx="4670508" cy="328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</a:pPr>
            <a:r>
              <a:rPr lang="en-US" b="true" sz="2106">
                <a:solidFill>
                  <a:srgbClr val="0F2A4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Credit Profile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0163" y="4543425"/>
            <a:ext cx="4448099" cy="3256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5"/>
              </a:lnSpc>
            </a:pPr>
            <a:r>
              <a:rPr lang="en-US" b="true" sz="2199">
                <a:solidFill>
                  <a:srgbClr val="334155"/>
                </a:solidFill>
                <a:latin typeface="Arial Bold"/>
                <a:ea typeface="Arial Bold"/>
                <a:cs typeface="Arial Bold"/>
                <a:sym typeface="Arial Bold"/>
              </a:rPr>
              <a:t>Avg. score ≥ 680. </a:t>
            </a:r>
          </a:p>
          <a:p>
            <a:pPr algn="l" marL="410211" indent="-205106" lvl="1">
              <a:lnSpc>
                <a:spcPts val="3192"/>
              </a:lnSpc>
              <a:buFont typeface="Arial"/>
              <a:buChar char="•"/>
            </a:pPr>
            <a:r>
              <a:rPr lang="en-US" sz="19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660 minimum with strong mitigants</a:t>
            </a:r>
          </a:p>
          <a:p>
            <a:pPr algn="l" marL="410211" indent="-205106" lvl="1">
              <a:lnSpc>
                <a:spcPts val="3192"/>
              </a:lnSpc>
              <a:buFont typeface="Arial"/>
              <a:buChar char="•"/>
            </a:pPr>
            <a:r>
              <a:rPr lang="en-US" sz="19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Credit history acceptable (minimal late payments, collections, etc.) </a:t>
            </a:r>
          </a:p>
          <a:p>
            <a:pPr algn="l" marL="410211" indent="-205106" lvl="1">
              <a:lnSpc>
                <a:spcPts val="3192"/>
              </a:lnSpc>
              <a:buFont typeface="Arial"/>
              <a:buChar char="•"/>
            </a:pPr>
            <a:r>
              <a:rPr lang="en-US" sz="19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No recent bankruptcies, foreclosures, or judgments. </a:t>
            </a:r>
          </a:p>
          <a:p>
            <a:pPr algn="l" marL="410211" indent="-205106" lvl="1">
              <a:lnSpc>
                <a:spcPts val="3192"/>
              </a:lnSpc>
              <a:buFont typeface="Arial"/>
              <a:buChar char="•"/>
            </a:pPr>
            <a:r>
              <a:rPr lang="en-US" sz="19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Positive net worth.</a:t>
            </a:r>
          </a:p>
          <a:p>
            <a:pPr algn="l" marL="410211" indent="-205106" lvl="1">
              <a:lnSpc>
                <a:spcPts val="3192"/>
              </a:lnSpc>
              <a:buFont typeface="Arial"/>
              <a:buChar char="•"/>
            </a:pPr>
            <a:r>
              <a:rPr lang="en-US" sz="19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Personal debt levels are reasonable</a:t>
            </a:r>
          </a:p>
        </p:txBody>
      </p:sp>
      <p:sp>
        <p:nvSpPr>
          <p:cNvPr name="Freeform 13" id="13" descr="image.png"/>
          <p:cNvSpPr/>
          <p:nvPr/>
        </p:nvSpPr>
        <p:spPr>
          <a:xfrm flipH="false" flipV="false" rot="0">
            <a:off x="8858031" y="3328988"/>
            <a:ext cx="571500" cy="571500"/>
          </a:xfrm>
          <a:custGeom>
            <a:avLst/>
            <a:gdLst/>
            <a:ahLst/>
            <a:cxnLst/>
            <a:rect r="r" b="b" t="t" l="l"/>
            <a:pathLst>
              <a:path h="571500" w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250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808632" y="4186238"/>
            <a:ext cx="4670508" cy="328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</a:pPr>
            <a:r>
              <a:rPr lang="en-US" b="true" sz="2106">
                <a:solidFill>
                  <a:srgbClr val="0F2A4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Cash Flow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19836" y="4543425"/>
            <a:ext cx="4448099" cy="125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5"/>
              </a:lnSpc>
            </a:pPr>
            <a:r>
              <a:rPr lang="en-US" b="true" sz="2199">
                <a:solidFill>
                  <a:srgbClr val="334155"/>
                </a:solidFill>
                <a:latin typeface="Arial Bold"/>
                <a:ea typeface="Arial Bold"/>
                <a:cs typeface="Arial Bold"/>
                <a:sym typeface="Arial Bold"/>
              </a:rPr>
              <a:t>Historical DSCR ≥ 1.10x - 1.15x.</a:t>
            </a:r>
            <a:r>
              <a:rPr lang="en-US" sz="2199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ctr">
              <a:lnSpc>
                <a:spcPts val="3192"/>
              </a:lnSpc>
            </a:pPr>
            <a:r>
              <a:rPr lang="en-US" sz="19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Projections must be reasonable and supported by market data.</a:t>
            </a:r>
          </a:p>
        </p:txBody>
      </p:sp>
      <p:sp>
        <p:nvSpPr>
          <p:cNvPr name="Freeform 16" id="16" descr="image.png"/>
          <p:cNvSpPr/>
          <p:nvPr/>
        </p:nvSpPr>
        <p:spPr>
          <a:xfrm flipH="false" flipV="false" rot="0">
            <a:off x="14406486" y="3328988"/>
            <a:ext cx="714375" cy="571500"/>
          </a:xfrm>
          <a:custGeom>
            <a:avLst/>
            <a:gdLst/>
            <a:ahLst/>
            <a:cxnLst/>
            <a:rect r="r" b="b" t="t" l="l"/>
            <a:pathLst>
              <a:path h="571500" w="714375">
                <a:moveTo>
                  <a:pt x="0" y="0"/>
                </a:moveTo>
                <a:lnTo>
                  <a:pt x="714375" y="0"/>
                </a:lnTo>
                <a:lnTo>
                  <a:pt x="7143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200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428306" y="4186238"/>
            <a:ext cx="4670736" cy="328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</a:pPr>
            <a:r>
              <a:rPr lang="en-US" b="true" sz="2106">
                <a:solidFill>
                  <a:srgbClr val="0F2A4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Management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39510" y="4543425"/>
            <a:ext cx="4448327" cy="1380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5"/>
              </a:lnSpc>
            </a:pPr>
            <a:r>
              <a:rPr lang="en-US" b="true" sz="2199">
                <a:solidFill>
                  <a:srgbClr val="334155"/>
                </a:solidFill>
                <a:latin typeface="Arial Bold"/>
                <a:ea typeface="Arial Bold"/>
                <a:cs typeface="Arial Bold"/>
                <a:sym typeface="Arial Bold"/>
              </a:rPr>
              <a:t>Min. 3 years same-industry</a:t>
            </a:r>
            <a:r>
              <a:rPr lang="en-US" sz="2199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ctr">
              <a:lnSpc>
                <a:spcPts val="3695"/>
              </a:lnSpc>
            </a:pPr>
            <a:r>
              <a:rPr lang="en-US" sz="2199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or directly transferable experience. Adequate people management.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57250" y="971550"/>
            <a:ext cx="17402175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b="true" sz="4725">
                <a:solidFill>
                  <a:srgbClr val="0F2A4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LENDER REQUIREMENTS: PART I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57250" y="2000250"/>
            <a:ext cx="1143000" cy="28575"/>
            <a:chOff x="0" y="0"/>
            <a:chExt cx="1524000" cy="381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24000" cy="38100"/>
            </a:xfrm>
            <a:custGeom>
              <a:avLst/>
              <a:gdLst/>
              <a:ahLst/>
              <a:cxnLst/>
              <a:rect r="r" b="b" t="t" l="l"/>
              <a:pathLst>
                <a:path h="381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9A24D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857250" y="2314575"/>
            <a:ext cx="8001000" cy="6943725"/>
          </a:xfrm>
          <a:custGeom>
            <a:avLst/>
            <a:gdLst/>
            <a:ahLst/>
            <a:cxnLst/>
            <a:rect r="r" b="b" t="t" l="l"/>
            <a:pathLst>
              <a:path h="6943725" w="8001000">
                <a:moveTo>
                  <a:pt x="0" y="0"/>
                </a:moveTo>
                <a:lnTo>
                  <a:pt x="8001000" y="0"/>
                </a:lnTo>
                <a:lnTo>
                  <a:pt x="8001000" y="6943725"/>
                </a:lnTo>
                <a:lnTo>
                  <a:pt x="0" y="69437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1353" t="0" r="-41353" b="0"/>
            </a:stretch>
          </a:blipFill>
        </p:spPr>
      </p:sp>
      <p:sp>
        <p:nvSpPr>
          <p:cNvPr name="Freeform 3" id="3" descr="image.png"/>
          <p:cNvSpPr/>
          <p:nvPr/>
        </p:nvSpPr>
        <p:spPr>
          <a:xfrm flipH="false" flipV="false" rot="0">
            <a:off x="857250" y="9558338"/>
            <a:ext cx="16573500" cy="371475"/>
          </a:xfrm>
          <a:custGeom>
            <a:avLst/>
            <a:gdLst/>
            <a:ahLst/>
            <a:cxnLst/>
            <a:rect r="r" b="b" t="t" l="l"/>
            <a:pathLst>
              <a:path h="371475" w="16573500">
                <a:moveTo>
                  <a:pt x="0" y="0"/>
                </a:moveTo>
                <a:lnTo>
                  <a:pt x="16573500" y="0"/>
                </a:lnTo>
                <a:lnTo>
                  <a:pt x="16573500" y="371474"/>
                </a:lnTo>
                <a:lnTo>
                  <a:pt x="0" y="3714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114300"/>
            <a:chOff x="0" y="0"/>
            <a:chExt cx="24384000" cy="152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52400"/>
            </a:xfrm>
            <a:custGeom>
              <a:avLst/>
              <a:gdLst/>
              <a:ahLst/>
              <a:cxnLst/>
              <a:rect r="r" b="b" t="t" l="l"/>
              <a:pathLst>
                <a:path h="152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F2A4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857250" y="9696450"/>
            <a:ext cx="2614612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HANOVER BANK | SBA DIVISION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30725" y="9696450"/>
            <a:ext cx="200025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5875" y="2671762"/>
            <a:ext cx="7575947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1F4E7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Basic Eligibility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14500" y="6449378"/>
            <a:ext cx="678656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Meets SBA Size Standards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14500" y="7063740"/>
            <a:ext cx="6786562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No delinquent federal debt (IRS/SBA/student loans)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14500" y="7678103"/>
            <a:ext cx="678656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Owners are US Citizens or Green Card holders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14500" y="8292465"/>
            <a:ext cx="678656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Min. 2 years business history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5875" y="6449378"/>
            <a:ext cx="2286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250">
                <a:solidFill>
                  <a:srgbClr val="C9A24D"/>
                </a:solidFill>
                <a:latin typeface="Arial Bold"/>
                <a:ea typeface="Arial Bold"/>
                <a:cs typeface="Arial Bold"/>
                <a:sym typeface="Arial Bold"/>
              </a:rPr>
              <a:t>—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5875" y="7063740"/>
            <a:ext cx="2286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250">
                <a:solidFill>
                  <a:srgbClr val="C9A24D"/>
                </a:solidFill>
                <a:latin typeface="Arial Bold"/>
                <a:ea typeface="Arial Bold"/>
                <a:cs typeface="Arial Bold"/>
                <a:sym typeface="Arial Bold"/>
              </a:rPr>
              <a:t>—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5875" y="7678103"/>
            <a:ext cx="2286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250">
                <a:solidFill>
                  <a:srgbClr val="C9A24D"/>
                </a:solidFill>
                <a:latin typeface="Arial Bold"/>
                <a:ea typeface="Arial Bold"/>
                <a:cs typeface="Arial Bold"/>
                <a:sym typeface="Arial Bold"/>
              </a:rPr>
              <a:t>—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5875" y="8292465"/>
            <a:ext cx="2286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250">
                <a:solidFill>
                  <a:srgbClr val="C9A24D"/>
                </a:solidFill>
                <a:latin typeface="Arial Bold"/>
                <a:ea typeface="Arial Bold"/>
                <a:cs typeface="Arial Bold"/>
                <a:sym typeface="Arial Bold"/>
              </a:rPr>
              <a:t>—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7250" y="971550"/>
            <a:ext cx="17402175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b="true" sz="4725">
                <a:solidFill>
                  <a:srgbClr val="0F2A4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LENDER REQUIREMENTS: PART II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57250" y="2000250"/>
            <a:ext cx="1143000" cy="28575"/>
            <a:chOff x="0" y="0"/>
            <a:chExt cx="1524000" cy="38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24000" cy="38100"/>
            </a:xfrm>
            <a:custGeom>
              <a:avLst/>
              <a:gdLst/>
              <a:ahLst/>
              <a:cxnLst/>
              <a:rect r="r" b="b" t="t" l="l"/>
              <a:pathLst>
                <a:path h="381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9A24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285875" y="3325178"/>
            <a:ext cx="2286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250">
                <a:solidFill>
                  <a:srgbClr val="C9A24D"/>
                </a:solidFill>
                <a:latin typeface="Arial Bold"/>
                <a:ea typeface="Arial Bold"/>
                <a:cs typeface="Arial Bold"/>
                <a:sym typeface="Arial Bold"/>
              </a:rPr>
              <a:t>—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14500" y="5830253"/>
            <a:ext cx="678656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Meets SBA Size Standards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5875" y="5830253"/>
            <a:ext cx="2286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250">
                <a:solidFill>
                  <a:srgbClr val="C9A24D"/>
                </a:solidFill>
                <a:latin typeface="Arial Bold"/>
                <a:ea typeface="Arial Bold"/>
                <a:cs typeface="Arial Bold"/>
                <a:sym typeface="Arial Bold"/>
              </a:rPr>
              <a:t>—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14500" y="3325178"/>
            <a:ext cx="6786562" cy="140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Busin</a:t>
            </a:r>
            <a:r>
              <a:rPr lang="en-US" sz="2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ess is NOT in an SBA-ineligible industry (lending, speculation, gambling, cannabis, passive real estate)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85875" y="4790480"/>
            <a:ext cx="2286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250">
                <a:solidFill>
                  <a:srgbClr val="C9A24D"/>
                </a:solidFill>
                <a:latin typeface="Arial Bold"/>
                <a:ea typeface="Arial Bold"/>
                <a:cs typeface="Arial Bold"/>
                <a:sym typeface="Arial Bold"/>
              </a:rPr>
              <a:t>—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14500" y="4814887"/>
            <a:ext cx="6786562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Business is not engaged in illegal activity under federal law</a:t>
            </a:r>
          </a:p>
        </p:txBody>
      </p:sp>
      <p:sp>
        <p:nvSpPr>
          <p:cNvPr name="Freeform 26" id="26" descr="image.png"/>
          <p:cNvSpPr/>
          <p:nvPr/>
        </p:nvSpPr>
        <p:spPr>
          <a:xfrm flipH="false" flipV="false" rot="0">
            <a:off x="9426178" y="2314575"/>
            <a:ext cx="8001000" cy="3800475"/>
          </a:xfrm>
          <a:custGeom>
            <a:avLst/>
            <a:gdLst/>
            <a:ahLst/>
            <a:cxnLst/>
            <a:rect r="r" b="b" t="t" l="l"/>
            <a:pathLst>
              <a:path h="3800475" w="8001000">
                <a:moveTo>
                  <a:pt x="0" y="0"/>
                </a:moveTo>
                <a:lnTo>
                  <a:pt x="8001000" y="0"/>
                </a:lnTo>
                <a:lnTo>
                  <a:pt x="8001000" y="3800475"/>
                </a:lnTo>
                <a:lnTo>
                  <a:pt x="0" y="38004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9854803" y="2671762"/>
            <a:ext cx="7575947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1F4E7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Equity &amp; Liquidity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3428" y="3186112"/>
            <a:ext cx="6786562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Injection ≥ 10% true cash (not seller note only)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3428" y="3800475"/>
            <a:ext cx="6786562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Post-transaction liquidity ≥ 10% of project cost and/or loan amount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3428" y="4814888"/>
            <a:ext cx="678656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Sources of funds must be verifiable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854803" y="3186112"/>
            <a:ext cx="2286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250">
                <a:solidFill>
                  <a:srgbClr val="C9A24D"/>
                </a:solidFill>
                <a:latin typeface="Arial Bold"/>
                <a:ea typeface="Arial Bold"/>
                <a:cs typeface="Arial Bold"/>
                <a:sym typeface="Arial Bold"/>
              </a:rPr>
              <a:t>—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854803" y="3800475"/>
            <a:ext cx="2286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250">
                <a:solidFill>
                  <a:srgbClr val="C9A24D"/>
                </a:solidFill>
                <a:latin typeface="Arial Bold"/>
                <a:ea typeface="Arial Bold"/>
                <a:cs typeface="Arial Bold"/>
                <a:sym typeface="Arial Bold"/>
              </a:rPr>
              <a:t>—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854803" y="4814888"/>
            <a:ext cx="2286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250">
                <a:solidFill>
                  <a:srgbClr val="C9A24D"/>
                </a:solidFill>
                <a:latin typeface="Arial Bold"/>
                <a:ea typeface="Arial Bold"/>
                <a:cs typeface="Arial Bold"/>
                <a:sym typeface="Arial Bold"/>
              </a:rPr>
              <a:t>—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857250" y="9558338"/>
            <a:ext cx="16573500" cy="371475"/>
          </a:xfrm>
          <a:custGeom>
            <a:avLst/>
            <a:gdLst/>
            <a:ahLst/>
            <a:cxnLst/>
            <a:rect r="r" b="b" t="t" l="l"/>
            <a:pathLst>
              <a:path h="371475" w="16573500">
                <a:moveTo>
                  <a:pt x="0" y="0"/>
                </a:moveTo>
                <a:lnTo>
                  <a:pt x="16573500" y="0"/>
                </a:lnTo>
                <a:lnTo>
                  <a:pt x="16573500" y="371474"/>
                </a:lnTo>
                <a:lnTo>
                  <a:pt x="0" y="3714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14300"/>
            <a:chOff x="0" y="0"/>
            <a:chExt cx="24384000" cy="152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52400"/>
            </a:xfrm>
            <a:custGeom>
              <a:avLst/>
              <a:gdLst/>
              <a:ahLst/>
              <a:cxnLst/>
              <a:rect r="r" b="b" t="t" l="l"/>
              <a:pathLst>
                <a:path h="152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F2A4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857250" y="971550"/>
            <a:ext cx="9419002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b="true" sz="4725">
                <a:solidFill>
                  <a:srgbClr val="0F2A4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</a:t>
            </a:r>
            <a:r>
              <a:rPr lang="en-US" b="true" sz="4725">
                <a:solidFill>
                  <a:srgbClr val="0F2A4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NOVER DO NOT FUND LIST</a:t>
            </a:r>
          </a:p>
          <a:p>
            <a:pPr algn="l">
              <a:lnSpc>
                <a:spcPts val="5670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857250" y="2000250"/>
            <a:ext cx="1143000" cy="28575"/>
            <a:chOff x="0" y="0"/>
            <a:chExt cx="15240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4000" cy="38100"/>
            </a:xfrm>
            <a:custGeom>
              <a:avLst/>
              <a:gdLst/>
              <a:ahLst/>
              <a:cxnLst/>
              <a:rect r="r" b="b" t="t" l="l"/>
              <a:pathLst>
                <a:path h="381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9A24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857250" y="3044366"/>
            <a:ext cx="16373475" cy="1330345"/>
          </a:xfrm>
          <a:custGeom>
            <a:avLst/>
            <a:gdLst/>
            <a:ahLst/>
            <a:cxnLst/>
            <a:rect r="r" b="b" t="t" l="l"/>
            <a:pathLst>
              <a:path h="1330345" w="16373475">
                <a:moveTo>
                  <a:pt x="0" y="0"/>
                </a:moveTo>
                <a:lnTo>
                  <a:pt x="16373475" y="0"/>
                </a:lnTo>
                <a:lnTo>
                  <a:pt x="16373475" y="1330345"/>
                </a:lnTo>
                <a:lnTo>
                  <a:pt x="0" y="13303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57250" y="9696450"/>
            <a:ext cx="2614612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HANOVER BANK | SBA DIVISION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30725" y="9696450"/>
            <a:ext cx="200025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7250" y="5022411"/>
            <a:ext cx="12404990" cy="1523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F4E7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Preferred Requests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F4E79"/>
                </a:solidFill>
                <a:latin typeface="Montserrat"/>
                <a:ea typeface="Montserrat"/>
                <a:cs typeface="Montserrat"/>
                <a:sym typeface="Montserrat"/>
              </a:rPr>
              <a:t>Owner-Occupied CRE, Business Acquisitions, Partner Buyouts, Expansions, Equipment Purchase, 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F4E79"/>
                </a:solidFill>
                <a:latin typeface="Montserrat"/>
                <a:ea typeface="Montserrat"/>
                <a:cs typeface="Montserrat"/>
                <a:sym typeface="Montserrat"/>
              </a:rPr>
              <a:t>Franchise Leaseholds Improvements</a:t>
            </a:r>
          </a:p>
          <a:p>
            <a:pPr algn="l">
              <a:lnSpc>
                <a:spcPts val="240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 descr="image.png"/>
          <p:cNvSpPr/>
          <p:nvPr/>
        </p:nvSpPr>
        <p:spPr>
          <a:xfrm flipH="false" flipV="false" rot="0">
            <a:off x="857250" y="2357438"/>
            <a:ext cx="7429500" cy="1514475"/>
          </a:xfrm>
          <a:custGeom>
            <a:avLst/>
            <a:gdLst/>
            <a:ahLst/>
            <a:cxnLst/>
            <a:rect r="r" b="b" t="t" l="l"/>
            <a:pathLst>
              <a:path h="1514475" w="7429500">
                <a:moveTo>
                  <a:pt x="0" y="0"/>
                </a:moveTo>
                <a:lnTo>
                  <a:pt x="7429500" y="0"/>
                </a:lnTo>
                <a:lnTo>
                  <a:pt x="7429500" y="1514474"/>
                </a:lnTo>
                <a:lnTo>
                  <a:pt x="0" y="15144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 descr="image.png"/>
          <p:cNvSpPr/>
          <p:nvPr/>
        </p:nvSpPr>
        <p:spPr>
          <a:xfrm flipH="false" flipV="false" rot="0">
            <a:off x="857250" y="4157662"/>
            <a:ext cx="7429500" cy="1514475"/>
          </a:xfrm>
          <a:custGeom>
            <a:avLst/>
            <a:gdLst/>
            <a:ahLst/>
            <a:cxnLst/>
            <a:rect r="r" b="b" t="t" l="l"/>
            <a:pathLst>
              <a:path h="1514475" w="7429500">
                <a:moveTo>
                  <a:pt x="0" y="0"/>
                </a:moveTo>
                <a:lnTo>
                  <a:pt x="7429500" y="0"/>
                </a:lnTo>
                <a:lnTo>
                  <a:pt x="7429500" y="1514476"/>
                </a:lnTo>
                <a:lnTo>
                  <a:pt x="0" y="15144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 descr="image.png"/>
          <p:cNvSpPr/>
          <p:nvPr/>
        </p:nvSpPr>
        <p:spPr>
          <a:xfrm flipH="false" flipV="false" rot="0">
            <a:off x="857250" y="9558338"/>
            <a:ext cx="16573500" cy="371475"/>
          </a:xfrm>
          <a:custGeom>
            <a:avLst/>
            <a:gdLst/>
            <a:ahLst/>
            <a:cxnLst/>
            <a:rect r="r" b="b" t="t" l="l"/>
            <a:pathLst>
              <a:path h="371475" w="16573500">
                <a:moveTo>
                  <a:pt x="0" y="0"/>
                </a:moveTo>
                <a:lnTo>
                  <a:pt x="16573500" y="0"/>
                </a:lnTo>
                <a:lnTo>
                  <a:pt x="16573500" y="371474"/>
                </a:lnTo>
                <a:lnTo>
                  <a:pt x="0" y="3714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0"/>
            <a:ext cx="18288000" cy="114300"/>
            <a:chOff x="0" y="0"/>
            <a:chExt cx="24384000" cy="152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52400"/>
            </a:xfrm>
            <a:custGeom>
              <a:avLst/>
              <a:gdLst/>
              <a:ahLst/>
              <a:cxnLst/>
              <a:rect r="r" b="b" t="t" l="l"/>
              <a:pathLst>
                <a:path h="152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F2A4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857250" y="1257300"/>
            <a:ext cx="7800975" cy="671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>
                <a:solidFill>
                  <a:srgbClr val="0F2A4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Which Loan is Right?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7250" y="5986462"/>
            <a:ext cx="7429500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0F2A44"/>
                </a:solidFill>
                <a:latin typeface="Arial"/>
                <a:ea typeface="Arial"/>
                <a:cs typeface="Arial"/>
                <a:sym typeface="Arial"/>
              </a:rPr>
              <a:t>A Lender</a:t>
            </a:r>
            <a:r>
              <a:rPr lang="en-US" sz="2250">
                <a:solidFill>
                  <a:srgbClr val="0F2A44"/>
                </a:solidFill>
                <a:latin typeface="Arial"/>
                <a:ea typeface="Arial"/>
                <a:cs typeface="Arial"/>
                <a:sym typeface="Arial"/>
              </a:rPr>
              <a:t> can help structure the best option for your specific transaction.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7250" y="9696450"/>
            <a:ext cx="2614612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HANOVER BANK | SBA DIVISION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30725" y="9696450"/>
            <a:ext cx="200025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5875" y="2600325"/>
            <a:ext cx="66436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250">
                <a:solidFill>
                  <a:srgbClr val="334155"/>
                </a:solidFill>
                <a:latin typeface="Arial Bold"/>
                <a:ea typeface="Arial Bold"/>
                <a:cs typeface="Arial Bold"/>
                <a:sym typeface="Arial Bold"/>
              </a:rPr>
              <a:t>Choose 7(a)</a:t>
            </a:r>
            <a:r>
              <a:rPr lang="en-US" sz="2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for maximum flexibility, working capital, and business acquisitions.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5875" y="4400550"/>
            <a:ext cx="66436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250">
                <a:solidFill>
                  <a:srgbClr val="334155"/>
                </a:solidFill>
                <a:latin typeface="Arial Bold"/>
                <a:ea typeface="Arial Bold"/>
                <a:cs typeface="Arial Bold"/>
                <a:sym typeface="Arial Bold"/>
              </a:rPr>
              <a:t>Choose 504</a:t>
            </a:r>
            <a:r>
              <a:rPr lang="en-US" sz="2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for long-term fixed asset financing and lower, stable rates.</a:t>
            </a:r>
          </a:p>
        </p:txBody>
      </p:sp>
      <p:sp>
        <p:nvSpPr>
          <p:cNvPr name="Freeform 14" id="14" descr="image.png"/>
          <p:cNvSpPr/>
          <p:nvPr/>
        </p:nvSpPr>
        <p:spPr>
          <a:xfrm flipH="false" flipV="false" rot="0">
            <a:off x="9144000" y="114300"/>
            <a:ext cx="9144000" cy="10287000"/>
          </a:xfrm>
          <a:custGeom>
            <a:avLst/>
            <a:gdLst/>
            <a:ahLst/>
            <a:cxnLst/>
            <a:rect r="r" b="b" t="t" l="l"/>
            <a:pathLst>
              <a:path h="10287000" w="9144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 descr="image.png"/>
          <p:cNvSpPr/>
          <p:nvPr/>
        </p:nvSpPr>
        <p:spPr>
          <a:xfrm flipH="false" flipV="false" rot="0">
            <a:off x="7515225" y="6480724"/>
            <a:ext cx="3257550" cy="1605782"/>
          </a:xfrm>
          <a:custGeom>
            <a:avLst/>
            <a:gdLst/>
            <a:ahLst/>
            <a:cxnLst/>
            <a:rect r="r" b="b" t="t" l="l"/>
            <a:pathLst>
              <a:path h="1605782" w="3257550">
                <a:moveTo>
                  <a:pt x="0" y="0"/>
                </a:moveTo>
                <a:lnTo>
                  <a:pt x="3257550" y="0"/>
                </a:lnTo>
                <a:lnTo>
                  <a:pt x="3257550" y="1605782"/>
                </a:lnTo>
                <a:lnTo>
                  <a:pt x="0" y="16057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542"/>
            </a:stretch>
          </a:blipFill>
        </p:spPr>
      </p:sp>
      <p:sp>
        <p:nvSpPr>
          <p:cNvPr name="Freeform 4" id="4" descr="image.png"/>
          <p:cNvSpPr/>
          <p:nvPr/>
        </p:nvSpPr>
        <p:spPr>
          <a:xfrm flipH="false" flipV="false" rot="0">
            <a:off x="857250" y="9558338"/>
            <a:ext cx="16573500" cy="371475"/>
          </a:xfrm>
          <a:custGeom>
            <a:avLst/>
            <a:gdLst/>
            <a:ahLst/>
            <a:cxnLst/>
            <a:rect r="r" b="b" t="t" l="l"/>
            <a:pathLst>
              <a:path h="371475" w="16573500">
                <a:moveTo>
                  <a:pt x="0" y="0"/>
                </a:moveTo>
                <a:lnTo>
                  <a:pt x="16573500" y="0"/>
                </a:lnTo>
                <a:lnTo>
                  <a:pt x="16573500" y="371474"/>
                </a:lnTo>
                <a:lnTo>
                  <a:pt x="0" y="3714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18288000" cy="114300"/>
            <a:chOff x="0" y="0"/>
            <a:chExt cx="24384000" cy="152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52400"/>
            </a:xfrm>
            <a:custGeom>
              <a:avLst/>
              <a:gdLst/>
              <a:ahLst/>
              <a:cxnLst/>
              <a:rect r="r" b="b" t="t" l="l"/>
              <a:pathLst>
                <a:path h="152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F2A4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7" id="7" descr="image.png"/>
          <p:cNvSpPr/>
          <p:nvPr/>
        </p:nvSpPr>
        <p:spPr>
          <a:xfrm flipH="false" flipV="false" rot="0">
            <a:off x="8429625" y="2314575"/>
            <a:ext cx="1428750" cy="1143000"/>
          </a:xfrm>
          <a:custGeom>
            <a:avLst/>
            <a:gdLst/>
            <a:ahLst/>
            <a:cxnLst/>
            <a:rect r="r" b="b" t="t" l="l"/>
            <a:pathLst>
              <a:path h="1143000" w="1428750">
                <a:moveTo>
                  <a:pt x="0" y="0"/>
                </a:moveTo>
                <a:lnTo>
                  <a:pt x="1428750" y="0"/>
                </a:lnTo>
                <a:lnTo>
                  <a:pt x="142875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203632" y="3886200"/>
            <a:ext cx="5880735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b="true" sz="7200">
                <a:solidFill>
                  <a:srgbClr val="0F2A4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Questions?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43650" y="5000625"/>
            <a:ext cx="5600700" cy="622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6"/>
              </a:lnSpc>
            </a:pPr>
            <a:r>
              <a:rPr lang="en-US" sz="27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Thank you for your time and attention.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7250" y="9696450"/>
            <a:ext cx="2614612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HANOVER BANK | SBA DIVISION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30725" y="9696450"/>
            <a:ext cx="200025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43850" y="6823624"/>
            <a:ext cx="24003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250">
                <a:solidFill>
                  <a:srgbClr val="334155"/>
                </a:solidFill>
                <a:latin typeface="Arial Bold"/>
                <a:ea typeface="Arial Bold"/>
                <a:cs typeface="Arial Bold"/>
                <a:sym typeface="Arial Bold"/>
              </a:rPr>
              <a:t>Stephanie Thomas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15225" y="7710228"/>
            <a:ext cx="3449150" cy="376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2"/>
              </a:lnSpc>
            </a:pPr>
            <a:r>
              <a:rPr lang="en-US" sz="1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SBA BDO | Hanover Bank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14300"/>
            <a:chOff x="0" y="0"/>
            <a:chExt cx="24384000" cy="152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52400"/>
            </a:xfrm>
            <a:custGeom>
              <a:avLst/>
              <a:gdLst/>
              <a:ahLst/>
              <a:cxnLst/>
              <a:rect r="r" b="b" t="t" l="l"/>
              <a:pathLst>
                <a:path h="152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F2A4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714500" y="4000500"/>
            <a:ext cx="14859000" cy="14288"/>
            <a:chOff x="0" y="0"/>
            <a:chExt cx="19812000" cy="190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12000" cy="19050"/>
            </a:xfrm>
            <a:custGeom>
              <a:avLst/>
              <a:gdLst/>
              <a:ahLst/>
              <a:cxnLst/>
              <a:rect r="r" b="b" t="t" l="l"/>
              <a:pathLst>
                <a:path h="19050" w="19812000">
                  <a:moveTo>
                    <a:pt x="0" y="0"/>
                  </a:moveTo>
                  <a:lnTo>
                    <a:pt x="19812000" y="0"/>
                  </a:lnTo>
                  <a:lnTo>
                    <a:pt x="19812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75757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714500" y="4000500"/>
            <a:ext cx="14859000" cy="14288"/>
            <a:chOff x="0" y="0"/>
            <a:chExt cx="19812000" cy="190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812000" cy="19050"/>
            </a:xfrm>
            <a:custGeom>
              <a:avLst/>
              <a:gdLst/>
              <a:ahLst/>
              <a:cxnLst/>
              <a:rect r="r" b="b" t="t" l="l"/>
              <a:pathLst>
                <a:path h="19050" w="19812000">
                  <a:moveTo>
                    <a:pt x="0" y="0"/>
                  </a:moveTo>
                  <a:lnTo>
                    <a:pt x="19812000" y="0"/>
                  </a:lnTo>
                  <a:lnTo>
                    <a:pt x="19812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75757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9" id="9" descr="image.png"/>
          <p:cNvSpPr/>
          <p:nvPr/>
        </p:nvSpPr>
        <p:spPr>
          <a:xfrm flipH="false" flipV="false" rot="0">
            <a:off x="1714500" y="3071812"/>
            <a:ext cx="1285875" cy="714375"/>
          </a:xfrm>
          <a:custGeom>
            <a:avLst/>
            <a:gdLst/>
            <a:ahLst/>
            <a:cxnLst/>
            <a:rect r="r" b="b" t="t" l="l"/>
            <a:pathLst>
              <a:path h="714375" w="1285875">
                <a:moveTo>
                  <a:pt x="0" y="0"/>
                </a:moveTo>
                <a:lnTo>
                  <a:pt x="1285875" y="0"/>
                </a:lnTo>
                <a:lnTo>
                  <a:pt x="1285875" y="714376"/>
                </a:lnTo>
                <a:lnTo>
                  <a:pt x="0" y="7143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357562" y="3027093"/>
            <a:ext cx="13215938" cy="336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5"/>
              </a:lnSpc>
            </a:pPr>
            <a:r>
              <a:rPr lang="en-US" sz="1462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https://www.fsbwa.com/asset/6359c73ba1511?w=970&amp;fit=max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57562" y="3329807"/>
            <a:ext cx="13215938" cy="424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1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US" sz="1800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www.fsbwa.com</a:t>
            </a:r>
          </a:p>
        </p:txBody>
      </p:sp>
      <p:sp>
        <p:nvSpPr>
          <p:cNvPr name="Freeform 12" id="12" descr="image.png"/>
          <p:cNvSpPr/>
          <p:nvPr/>
        </p:nvSpPr>
        <p:spPr>
          <a:xfrm flipH="false" flipV="false" rot="0">
            <a:off x="1714500" y="4229100"/>
            <a:ext cx="1285875" cy="714375"/>
          </a:xfrm>
          <a:custGeom>
            <a:avLst/>
            <a:gdLst/>
            <a:ahLst/>
            <a:cxnLst/>
            <a:rect r="r" b="b" t="t" l="l"/>
            <a:pathLst>
              <a:path h="714375" w="1285875">
                <a:moveTo>
                  <a:pt x="0" y="0"/>
                </a:moveTo>
                <a:lnTo>
                  <a:pt x="1285875" y="0"/>
                </a:lnTo>
                <a:lnTo>
                  <a:pt x="1285875" y="714375"/>
                </a:lnTo>
                <a:lnTo>
                  <a:pt x="0" y="7143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357562" y="4184380"/>
            <a:ext cx="13215938" cy="336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5"/>
              </a:lnSpc>
            </a:pPr>
            <a:r>
              <a:rPr lang="en-US" sz="1462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https://www.loopnet.com/s/images/types-of-commercial-real-estate/industrial-warehouse-in-brooklyn.webp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357562" y="4487094"/>
            <a:ext cx="13215938" cy="424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1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US" sz="1800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www.loopnet.com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14500" y="1828800"/>
            <a:ext cx="1560195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b="true" sz="4725">
                <a:solidFill>
                  <a:srgbClr val="0F2A4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DAG_D2EShzY</dc:identifier>
  <dcterms:modified xsi:type="dcterms:W3CDTF">2011-08-01T06:04:30Z</dcterms:modified>
  <cp:revision>1</cp:revision>
  <dc:title>SBA Loans Explained_Updated 20260121.pptx</dc:title>
</cp:coreProperties>
</file>